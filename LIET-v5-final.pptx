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1" r:id="rId6"/>
    <p:sldId id="263" r:id="rId7"/>
    <p:sldId id="264" r:id="rId8"/>
    <p:sldId id="265" r:id="rId9"/>
    <p:sldId id="266" r:id="rId10"/>
    <p:sldId id="267" r:id="rId11"/>
    <p:sldId id="268" r:id="rId12"/>
    <p:sldId id="269" r:id="rId13"/>
    <p:sldId id="270" r:id="rId14"/>
    <p:sldId id="271" r:id="rId15"/>
    <p:sldId id="272"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5" d="100"/>
          <a:sy n="55" d="100"/>
        </p:scale>
        <p:origin x="65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6304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the time, Jean-Philippe. I'll run through this in fourteen minutes — if at any point you want to go deeper or challenge something, please stop me. I'd rather a conversation than a monologue. The ask at the end is concrete and time-bound, and I want to leave you with a clear view of what we have built, what we are asking Luxembourg for, and what Luxembourg gets in return.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forces are converging on Luxembourg primary care. Your labour supply is imported and ageing — a real terminus in 2034 when between fifty-nine and sixty-nine percent of the doctors practising in 2017 will have retired. Your national record exists but is half populated — roughly four hundred thousand dossiers sit empty. And the single payer ran a twenty-six million deficit last year, projected to deepen fivefold this year. Any solution that works here has to respect all three. It has to save doctor time, feed the DSP with structured data, and improve value per consultation for CNS. LIET is that solution.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want to linger on. Since first of July last year, CNS has mandated structured digital submission from every doctor. EHDS sharpens this in March 2027 when Luxembourg must designate a national Health Data Access Body. Every doctor is now in a position of doing this structured submission by hand, or buying software to do it. LIET does it automatically from the consultation voice itself. We are not positioning as clinical AI. We are positioning as the compliance layer that happens to produce high-quality clinical notes as a by-product. This is the wedge.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LIET captures the clinical reasoning that has never been digitized in primary care. To be precise — we capture the full structured content of the consultation, from which clinical reasoning is reconstructible. We are not inside the doctor's head. We are turning the consultation into a record that makes downstream reasoning possible. Everything that follows — rare disease detection, pharmacogenomics, population health — depends on one thing. Structured longitudinal primary care data at scale.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illustrative case, based on the published Wilson phenotype. Visit one looks like adolescent malaise. Visit two adds neurological and behavioural signs. Separately, they are forgettable. Together, they are a triad. The average Wilson patient waits nearly two years for diagnosis. Psychiatric-presenting patients wait five and a half. LIET collapses the latency because the record is linked and the pattern is queryable.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is deliberately boring. A small number of grounded LLM calls, routed through a single audited pipeline, deterministic pattern engine on top, FHIR R4 out. The boring part is the feature. We are not asking you to trust a black box. The pattern engine is auditable code. The LLM only reasons within a tightly grounded prompt. The output is standards-compliant from day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distinction. We are clear about what compounds and what doesn't. The patient-identifiable clinical data belongs to the hospital and the patient — always, unchanged. What we accumulate is the reasoning layer: the schema, the prompts, the pattern engine calibration, and the de-identified aggregate view of what primary care actually looks like. That is the moat. It is the production-calibrated intelligence layer, not the medical record.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done the homework on your ecosystem. LIET is not a parallel play. The DSP, the future HDAB-LU, and the LIH precision medicine programmes all need one thing Luxembourg doesn't currently produce at scale — structured longitudinal ambulatory data. That is exactly what LIET generates as a by-product of everyday GP consultations. Agence eSanté builds the filing cabinet. We are the pen that writes what goes in. This is the ecosystem argument for why a Luxembourg-headquartered LIET is worth more than any US scribe that might get imported.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PGx is where the longitudinal record starts paying back. In Luxembourg the sequencing infrastructure already exists through LNS and LuxGen. We have not yet partnered with them — any PGx integration is contingent on that conversation, which we would welcome your help on. Year one and two we capture. Year three to four, subject to partnership, we integrate. Year five plus, the value is visible to CNS at population scale. We are not claiming to do PGx. We are building the infrastructure that makes PGx possible in Luxembourg.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Rare disease is one of the few areas where Luxembourg has clear, published numbers and an active national plan. Thirty thousand patients. Five-year diagnostic delay. No operational registry yet. The economic case is made by the enzyme-replacement figures alone — one Fabry patient identified a year earlier saves hundreds of thousands, sometimes millions. We have proven we can model these diseases with our Fabry synthetic generator. The longitudinal record is how we surface them in real practice.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Regulatory is not a slide we tried to sneak past you. Class I non-diagnostic SaMD is our intended class. We have built the audit chain, the consent model, the language register, and the data residency path with this in mind. CNPD notification is planned for pilot launch — not yet filed. Where we need advice concretely: first, whether Class I is defensible for a tool that surfaces longitudinal observations, or whether we should plan for Class IIa from the start. Second, the EU AI Act interaction — our current reading is that an MDR-regulated documentation assistant falls outside the high-risk category per the Article 6 exclusions, but we'd want counsel's view.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offer is simple and low-risk. Three-month research collaboration at zero cost. One clinician, one medical intern as co-investigator — the intern becomes a co-author on the paper and gives us the clinical coordination capacity we don't otherwise have. Data ownership is clean. At day ninety we have published readouts, a first EU reference site, and CE-marking evidence. Phasing is honest. Three months for the pilot. Certified DSP push follows Agence eSanté's timeline — typically six to twelve months. Full workflow automation twelve to eighteen months. We are not over-promising what can ship in ninety days.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on the team. I'm Luxembourg-based — vehicle dynamics engineer at Goodyear developing tyre technology for the performance brands. I've built LIET in parallel over eighteen months. Doctor Karthik is our clinical co-founder in Mysore — Apollo physician, running our India clinical validation. Venkatesh leads production engineering from Chennai. The India setup is an asset — it gave us clinical data engineering maturity at scale before we moved to Luxembourg. Luxembourg is the commercial home. First local hires are clinical lead, regulatory lead, and a part-time GP advisor — contingent on Fit4Start capital.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Nomination for the next Fit4Start HealthTech cohort. Introduction to one or two hospitals. Regulatory advisory via Fit4Innovation HealthTech Market. These are the three things no amount of our own hustle can substitute for, and the three things you are best placed to unlock. Everything else we will do ourselves.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to remember. We capture the clinical reasoning that has never been digitized in primary care, and we turn it into the longitudinal dataset no one else owns. If you take away nothing else from this meeting, take away that. Thank you for your time.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Barlow"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Barlow"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Barlow"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Barlow"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Barlow"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Barl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Barl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Barl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Barlow"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mailto:azhausivas@gmail.com"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628"/>
        </a:solidFill>
        <a:effectLst/>
      </p:bgPr>
    </p:bg>
    <p:spTree>
      <p:nvGrpSpPr>
        <p:cNvPr id="1" name=""/>
        <p:cNvGrpSpPr/>
        <p:nvPr/>
      </p:nvGrpSpPr>
      <p:grpSpPr>
        <a:xfrm>
          <a:off x="0" y="0"/>
          <a:ext cx="0" cy="0"/>
          <a:chOff x="0" y="0"/>
          <a:chExt cx="0" cy="0"/>
        </a:xfrm>
      </p:grpSpPr>
      <p:sp>
        <p:nvSpPr>
          <p:cNvPr id="2" name="Text 0"/>
          <p:cNvSpPr/>
          <p:nvPr/>
        </p:nvSpPr>
        <p:spPr>
          <a:xfrm>
            <a:off x="1047750" y="952500"/>
            <a:ext cx="16678275"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432" dirty="0">
                <a:solidFill>
                  <a:srgbClr val="B87A4B"/>
                </a:solidFill>
                <a:latin typeface="Barlow" panose="00000500000000000000" pitchFamily="2" charset="0"/>
                <a:ea typeface="Barlow" pitchFamily="34" charset="-122"/>
                <a:cs typeface="Barlow" pitchFamily="34" charset="-120"/>
              </a:rPr>
              <a:t>LUXINNOVATION · HEALTHTECH CLUSTER · 21 APR 2026</a:t>
            </a:r>
            <a:endParaRPr lang="en-US" sz="1800" dirty="0">
              <a:latin typeface="Barlow" panose="00000500000000000000" pitchFamily="2" charset="0"/>
            </a:endParaRPr>
          </a:p>
        </p:txBody>
      </p:sp>
      <p:sp>
        <p:nvSpPr>
          <p:cNvPr id="3" name="Text 1"/>
          <p:cNvSpPr/>
          <p:nvPr/>
        </p:nvSpPr>
        <p:spPr>
          <a:xfrm>
            <a:off x="1047750" y="1653540"/>
            <a:ext cx="16678275" cy="2095500"/>
          </a:xfrm>
          <a:prstGeom prst="rect">
            <a:avLst/>
          </a:prstGeom>
          <a:noFill/>
          <a:ln/>
        </p:spPr>
        <p:txBody>
          <a:bodyPr wrap="square" lIns="25400" tIns="25400" rIns="25400" bIns="25400" rtlCol="0" anchor="t">
            <a:normAutofit fontScale="92500" lnSpcReduction="10000"/>
          </a:bodyPr>
          <a:lstStyle/>
          <a:p>
            <a:pPr marL="0" indent="0" algn="l">
              <a:lnSpc>
                <a:spcPct val="90000"/>
              </a:lnSpc>
              <a:buNone/>
            </a:pPr>
            <a:r>
              <a:rPr lang="en-US" sz="18000" kern="0" spc="-720" dirty="0">
                <a:solidFill>
                  <a:srgbClr val="F5F2E8"/>
                </a:solidFill>
                <a:latin typeface="Barlow" panose="00000500000000000000" pitchFamily="2" charset="0"/>
                <a:ea typeface="Barlow" pitchFamily="34" charset="-122"/>
                <a:cs typeface="Barlow" pitchFamily="34" charset="-120"/>
              </a:rPr>
              <a:t>L</a:t>
            </a:r>
            <a:r>
              <a:rPr lang="en-US" sz="18000" kern="0" spc="-720" dirty="0">
                <a:solidFill>
                  <a:srgbClr val="B87A4B"/>
                </a:solidFill>
                <a:latin typeface="Barlow" panose="00000500000000000000" pitchFamily="2" charset="0"/>
                <a:ea typeface="Barlow" pitchFamily="34" charset="-122"/>
                <a:cs typeface="Barlow" pitchFamily="34" charset="-120"/>
              </a:rPr>
              <a:t>I</a:t>
            </a:r>
            <a:r>
              <a:rPr lang="en-US" sz="18000" kern="0" spc="-720" dirty="0">
                <a:solidFill>
                  <a:srgbClr val="F5F2E8"/>
                </a:solidFill>
                <a:latin typeface="Barlow" panose="00000500000000000000" pitchFamily="2" charset="0"/>
                <a:ea typeface="Barlow" pitchFamily="34" charset="-122"/>
                <a:cs typeface="Barlow" pitchFamily="34" charset="-120"/>
              </a:rPr>
              <a:t>ET</a:t>
            </a:r>
            <a:endParaRPr lang="en-US" sz="18000" dirty="0">
              <a:latin typeface="Barlow" panose="00000500000000000000" pitchFamily="2" charset="0"/>
            </a:endParaRPr>
          </a:p>
        </p:txBody>
      </p:sp>
      <p:sp>
        <p:nvSpPr>
          <p:cNvPr id="4" name="Text 2"/>
          <p:cNvSpPr/>
          <p:nvPr/>
        </p:nvSpPr>
        <p:spPr>
          <a:xfrm>
            <a:off x="1047750" y="4091940"/>
            <a:ext cx="14716125" cy="11353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3600" i="1" kern="0" spc="-43" dirty="0">
                <a:solidFill>
                  <a:srgbClr val="F5F2E8">
                    <a:alpha val="90000"/>
                  </a:srgbClr>
                </a:solidFill>
                <a:latin typeface="Barlow" panose="00000500000000000000" pitchFamily="2" charset="0"/>
                <a:ea typeface="Barlow" pitchFamily="34" charset="-122"/>
                <a:cs typeface="Barlow" pitchFamily="34" charset="-120"/>
              </a:rPr>
              <a:t>The clinical reasoning layer for primary care. Structured longitudinal records from unstructured consultations.</a:t>
            </a:r>
            <a:endParaRPr lang="en-US" sz="3600" dirty="0">
              <a:latin typeface="Barlow" panose="00000500000000000000" pitchFamily="2" charset="0"/>
            </a:endParaRPr>
          </a:p>
        </p:txBody>
      </p:sp>
      <p:sp>
        <p:nvSpPr>
          <p:cNvPr id="5" name="Shape 3"/>
          <p:cNvSpPr/>
          <p:nvPr/>
        </p:nvSpPr>
        <p:spPr>
          <a:xfrm>
            <a:off x="1047750" y="7949565"/>
            <a:ext cx="16192500" cy="9525"/>
          </a:xfrm>
          <a:prstGeom prst="rect">
            <a:avLst/>
          </a:prstGeom>
          <a:solidFill>
            <a:srgbClr val="FFFFFF">
              <a:alpha val="16000"/>
            </a:srgbClr>
          </a:solidFill>
          <a:ln/>
        </p:spPr>
        <p:txBody>
          <a:bodyPr/>
          <a:lstStyle/>
          <a:p>
            <a:endParaRPr lang="en-US">
              <a:latin typeface="Barlow" panose="00000500000000000000" pitchFamily="2" charset="0"/>
            </a:endParaRPr>
          </a:p>
        </p:txBody>
      </p:sp>
      <p:sp>
        <p:nvSpPr>
          <p:cNvPr id="6" name="Text 4"/>
          <p:cNvSpPr/>
          <p:nvPr/>
        </p:nvSpPr>
        <p:spPr>
          <a:xfrm>
            <a:off x="1047750" y="8338185"/>
            <a:ext cx="3021711"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324" dirty="0">
                <a:solidFill>
                  <a:srgbClr val="B87A4B"/>
                </a:solidFill>
                <a:latin typeface="Barlow" panose="00000500000000000000" pitchFamily="2" charset="0"/>
                <a:ea typeface="Barlow" pitchFamily="34" charset="-122"/>
                <a:cs typeface="Barlow" pitchFamily="34" charset="-120"/>
              </a:rPr>
              <a:t>FOR</a:t>
            </a:r>
            <a:endParaRPr lang="en-US" sz="1800" dirty="0">
              <a:latin typeface="Barlow" panose="00000500000000000000" pitchFamily="2" charset="0"/>
            </a:endParaRPr>
          </a:p>
        </p:txBody>
      </p:sp>
      <p:sp>
        <p:nvSpPr>
          <p:cNvPr id="7" name="Text 5"/>
          <p:cNvSpPr/>
          <p:nvPr/>
        </p:nvSpPr>
        <p:spPr>
          <a:xfrm>
            <a:off x="1047750" y="8715375"/>
            <a:ext cx="3021711" cy="347663"/>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950" kern="0" spc="-11" dirty="0">
                <a:solidFill>
                  <a:srgbClr val="F5F2E8"/>
                </a:solidFill>
                <a:latin typeface="Barlow" panose="00000500000000000000" pitchFamily="2" charset="0"/>
                <a:ea typeface="Barlow" pitchFamily="34" charset="-122"/>
                <a:cs typeface="Barlow" pitchFamily="34" charset="-120"/>
              </a:rPr>
              <a:t>Jean-Philippe Arié</a:t>
            </a:r>
            <a:endParaRPr lang="en-US" sz="1950" dirty="0">
              <a:latin typeface="Barlow" panose="00000500000000000000" pitchFamily="2" charset="0"/>
            </a:endParaRPr>
          </a:p>
        </p:txBody>
      </p:sp>
      <p:sp>
        <p:nvSpPr>
          <p:cNvPr id="8" name="Text 6"/>
          <p:cNvSpPr/>
          <p:nvPr/>
        </p:nvSpPr>
        <p:spPr>
          <a:xfrm>
            <a:off x="4362450" y="8338185"/>
            <a:ext cx="3021711"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324" dirty="0">
                <a:solidFill>
                  <a:srgbClr val="B87A4B"/>
                </a:solidFill>
                <a:latin typeface="Barlow" panose="00000500000000000000" pitchFamily="2" charset="0"/>
                <a:ea typeface="Barlow" pitchFamily="34" charset="-122"/>
                <a:cs typeface="Barlow" pitchFamily="34" charset="-120"/>
              </a:rPr>
              <a:t>INTRODUCED BY</a:t>
            </a:r>
            <a:endParaRPr lang="en-US" sz="1800" dirty="0">
              <a:latin typeface="Barlow" panose="00000500000000000000" pitchFamily="2" charset="0"/>
            </a:endParaRPr>
          </a:p>
        </p:txBody>
      </p:sp>
      <p:sp>
        <p:nvSpPr>
          <p:cNvPr id="9" name="Text 7"/>
          <p:cNvSpPr/>
          <p:nvPr/>
        </p:nvSpPr>
        <p:spPr>
          <a:xfrm>
            <a:off x="4362450" y="8715375"/>
            <a:ext cx="3021711" cy="65722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950" kern="0" spc="-11" dirty="0">
                <a:solidFill>
                  <a:srgbClr val="F5F2E8"/>
                </a:solidFill>
                <a:latin typeface="Barlow" panose="00000500000000000000" pitchFamily="2" charset="0"/>
                <a:ea typeface="Barlow" pitchFamily="34" charset="-122"/>
                <a:cs typeface="Barlow" pitchFamily="34" charset="-120"/>
              </a:rPr>
              <a:t>Françoise Liners Ministry of Economy</a:t>
            </a:r>
            <a:endParaRPr lang="en-US" sz="1950" dirty="0">
              <a:latin typeface="Barlow" panose="00000500000000000000" pitchFamily="2" charset="0"/>
            </a:endParaRPr>
          </a:p>
        </p:txBody>
      </p:sp>
      <p:sp>
        <p:nvSpPr>
          <p:cNvPr id="10" name="Text 8"/>
          <p:cNvSpPr/>
          <p:nvPr/>
        </p:nvSpPr>
        <p:spPr>
          <a:xfrm>
            <a:off x="7677150" y="8338185"/>
            <a:ext cx="3021711"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324" dirty="0">
                <a:solidFill>
                  <a:srgbClr val="B87A4B"/>
                </a:solidFill>
                <a:latin typeface="Barlow" panose="00000500000000000000" pitchFamily="2" charset="0"/>
                <a:ea typeface="Barlow" pitchFamily="34" charset="-122"/>
                <a:cs typeface="Barlow" pitchFamily="34" charset="-120"/>
              </a:rPr>
              <a:t>CONTEXT</a:t>
            </a:r>
            <a:endParaRPr lang="en-US" sz="1800" dirty="0">
              <a:latin typeface="Barlow" panose="00000500000000000000" pitchFamily="2" charset="0"/>
            </a:endParaRPr>
          </a:p>
        </p:txBody>
      </p:sp>
      <p:sp>
        <p:nvSpPr>
          <p:cNvPr id="11" name="Text 9"/>
          <p:cNvSpPr/>
          <p:nvPr/>
        </p:nvSpPr>
        <p:spPr>
          <a:xfrm>
            <a:off x="7677150" y="8715375"/>
            <a:ext cx="3021711" cy="657225"/>
          </a:xfrm>
          <a:prstGeom prst="rect">
            <a:avLst/>
          </a:prstGeom>
          <a:noFill/>
          <a:ln/>
        </p:spPr>
        <p:txBody>
          <a:bodyPr wrap="square" lIns="25400" tIns="25400" rIns="25400" bIns="25400" rtlCol="0" anchor="t">
            <a:normAutofit fontScale="92500"/>
          </a:bodyPr>
          <a:lstStyle/>
          <a:p>
            <a:pPr marL="0" indent="0" algn="l">
              <a:lnSpc>
                <a:spcPct val="125000"/>
              </a:lnSpc>
              <a:buNone/>
            </a:pPr>
            <a:r>
              <a:rPr lang="en-US" sz="1950" kern="0" spc="-11" dirty="0">
                <a:solidFill>
                  <a:srgbClr val="F5F2E8"/>
                </a:solidFill>
                <a:latin typeface="Barlow" panose="00000500000000000000" pitchFamily="2" charset="0"/>
                <a:ea typeface="Barlow" pitchFamily="34" charset="-122"/>
                <a:cs typeface="Barlow" pitchFamily="34" charset="-120"/>
              </a:rPr>
              <a:t>Fit4Start HealthTech cohort</a:t>
            </a:r>
            <a:endParaRPr lang="en-US" sz="1950" dirty="0">
              <a:latin typeface="Barlow" panose="00000500000000000000" pitchFamily="2" charset="0"/>
            </a:endParaRPr>
          </a:p>
        </p:txBody>
      </p:sp>
      <p:sp>
        <p:nvSpPr>
          <p:cNvPr id="12" name="Text 10"/>
          <p:cNvSpPr/>
          <p:nvPr/>
        </p:nvSpPr>
        <p:spPr>
          <a:xfrm>
            <a:off x="10991850" y="8338185"/>
            <a:ext cx="3021711"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324" dirty="0">
                <a:solidFill>
                  <a:srgbClr val="B87A4B"/>
                </a:solidFill>
                <a:latin typeface="Barlow" panose="00000500000000000000" pitchFamily="2" charset="0"/>
                <a:ea typeface="Barlow" pitchFamily="34" charset="-122"/>
                <a:cs typeface="Barlow" pitchFamily="34" charset="-120"/>
              </a:rPr>
              <a:t>INTENT</a:t>
            </a:r>
            <a:endParaRPr lang="en-US" sz="1800" dirty="0">
              <a:latin typeface="Barlow" panose="00000500000000000000" pitchFamily="2" charset="0"/>
            </a:endParaRPr>
          </a:p>
        </p:txBody>
      </p:sp>
      <p:sp>
        <p:nvSpPr>
          <p:cNvPr id="13" name="Text 11"/>
          <p:cNvSpPr/>
          <p:nvPr/>
        </p:nvSpPr>
        <p:spPr>
          <a:xfrm>
            <a:off x="10991850" y="8715375"/>
            <a:ext cx="3021711" cy="347663"/>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950" kern="0" spc="-11" dirty="0">
                <a:solidFill>
                  <a:srgbClr val="F5F2E8"/>
                </a:solidFill>
                <a:latin typeface="Barlow" panose="00000500000000000000" pitchFamily="2" charset="0"/>
                <a:ea typeface="Barlow" pitchFamily="34" charset="-122"/>
                <a:cs typeface="Barlow" pitchFamily="34" charset="-120"/>
              </a:rPr>
              <a:t>Luxembourg S.à r.l.</a:t>
            </a:r>
            <a:endParaRPr lang="en-US" sz="1950" dirty="0">
              <a:latin typeface="Barlow" panose="00000500000000000000" pitchFamily="2" charset="0"/>
            </a:endParaRPr>
          </a:p>
        </p:txBody>
      </p:sp>
      <p:sp>
        <p:nvSpPr>
          <p:cNvPr id="14" name="Text 12"/>
          <p:cNvSpPr/>
          <p:nvPr/>
        </p:nvSpPr>
        <p:spPr>
          <a:xfrm>
            <a:off x="14306550" y="8338185"/>
            <a:ext cx="3021711"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324" dirty="0">
                <a:solidFill>
                  <a:srgbClr val="B87A4B"/>
                </a:solidFill>
                <a:latin typeface="Barlow" panose="00000500000000000000" pitchFamily="2" charset="0"/>
                <a:ea typeface="Barlow" pitchFamily="34" charset="-122"/>
                <a:cs typeface="Barlow" pitchFamily="34" charset="-120"/>
              </a:rPr>
              <a:t>DURATION</a:t>
            </a:r>
            <a:endParaRPr lang="en-US" sz="1800" dirty="0">
              <a:latin typeface="Barlow" panose="00000500000000000000" pitchFamily="2" charset="0"/>
            </a:endParaRPr>
          </a:p>
        </p:txBody>
      </p:sp>
      <p:sp>
        <p:nvSpPr>
          <p:cNvPr id="15" name="Text 13"/>
          <p:cNvSpPr/>
          <p:nvPr/>
        </p:nvSpPr>
        <p:spPr>
          <a:xfrm>
            <a:off x="14306550" y="8715375"/>
            <a:ext cx="3021711" cy="347663"/>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950" kern="0" spc="-11" dirty="0">
                <a:solidFill>
                  <a:srgbClr val="F5F2E8"/>
                </a:solidFill>
                <a:latin typeface="Barlow" panose="00000500000000000000" pitchFamily="2" charset="0"/>
                <a:ea typeface="Barlow" pitchFamily="34" charset="-122"/>
                <a:cs typeface="Barlow" pitchFamily="34" charset="-120"/>
              </a:rPr>
              <a:t>15 min + 10 Q&amp;A</a:t>
            </a:r>
            <a:endParaRPr lang="en-US" sz="1950" dirty="0">
              <a:latin typeface="Barlow" panose="000005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1047750" y="126111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3" name="Text 1"/>
          <p:cNvSpPr/>
          <p:nvPr/>
        </p:nvSpPr>
        <p:spPr>
          <a:xfrm>
            <a:off x="1047750" y="775335"/>
            <a:ext cx="1589603"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PROBLEM</a:t>
            </a:r>
            <a:endParaRPr lang="en-US" sz="1800" dirty="0">
              <a:latin typeface="Barlow" panose="00000500000000000000" pitchFamily="2" charset="0"/>
            </a:endParaRPr>
          </a:p>
        </p:txBody>
      </p:sp>
      <p:sp>
        <p:nvSpPr>
          <p:cNvPr id="4" name="Text 2"/>
          <p:cNvSpPr/>
          <p:nvPr/>
        </p:nvSpPr>
        <p:spPr>
          <a:xfrm>
            <a:off x="16441460" y="762000"/>
            <a:ext cx="874990" cy="3848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468" dirty="0">
                <a:solidFill>
                  <a:srgbClr val="1B2A4A"/>
                </a:solidFill>
                <a:latin typeface="Barlow" panose="00000500000000000000" pitchFamily="2" charset="0"/>
                <a:ea typeface="Barlow" pitchFamily="34" charset="-122"/>
                <a:cs typeface="Barlow" pitchFamily="34" charset="-120"/>
              </a:rPr>
              <a:t>LIET</a:t>
            </a:r>
            <a:endParaRPr lang="en-US" sz="1950" dirty="0">
              <a:latin typeface="Barlow" panose="00000500000000000000" pitchFamily="2" charset="0"/>
            </a:endParaRPr>
          </a:p>
        </p:txBody>
      </p:sp>
      <p:sp>
        <p:nvSpPr>
          <p:cNvPr id="5" name="Text 3"/>
          <p:cNvSpPr/>
          <p:nvPr/>
        </p:nvSpPr>
        <p:spPr>
          <a:xfrm>
            <a:off x="1047750" y="1687830"/>
            <a:ext cx="166782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01 · THREE FORCES CONVERGING</a:t>
            </a:r>
            <a:endParaRPr lang="en-US" sz="1800" dirty="0">
              <a:latin typeface="Barlow" panose="00000500000000000000" pitchFamily="2" charset="0"/>
            </a:endParaRPr>
          </a:p>
        </p:txBody>
      </p:sp>
      <p:sp>
        <p:nvSpPr>
          <p:cNvPr id="6" name="Text 4"/>
          <p:cNvSpPr/>
          <p:nvPr/>
        </p:nvSpPr>
        <p:spPr>
          <a:xfrm>
            <a:off x="1047750" y="2236470"/>
            <a:ext cx="15697200" cy="127254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500" kern="0" spc="-81" dirty="0">
                <a:solidFill>
                  <a:srgbClr val="1B2A4A"/>
                </a:solidFill>
                <a:latin typeface="Barlow" panose="00000500000000000000" pitchFamily="2" charset="0"/>
                <a:ea typeface="Barlow" pitchFamily="34" charset="-122"/>
                <a:cs typeface="Barlow" pitchFamily="34" charset="-120"/>
              </a:rPr>
              <a:t>Luxembourg is running a strained health system on </a:t>
            </a:r>
            <a:r>
              <a:rPr lang="en-US" sz="4500" i="1" kern="0" spc="-81" dirty="0">
                <a:solidFill>
                  <a:srgbClr val="B87A4B"/>
                </a:solidFill>
                <a:latin typeface="Barlow" panose="00000500000000000000" pitchFamily="2" charset="0"/>
                <a:ea typeface="Barlow" pitchFamily="34" charset="-122"/>
                <a:cs typeface="Barlow" pitchFamily="34" charset="-120"/>
              </a:rPr>
              <a:t>imported, ageing labour.</a:t>
            </a:r>
            <a:endParaRPr lang="en-US" sz="4500" dirty="0">
              <a:latin typeface="Barlow" panose="00000500000000000000" pitchFamily="2" charset="0"/>
            </a:endParaRPr>
          </a:p>
        </p:txBody>
      </p:sp>
      <p:sp>
        <p:nvSpPr>
          <p:cNvPr id="7" name="Shape 5"/>
          <p:cNvSpPr/>
          <p:nvPr/>
        </p:nvSpPr>
        <p:spPr>
          <a:xfrm>
            <a:off x="1047750" y="4004310"/>
            <a:ext cx="5194221" cy="4023360"/>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8" name="Text 6"/>
          <p:cNvSpPr/>
          <p:nvPr/>
        </p:nvSpPr>
        <p:spPr>
          <a:xfrm>
            <a:off x="1436370" y="4354830"/>
            <a:ext cx="454949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WORKFORCE</a:t>
            </a:r>
            <a:endParaRPr lang="en-US" sz="1800" dirty="0">
              <a:latin typeface="Barlow" panose="00000500000000000000" pitchFamily="2" charset="0"/>
            </a:endParaRPr>
          </a:p>
        </p:txBody>
      </p:sp>
      <p:sp>
        <p:nvSpPr>
          <p:cNvPr id="9" name="Text 7"/>
          <p:cNvSpPr/>
          <p:nvPr/>
        </p:nvSpPr>
        <p:spPr>
          <a:xfrm>
            <a:off x="1436370" y="4827270"/>
            <a:ext cx="4549490" cy="906780"/>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7200" kern="0" spc="-216" dirty="0">
                <a:solidFill>
                  <a:srgbClr val="B87A4B"/>
                </a:solidFill>
                <a:latin typeface="Barlow" panose="00000500000000000000" pitchFamily="2" charset="0"/>
                <a:ea typeface="Barlow" pitchFamily="34" charset="-122"/>
                <a:cs typeface="Barlow" pitchFamily="34" charset="-120"/>
              </a:rPr>
              <a:t>100% </a:t>
            </a:r>
            <a:r>
              <a:rPr lang="en-US" sz="1800" b="1" kern="0" spc="-216" baseline="30000" dirty="0">
                <a:solidFill>
                  <a:srgbClr val="B87A4B"/>
                </a:solidFill>
                <a:latin typeface="Barlow" panose="00000500000000000000" pitchFamily="2" charset="0"/>
                <a:ea typeface="Barlow" pitchFamily="34" charset="-122"/>
                <a:cs typeface="Barlow" pitchFamily="34" charset="-120"/>
              </a:rPr>
              <a:t>1</a:t>
            </a:r>
            <a:endParaRPr lang="en-US" sz="7200" dirty="0">
              <a:latin typeface="Barlow" panose="00000500000000000000" pitchFamily="2" charset="0"/>
            </a:endParaRPr>
          </a:p>
        </p:txBody>
      </p:sp>
      <p:sp>
        <p:nvSpPr>
          <p:cNvPr id="10" name="Text 8"/>
          <p:cNvSpPr/>
          <p:nvPr/>
        </p:nvSpPr>
        <p:spPr>
          <a:xfrm>
            <a:off x="1436370" y="5753100"/>
            <a:ext cx="454949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180" dirty="0">
                <a:solidFill>
                  <a:srgbClr val="556688"/>
                </a:solidFill>
                <a:latin typeface="Barlow" panose="00000500000000000000" pitchFamily="2" charset="0"/>
                <a:ea typeface="Barlow" pitchFamily="34" charset="-122"/>
                <a:cs typeface="Barlow" pitchFamily="34" charset="-120"/>
              </a:rPr>
              <a:t>DOCTORS TRAINED ABROAD</a:t>
            </a:r>
            <a:endParaRPr lang="en-US" sz="1800" dirty="0">
              <a:latin typeface="Barlow" panose="00000500000000000000" pitchFamily="2" charset="0"/>
            </a:endParaRPr>
          </a:p>
        </p:txBody>
      </p:sp>
      <p:sp>
        <p:nvSpPr>
          <p:cNvPr id="11" name="Text 9"/>
          <p:cNvSpPr/>
          <p:nvPr/>
        </p:nvSpPr>
        <p:spPr>
          <a:xfrm>
            <a:off x="1436370" y="6320790"/>
            <a:ext cx="4549490" cy="10934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kern="0" spc="-11" dirty="0">
                <a:solidFill>
                  <a:srgbClr val="556688"/>
                </a:solidFill>
                <a:latin typeface="Barlow" panose="00000500000000000000" pitchFamily="2" charset="0"/>
                <a:ea typeface="Barlow" pitchFamily="34" charset="-122"/>
                <a:cs typeface="Barlow" pitchFamily="34" charset="-120"/>
              </a:rPr>
              <a:t>55% of practising doctors are 54+; only 5% under 35. </a:t>
            </a:r>
            <a:r>
              <a:rPr lang="en-US" sz="1800" b="1" kern="0" spc="-11" baseline="30000" dirty="0">
                <a:solidFill>
                  <a:srgbClr val="B87A4B"/>
                </a:solidFill>
                <a:latin typeface="Barlow" panose="00000500000000000000" pitchFamily="2" charset="0"/>
                <a:ea typeface="Barlow" pitchFamily="34" charset="-122"/>
                <a:cs typeface="Barlow" pitchFamily="34" charset="-120"/>
              </a:rPr>
              <a:t>2 </a:t>
            </a:r>
            <a:r>
              <a:rPr lang="en-US" sz="1800" kern="0" spc="-11" dirty="0">
                <a:solidFill>
                  <a:srgbClr val="556688"/>
                </a:solidFill>
                <a:latin typeface="Barlow" panose="00000500000000000000" pitchFamily="2" charset="0"/>
                <a:ea typeface="Barlow" pitchFamily="34" charset="-122"/>
                <a:cs typeface="Barlow" pitchFamily="34" charset="-120"/>
              </a:rPr>
              <a:t>Between </a:t>
            </a:r>
            <a:r>
              <a:rPr lang="en-US" sz="1800" b="1" kern="0" spc="-11" dirty="0">
                <a:solidFill>
                  <a:srgbClr val="1B2A4A"/>
                </a:solidFill>
                <a:latin typeface="Barlow" panose="00000500000000000000" pitchFamily="2" charset="0"/>
                <a:ea typeface="Barlow" pitchFamily="34" charset="-122"/>
                <a:cs typeface="Barlow" pitchFamily="34" charset="-120"/>
              </a:rPr>
              <a:t>59–69% </a:t>
            </a:r>
            <a:r>
              <a:rPr lang="en-US" sz="1800" kern="0" spc="-11" dirty="0">
                <a:solidFill>
                  <a:srgbClr val="556688"/>
                </a:solidFill>
                <a:latin typeface="Barlow" panose="00000500000000000000" pitchFamily="2" charset="0"/>
                <a:ea typeface="Barlow" pitchFamily="34" charset="-122"/>
                <a:cs typeface="Barlow" pitchFamily="34" charset="-120"/>
              </a:rPr>
              <a:t>of the 2,088 active doctors in 2017 retire by 2034. </a:t>
            </a:r>
            <a:r>
              <a:rPr lang="en-US" sz="1800" b="1" kern="0" spc="-11" baseline="30000" dirty="0">
                <a:solidFill>
                  <a:srgbClr val="B87A4B"/>
                </a:solidFill>
                <a:latin typeface="Barlow" panose="00000500000000000000" pitchFamily="2" charset="0"/>
                <a:ea typeface="Barlow" pitchFamily="34" charset="-122"/>
                <a:cs typeface="Barlow" pitchFamily="34" charset="-120"/>
              </a:rPr>
              <a:t>3</a:t>
            </a:r>
            <a:endParaRPr lang="en-US" sz="1800" dirty="0">
              <a:latin typeface="Barlow" panose="00000500000000000000" pitchFamily="2" charset="0"/>
            </a:endParaRPr>
          </a:p>
        </p:txBody>
      </p:sp>
      <p:sp>
        <p:nvSpPr>
          <p:cNvPr id="12" name="Shape 10"/>
          <p:cNvSpPr/>
          <p:nvPr/>
        </p:nvSpPr>
        <p:spPr>
          <a:xfrm>
            <a:off x="6546771" y="4004310"/>
            <a:ext cx="5194340" cy="4023360"/>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3" name="Text 11"/>
          <p:cNvSpPr/>
          <p:nvPr/>
        </p:nvSpPr>
        <p:spPr>
          <a:xfrm>
            <a:off x="6935391" y="4354830"/>
            <a:ext cx="4549613"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DIGITAL RECORD GAP</a:t>
            </a:r>
            <a:endParaRPr lang="en-US" sz="1800" dirty="0">
              <a:latin typeface="Barlow" panose="00000500000000000000" pitchFamily="2" charset="0"/>
            </a:endParaRPr>
          </a:p>
        </p:txBody>
      </p:sp>
      <p:sp>
        <p:nvSpPr>
          <p:cNvPr id="14" name="Text 12"/>
          <p:cNvSpPr/>
          <p:nvPr/>
        </p:nvSpPr>
        <p:spPr>
          <a:xfrm>
            <a:off x="6935391" y="4827270"/>
            <a:ext cx="4549613" cy="906780"/>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7200" kern="0" spc="-216" dirty="0">
                <a:solidFill>
                  <a:srgbClr val="B87A4B"/>
                </a:solidFill>
                <a:latin typeface="Barlow" panose="00000500000000000000" pitchFamily="2" charset="0"/>
                <a:ea typeface="Barlow" pitchFamily="34" charset="-122"/>
                <a:cs typeface="Barlow" pitchFamily="34" charset="-120"/>
              </a:rPr>
              <a:t>~400k </a:t>
            </a:r>
            <a:r>
              <a:rPr lang="en-US" sz="1800" b="1" kern="0" spc="-216" baseline="30000" dirty="0">
                <a:solidFill>
                  <a:srgbClr val="B87A4B"/>
                </a:solidFill>
                <a:latin typeface="Barlow" panose="00000500000000000000" pitchFamily="2" charset="0"/>
                <a:ea typeface="Barlow" pitchFamily="34" charset="-122"/>
                <a:cs typeface="Barlow" pitchFamily="34" charset="-120"/>
              </a:rPr>
              <a:t>4</a:t>
            </a:r>
            <a:endParaRPr lang="en-US" sz="7200" dirty="0">
              <a:latin typeface="Barlow" panose="00000500000000000000" pitchFamily="2" charset="0"/>
            </a:endParaRPr>
          </a:p>
        </p:txBody>
      </p:sp>
      <p:sp>
        <p:nvSpPr>
          <p:cNvPr id="15" name="Text 13"/>
          <p:cNvSpPr/>
          <p:nvPr/>
        </p:nvSpPr>
        <p:spPr>
          <a:xfrm>
            <a:off x="6935391" y="5753100"/>
            <a:ext cx="4549613"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180" dirty="0">
                <a:solidFill>
                  <a:srgbClr val="556688"/>
                </a:solidFill>
                <a:latin typeface="Barlow" panose="00000500000000000000" pitchFamily="2" charset="0"/>
                <a:ea typeface="Barlow" pitchFamily="34" charset="-122"/>
                <a:cs typeface="Barlow" pitchFamily="34" charset="-120"/>
              </a:rPr>
              <a:t>EMPTY DSP DOSSIERS</a:t>
            </a:r>
            <a:endParaRPr lang="en-US" sz="1800" dirty="0">
              <a:latin typeface="Barlow" panose="00000500000000000000" pitchFamily="2" charset="0"/>
            </a:endParaRPr>
          </a:p>
        </p:txBody>
      </p:sp>
      <p:sp>
        <p:nvSpPr>
          <p:cNvPr id="16" name="Text 14"/>
          <p:cNvSpPr/>
          <p:nvPr/>
        </p:nvSpPr>
        <p:spPr>
          <a:xfrm>
            <a:off x="6935391" y="6320790"/>
            <a:ext cx="4549613" cy="1394460"/>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1" dirty="0">
                <a:solidFill>
                  <a:srgbClr val="556688"/>
                </a:solidFill>
                <a:latin typeface="Barlow" panose="00000500000000000000" pitchFamily="2" charset="0"/>
                <a:ea typeface="Barlow" pitchFamily="34" charset="-122"/>
                <a:cs typeface="Barlow" pitchFamily="34" charset="-120"/>
              </a:rPr>
              <a:t>~201,664 accounts activated (≈30% of residents). 25% of software used by Luxembourg doctors is not DSP-compatible. </a:t>
            </a:r>
            <a:r>
              <a:rPr lang="en-US" sz="1800" b="1" kern="0" spc="-11" baseline="30000" dirty="0">
                <a:solidFill>
                  <a:srgbClr val="B87A4B"/>
                </a:solidFill>
                <a:latin typeface="Barlow" panose="00000500000000000000" pitchFamily="2" charset="0"/>
                <a:ea typeface="Barlow" pitchFamily="34" charset="-122"/>
                <a:cs typeface="Barlow" pitchFamily="34" charset="-120"/>
              </a:rPr>
              <a:t>5</a:t>
            </a:r>
            <a:endParaRPr lang="en-US" sz="1800" dirty="0">
              <a:latin typeface="Barlow" panose="00000500000000000000" pitchFamily="2" charset="0"/>
            </a:endParaRPr>
          </a:p>
        </p:txBody>
      </p:sp>
      <p:sp>
        <p:nvSpPr>
          <p:cNvPr id="17" name="Shape 15"/>
          <p:cNvSpPr/>
          <p:nvPr/>
        </p:nvSpPr>
        <p:spPr>
          <a:xfrm>
            <a:off x="12045910" y="4004310"/>
            <a:ext cx="5194340" cy="4023360"/>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8" name="Text 16"/>
          <p:cNvSpPr/>
          <p:nvPr/>
        </p:nvSpPr>
        <p:spPr>
          <a:xfrm>
            <a:off x="12434531" y="4354830"/>
            <a:ext cx="4549613"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FISCAL PRESSURE</a:t>
            </a:r>
            <a:endParaRPr lang="en-US" sz="1800" dirty="0">
              <a:latin typeface="Barlow" panose="00000500000000000000" pitchFamily="2" charset="0"/>
            </a:endParaRPr>
          </a:p>
        </p:txBody>
      </p:sp>
      <p:sp>
        <p:nvSpPr>
          <p:cNvPr id="19" name="Text 17"/>
          <p:cNvSpPr/>
          <p:nvPr/>
        </p:nvSpPr>
        <p:spPr>
          <a:xfrm>
            <a:off x="12434531" y="4827270"/>
            <a:ext cx="4549613" cy="906780"/>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7200" kern="0" spc="-216" dirty="0">
                <a:solidFill>
                  <a:srgbClr val="B87A4B"/>
                </a:solidFill>
                <a:latin typeface="Barlow" panose="00000500000000000000" pitchFamily="2" charset="0"/>
                <a:ea typeface="Barlow" pitchFamily="34" charset="-122"/>
                <a:cs typeface="Barlow" pitchFamily="34" charset="-120"/>
              </a:rPr>
              <a:t>−€132M </a:t>
            </a:r>
            <a:r>
              <a:rPr lang="en-US" sz="1800" b="1" kern="0" spc="-216" baseline="30000" dirty="0">
                <a:solidFill>
                  <a:srgbClr val="B87A4B"/>
                </a:solidFill>
                <a:latin typeface="Barlow" panose="00000500000000000000" pitchFamily="2" charset="0"/>
                <a:ea typeface="Barlow" pitchFamily="34" charset="-122"/>
                <a:cs typeface="Barlow" pitchFamily="34" charset="-120"/>
              </a:rPr>
              <a:t>6</a:t>
            </a:r>
            <a:endParaRPr lang="en-US" sz="7200" dirty="0">
              <a:latin typeface="Barlow" panose="00000500000000000000" pitchFamily="2" charset="0"/>
            </a:endParaRPr>
          </a:p>
        </p:txBody>
      </p:sp>
      <p:sp>
        <p:nvSpPr>
          <p:cNvPr id="20" name="Text 18"/>
          <p:cNvSpPr/>
          <p:nvPr/>
        </p:nvSpPr>
        <p:spPr>
          <a:xfrm>
            <a:off x="12434531" y="5753100"/>
            <a:ext cx="4549613"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180" dirty="0">
                <a:solidFill>
                  <a:srgbClr val="556688"/>
                </a:solidFill>
                <a:latin typeface="Barlow" panose="00000500000000000000" pitchFamily="2" charset="0"/>
                <a:ea typeface="Barlow" pitchFamily="34" charset="-122"/>
                <a:cs typeface="Barlow" pitchFamily="34" charset="-120"/>
              </a:rPr>
              <a:t>CNS 2025 PROJECTED DEFICIT</a:t>
            </a:r>
            <a:endParaRPr lang="en-US" sz="1800" dirty="0">
              <a:latin typeface="Barlow" panose="00000500000000000000" pitchFamily="2" charset="0"/>
            </a:endParaRPr>
          </a:p>
        </p:txBody>
      </p:sp>
      <p:sp>
        <p:nvSpPr>
          <p:cNvPr id="21" name="Text 19"/>
          <p:cNvSpPr/>
          <p:nvPr/>
        </p:nvSpPr>
        <p:spPr>
          <a:xfrm>
            <a:off x="12434531" y="6320790"/>
            <a:ext cx="4549613" cy="103251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kern="0" spc="-11" dirty="0">
                <a:solidFill>
                  <a:srgbClr val="556688"/>
                </a:solidFill>
                <a:latin typeface="Barlow" panose="00000500000000000000" pitchFamily="2" charset="0"/>
                <a:ea typeface="Barlow" pitchFamily="34" charset="-122"/>
                <a:cs typeface="Barlow" pitchFamily="34" charset="-120"/>
              </a:rPr>
              <a:t>Fivefold jump from 2024 (−€25.8M). IGSS projects −€188M by 2028; reserves breach the 10% floor in 2027.</a:t>
            </a:r>
            <a:endParaRPr lang="en-US" sz="1800" dirty="0">
              <a:latin typeface="Barlow" panose="00000500000000000000" pitchFamily="2" charset="0"/>
            </a:endParaRPr>
          </a:p>
        </p:txBody>
      </p:sp>
      <p:sp>
        <p:nvSpPr>
          <p:cNvPr id="22" name="Text 20"/>
          <p:cNvSpPr/>
          <p:nvPr/>
        </p:nvSpPr>
        <p:spPr>
          <a:xfrm>
            <a:off x="1047750" y="8446770"/>
            <a:ext cx="15697200" cy="756285"/>
          </a:xfrm>
          <a:prstGeom prst="rect">
            <a:avLst/>
          </a:prstGeom>
          <a:noFill/>
          <a:ln/>
        </p:spPr>
        <p:txBody>
          <a:bodyPr wrap="square" lIns="25400" tIns="25400" rIns="25400" bIns="25400" rtlCol="0" anchor="t">
            <a:normAutofit/>
          </a:bodyPr>
          <a:lstStyle/>
          <a:p>
            <a:pPr marL="0" indent="0" algn="l">
              <a:lnSpc>
                <a:spcPct val="145000"/>
              </a:lnSpc>
              <a:buNone/>
            </a:pPr>
            <a:r>
              <a:rPr lang="en-US" sz="1950" i="1" kern="0" spc="-11" dirty="0">
                <a:solidFill>
                  <a:srgbClr val="2E3F5F"/>
                </a:solidFill>
                <a:latin typeface="Barlow" panose="00000500000000000000" pitchFamily="2" charset="0"/>
                <a:ea typeface="Barlow" pitchFamily="34" charset="-122"/>
                <a:cs typeface="Barlow" pitchFamily="34" charset="-120"/>
              </a:rPr>
              <a:t>A solution that works here has to save doctor time, feed the DSP with structured data, and improve value per consultation for CNS. All three — or none.</a:t>
            </a:r>
            <a:endParaRPr lang="en-US" sz="1950" dirty="0">
              <a:latin typeface="Barlow" panose="00000500000000000000" pitchFamily="2" charset="0"/>
            </a:endParaRPr>
          </a:p>
        </p:txBody>
      </p:sp>
      <p:sp>
        <p:nvSpPr>
          <p:cNvPr id="23" name="Shape 21"/>
          <p:cNvSpPr/>
          <p:nvPr/>
        </p:nvSpPr>
        <p:spPr>
          <a:xfrm>
            <a:off x="1047750" y="8915400"/>
            <a:ext cx="16192500" cy="9525"/>
          </a:xfrm>
          <a:prstGeom prst="rect">
            <a:avLst/>
          </a:prstGeom>
          <a:solidFill>
            <a:srgbClr val="E1DBCB"/>
          </a:solidFill>
          <a:ln/>
        </p:spPr>
        <p:txBody>
          <a:bodyPr/>
          <a:lstStyle/>
          <a:p>
            <a:endParaRPr lang="en-US">
              <a:latin typeface="Barlow" panose="00000500000000000000" pitchFamily="2" charset="0"/>
            </a:endParaRPr>
          </a:p>
        </p:txBody>
      </p:sp>
      <p:sp>
        <p:nvSpPr>
          <p:cNvPr id="24" name="Text 22"/>
          <p:cNvSpPr/>
          <p:nvPr/>
        </p:nvSpPr>
        <p:spPr>
          <a:xfrm>
            <a:off x="1047750" y="9056370"/>
            <a:ext cx="3443818"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1 </a:t>
            </a:r>
            <a:r>
              <a:rPr lang="en-US" sz="1800" kern="0" spc="18" dirty="0">
                <a:solidFill>
                  <a:srgbClr val="8899BB"/>
                </a:solidFill>
                <a:latin typeface="Barlow" panose="00000500000000000000" pitchFamily="2" charset="0"/>
                <a:ea typeface="Barlow" pitchFamily="34" charset="-122"/>
                <a:cs typeface="Barlow" pitchFamily="34" charset="-120"/>
              </a:rPr>
              <a:t>OECD Migration Outlook 2025</a:t>
            </a:r>
            <a:endParaRPr lang="en-US" sz="1800" dirty="0">
              <a:latin typeface="Barlow" panose="00000500000000000000" pitchFamily="2" charset="0"/>
            </a:endParaRPr>
          </a:p>
        </p:txBody>
      </p:sp>
      <p:sp>
        <p:nvSpPr>
          <p:cNvPr id="25" name="Text 23"/>
          <p:cNvSpPr/>
          <p:nvPr/>
        </p:nvSpPr>
        <p:spPr>
          <a:xfrm>
            <a:off x="4657963" y="9056370"/>
            <a:ext cx="2562344"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2 </a:t>
            </a:r>
            <a:r>
              <a:rPr lang="en-US" sz="1800" kern="0" spc="18" dirty="0">
                <a:solidFill>
                  <a:srgbClr val="8899BB"/>
                </a:solidFill>
                <a:latin typeface="Barlow" panose="00000500000000000000" pitchFamily="2" charset="0"/>
                <a:ea typeface="Barlow" pitchFamily="34" charset="-122"/>
                <a:cs typeface="Barlow" pitchFamily="34" charset="-120"/>
              </a:rPr>
              <a:t>IGSS / Medinlux 2020</a:t>
            </a:r>
            <a:endParaRPr lang="en-US" sz="1800" dirty="0">
              <a:latin typeface="Barlow" panose="00000500000000000000" pitchFamily="2" charset="0"/>
            </a:endParaRPr>
          </a:p>
        </p:txBody>
      </p:sp>
      <p:sp>
        <p:nvSpPr>
          <p:cNvPr id="26" name="Text 24"/>
          <p:cNvSpPr/>
          <p:nvPr/>
        </p:nvSpPr>
        <p:spPr>
          <a:xfrm>
            <a:off x="7410808" y="9056370"/>
            <a:ext cx="2104192"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3 </a:t>
            </a:r>
            <a:r>
              <a:rPr lang="en-US" sz="1800" kern="0" spc="18" dirty="0">
                <a:solidFill>
                  <a:srgbClr val="8899BB"/>
                </a:solidFill>
                <a:latin typeface="Barlow" panose="00000500000000000000" pitchFamily="2" charset="0"/>
                <a:ea typeface="Barlow" pitchFamily="34" charset="-122"/>
                <a:cs typeface="Barlow" pitchFamily="34" charset="-120"/>
              </a:rPr>
              <a:t>CSL Avis 49/2022</a:t>
            </a:r>
            <a:endParaRPr lang="en-US" sz="1800" dirty="0">
              <a:latin typeface="Barlow" panose="00000500000000000000" pitchFamily="2" charset="0"/>
            </a:endParaRPr>
          </a:p>
        </p:txBody>
      </p:sp>
      <p:sp>
        <p:nvSpPr>
          <p:cNvPr id="27" name="Text 25"/>
          <p:cNvSpPr/>
          <p:nvPr/>
        </p:nvSpPr>
        <p:spPr>
          <a:xfrm>
            <a:off x="9705499" y="9056370"/>
            <a:ext cx="3930677"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4 </a:t>
            </a:r>
            <a:r>
              <a:rPr lang="en-US" sz="1800" kern="0" spc="18" dirty="0">
                <a:solidFill>
                  <a:srgbClr val="8899BB"/>
                </a:solidFill>
                <a:latin typeface="Barlow" panose="00000500000000000000" pitchFamily="2" charset="0"/>
                <a:ea typeface="Barlow" pitchFamily="34" charset="-122"/>
                <a:cs typeface="Barlow" pitchFamily="34" charset="-120"/>
              </a:rPr>
              <a:t>Agence eSanté, Paperjam 10/2024</a:t>
            </a:r>
            <a:endParaRPr lang="en-US" sz="1800" dirty="0">
              <a:latin typeface="Barlow" panose="00000500000000000000" pitchFamily="2" charset="0"/>
            </a:endParaRPr>
          </a:p>
        </p:txBody>
      </p:sp>
      <p:sp>
        <p:nvSpPr>
          <p:cNvPr id="28" name="Text 26"/>
          <p:cNvSpPr/>
          <p:nvPr/>
        </p:nvSpPr>
        <p:spPr>
          <a:xfrm>
            <a:off x="13788390" y="9056370"/>
            <a:ext cx="3400038"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5 </a:t>
            </a:r>
            <a:r>
              <a:rPr lang="en-US" sz="1800" kern="0" spc="18" dirty="0">
                <a:solidFill>
                  <a:srgbClr val="8899BB"/>
                </a:solidFill>
                <a:latin typeface="Barlow" panose="00000500000000000000" pitchFamily="2" charset="0"/>
                <a:ea typeface="Barlow" pitchFamily="34" charset="-122"/>
                <a:cs typeface="Barlow" pitchFamily="34" charset="-120"/>
              </a:rPr>
              <a:t>Agence eSanté / Le Quotidien</a:t>
            </a:r>
            <a:endParaRPr lang="en-US" sz="1800" dirty="0">
              <a:latin typeface="Barlow" panose="00000500000000000000" pitchFamily="2" charset="0"/>
            </a:endParaRPr>
          </a:p>
        </p:txBody>
      </p:sp>
      <p:sp>
        <p:nvSpPr>
          <p:cNvPr id="29" name="Text 27"/>
          <p:cNvSpPr/>
          <p:nvPr/>
        </p:nvSpPr>
        <p:spPr>
          <a:xfrm>
            <a:off x="1047750" y="9643110"/>
            <a:ext cx="3590367"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6 </a:t>
            </a:r>
            <a:r>
              <a:rPr lang="en-US" sz="1800" kern="0" spc="18" dirty="0">
                <a:solidFill>
                  <a:srgbClr val="8899BB"/>
                </a:solidFill>
                <a:latin typeface="Barlow" panose="00000500000000000000" pitchFamily="2" charset="0"/>
                <a:ea typeface="Barlow" pitchFamily="34" charset="-122"/>
                <a:cs typeface="Barlow" pitchFamily="34" charset="-120"/>
              </a:rPr>
              <a:t>IGSS Rapport AMM 13/10/2025</a:t>
            </a:r>
            <a:endParaRPr lang="en-US" sz="1800" dirty="0">
              <a:latin typeface="Barlow" panose="00000500000000000000" pitchFamily="2" charset="0"/>
            </a:endParaRPr>
          </a:p>
        </p:txBody>
      </p:sp>
      <p:sp>
        <p:nvSpPr>
          <p:cNvPr id="30" name="Text 28"/>
          <p:cNvSpPr/>
          <p:nvPr/>
        </p:nvSpPr>
        <p:spPr>
          <a:xfrm>
            <a:off x="16509683" y="9624060"/>
            <a:ext cx="806768"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800" dirty="0">
              <a:latin typeface="Barlow" panose="000005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9E1"/>
        </a:solidFill>
        <a:effectLst/>
      </p:bgPr>
    </p:bg>
    <p:spTree>
      <p:nvGrpSpPr>
        <p:cNvPr id="1" name=""/>
        <p:cNvGrpSpPr/>
        <p:nvPr/>
      </p:nvGrpSpPr>
      <p:grpSpPr>
        <a:xfrm>
          <a:off x="0" y="0"/>
          <a:ext cx="0" cy="0"/>
          <a:chOff x="0" y="0"/>
          <a:chExt cx="0" cy="0"/>
        </a:xfrm>
      </p:grpSpPr>
      <p:sp>
        <p:nvSpPr>
          <p:cNvPr id="2" name="Shape 0"/>
          <p:cNvSpPr/>
          <p:nvPr/>
        </p:nvSpPr>
        <p:spPr>
          <a:xfrm>
            <a:off x="1047750" y="126111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3" name="Text 1"/>
          <p:cNvSpPr/>
          <p:nvPr/>
        </p:nvSpPr>
        <p:spPr>
          <a:xfrm>
            <a:off x="1047750" y="775335"/>
            <a:ext cx="1271349"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WEDGE</a:t>
            </a:r>
            <a:endParaRPr lang="en-US" sz="1800" dirty="0">
              <a:latin typeface="Barlow" panose="00000500000000000000" pitchFamily="2" charset="0"/>
            </a:endParaRPr>
          </a:p>
        </p:txBody>
      </p:sp>
      <p:sp>
        <p:nvSpPr>
          <p:cNvPr id="4" name="Text 2"/>
          <p:cNvSpPr/>
          <p:nvPr/>
        </p:nvSpPr>
        <p:spPr>
          <a:xfrm>
            <a:off x="16441460" y="762000"/>
            <a:ext cx="874990" cy="3848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468" dirty="0">
                <a:solidFill>
                  <a:srgbClr val="1B2A4A"/>
                </a:solidFill>
                <a:latin typeface="Barlow" panose="00000500000000000000" pitchFamily="2" charset="0"/>
                <a:ea typeface="Barlow" pitchFamily="34" charset="-122"/>
                <a:cs typeface="Barlow" pitchFamily="34" charset="-120"/>
              </a:rPr>
              <a:t>LIET</a:t>
            </a:r>
            <a:endParaRPr lang="en-US" sz="1950" dirty="0">
              <a:latin typeface="Barlow" panose="00000500000000000000" pitchFamily="2" charset="0"/>
            </a:endParaRPr>
          </a:p>
        </p:txBody>
      </p:sp>
      <p:sp>
        <p:nvSpPr>
          <p:cNvPr id="5" name="Text 3"/>
          <p:cNvSpPr/>
          <p:nvPr/>
        </p:nvSpPr>
        <p:spPr>
          <a:xfrm>
            <a:off x="1047750" y="1687830"/>
            <a:ext cx="166782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02 · THE COMPLIANCE LAYER</a:t>
            </a:r>
            <a:endParaRPr lang="en-US" sz="1800" dirty="0">
              <a:latin typeface="Barlow" panose="00000500000000000000" pitchFamily="2" charset="0"/>
            </a:endParaRPr>
          </a:p>
        </p:txBody>
      </p:sp>
      <p:sp>
        <p:nvSpPr>
          <p:cNvPr id="6" name="Text 4"/>
          <p:cNvSpPr/>
          <p:nvPr/>
        </p:nvSpPr>
        <p:spPr>
          <a:xfrm>
            <a:off x="1047750" y="2236470"/>
            <a:ext cx="15697200" cy="65532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500" kern="0" spc="-81" dirty="0">
                <a:solidFill>
                  <a:srgbClr val="1B2A4A"/>
                </a:solidFill>
                <a:latin typeface="Barlow" panose="00000500000000000000" pitchFamily="2" charset="0"/>
                <a:ea typeface="Barlow" pitchFamily="34" charset="-122"/>
                <a:cs typeface="Barlow" pitchFamily="34" charset="-120"/>
              </a:rPr>
              <a:t>The CNS mandate is </a:t>
            </a:r>
            <a:r>
              <a:rPr lang="en-US" sz="4500" i="1" kern="0" spc="-81" dirty="0">
                <a:solidFill>
                  <a:srgbClr val="B87A4B"/>
                </a:solidFill>
                <a:latin typeface="Barlow" panose="00000500000000000000" pitchFamily="2" charset="0"/>
                <a:ea typeface="Barlow" pitchFamily="34" charset="-122"/>
                <a:cs typeface="Barlow" pitchFamily="34" charset="-120"/>
              </a:rPr>
              <a:t>already live </a:t>
            </a:r>
            <a:r>
              <a:rPr lang="en-US" sz="4500" kern="0" spc="-81" dirty="0">
                <a:solidFill>
                  <a:srgbClr val="1B2A4A"/>
                </a:solidFill>
                <a:latin typeface="Barlow" panose="00000500000000000000" pitchFamily="2" charset="0"/>
                <a:ea typeface="Barlow" pitchFamily="34" charset="-122"/>
                <a:cs typeface="Barlow" pitchFamily="34" charset="-120"/>
              </a:rPr>
              <a:t>— and it is the wedge.</a:t>
            </a:r>
            <a:endParaRPr lang="en-US" sz="4500" dirty="0">
              <a:latin typeface="Barlow" panose="00000500000000000000" pitchFamily="2" charset="0"/>
            </a:endParaRPr>
          </a:p>
        </p:txBody>
      </p:sp>
      <p:sp>
        <p:nvSpPr>
          <p:cNvPr id="7" name="Shape 5"/>
          <p:cNvSpPr/>
          <p:nvPr/>
        </p:nvSpPr>
        <p:spPr>
          <a:xfrm>
            <a:off x="1047750" y="3310890"/>
            <a:ext cx="10388560" cy="1543050"/>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8" name="Text 6"/>
          <p:cNvSpPr/>
          <p:nvPr/>
        </p:nvSpPr>
        <p:spPr>
          <a:xfrm>
            <a:off x="1341120" y="3528060"/>
            <a:ext cx="10095875"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01 JULY 2025 · ACTIVE</a:t>
            </a:r>
            <a:endParaRPr lang="en-US" sz="1800" dirty="0">
              <a:latin typeface="Barlow" panose="00000500000000000000" pitchFamily="2" charset="0"/>
            </a:endParaRPr>
          </a:p>
        </p:txBody>
      </p:sp>
      <p:sp>
        <p:nvSpPr>
          <p:cNvPr id="9" name="Text 7"/>
          <p:cNvSpPr/>
          <p:nvPr/>
        </p:nvSpPr>
        <p:spPr>
          <a:xfrm>
            <a:off x="1341120" y="3943350"/>
            <a:ext cx="10095875" cy="73152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kern="0" spc="-11" dirty="0">
                <a:solidFill>
                  <a:srgbClr val="2E3F5F"/>
                </a:solidFill>
                <a:latin typeface="Barlow" panose="00000500000000000000" pitchFamily="2" charset="0"/>
                <a:ea typeface="Barlow" pitchFamily="34" charset="-122"/>
                <a:cs typeface="Barlow" pitchFamily="34" charset="-120"/>
              </a:rPr>
              <a:t>Doctors are </a:t>
            </a:r>
            <a:r>
              <a:rPr lang="en-US" sz="1800" b="1" kern="0" spc="-11" dirty="0">
                <a:solidFill>
                  <a:srgbClr val="1B2A4A"/>
                </a:solidFill>
                <a:latin typeface="Barlow" panose="00000500000000000000" pitchFamily="2" charset="0"/>
                <a:ea typeface="Barlow" pitchFamily="34" charset="-122"/>
                <a:cs typeface="Barlow" pitchFamily="34" charset="-120"/>
              </a:rPr>
              <a:t>required </a:t>
            </a:r>
            <a:r>
              <a:rPr lang="en-US" sz="1800" kern="0" spc="-11" dirty="0">
                <a:solidFill>
                  <a:srgbClr val="2E3F5F"/>
                </a:solidFill>
                <a:latin typeface="Barlow" panose="00000500000000000000" pitchFamily="2" charset="0"/>
                <a:ea typeface="Barlow" pitchFamily="34" charset="-122"/>
                <a:cs typeface="Barlow" pitchFamily="34" charset="-120"/>
              </a:rPr>
              <a:t>to adopt standardized digital forms for communication with CNS — submitting structured data through the national health data exchange. </a:t>
            </a:r>
            <a:r>
              <a:rPr lang="en-US" sz="1800" b="1" kern="0" spc="-11" baseline="30000" dirty="0">
                <a:solidFill>
                  <a:srgbClr val="B87A4B"/>
                </a:solidFill>
                <a:latin typeface="Barlow" panose="00000500000000000000" pitchFamily="2" charset="0"/>
                <a:ea typeface="Barlow" pitchFamily="34" charset="-122"/>
                <a:cs typeface="Barlow" pitchFamily="34" charset="-120"/>
              </a:rPr>
              <a:t>7</a:t>
            </a:r>
            <a:endParaRPr lang="en-US" sz="1800" dirty="0">
              <a:latin typeface="Barlow" panose="00000500000000000000" pitchFamily="2" charset="0"/>
            </a:endParaRPr>
          </a:p>
        </p:txBody>
      </p:sp>
      <p:sp>
        <p:nvSpPr>
          <p:cNvPr id="10" name="Shape 8"/>
          <p:cNvSpPr/>
          <p:nvPr/>
        </p:nvSpPr>
        <p:spPr>
          <a:xfrm>
            <a:off x="1047750" y="5025390"/>
            <a:ext cx="10388560" cy="1211580"/>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1" name="Text 9"/>
          <p:cNvSpPr/>
          <p:nvPr/>
        </p:nvSpPr>
        <p:spPr>
          <a:xfrm>
            <a:off x="1341120" y="5242560"/>
            <a:ext cx="10095875"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OCTOBER 2024 · IN PRODUCTION</a:t>
            </a:r>
            <a:endParaRPr lang="en-US" sz="1800" dirty="0">
              <a:latin typeface="Barlow" panose="00000500000000000000" pitchFamily="2" charset="0"/>
            </a:endParaRPr>
          </a:p>
        </p:txBody>
      </p:sp>
      <p:sp>
        <p:nvSpPr>
          <p:cNvPr id="12" name="Text 10"/>
          <p:cNvSpPr/>
          <p:nvPr/>
        </p:nvSpPr>
        <p:spPr>
          <a:xfrm>
            <a:off x="1341120" y="5657850"/>
            <a:ext cx="10095875" cy="400050"/>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1" dirty="0">
                <a:solidFill>
                  <a:srgbClr val="2E3F5F"/>
                </a:solidFill>
                <a:latin typeface="Barlow" panose="00000500000000000000" pitchFamily="2" charset="0"/>
                <a:ea typeface="Barlow" pitchFamily="34" charset="-122"/>
                <a:cs typeface="Barlow" pitchFamily="34" charset="-120"/>
              </a:rPr>
              <a:t>CNS integrated the Digital Health Network (DHN) app in partnership with AMMD.</a:t>
            </a:r>
            <a:r>
              <a:rPr lang="en-US" sz="1800" b="1" kern="0" spc="-11" baseline="30000" dirty="0">
                <a:solidFill>
                  <a:srgbClr val="B87A4B"/>
                </a:solidFill>
                <a:latin typeface="Barlow" panose="00000500000000000000" pitchFamily="2" charset="0"/>
                <a:ea typeface="Barlow" pitchFamily="34" charset="-122"/>
                <a:cs typeface="Barlow" pitchFamily="34" charset="-120"/>
              </a:rPr>
              <a:t>7</a:t>
            </a:r>
            <a:endParaRPr lang="en-US" sz="1800" dirty="0">
              <a:latin typeface="Barlow" panose="00000500000000000000" pitchFamily="2" charset="0"/>
            </a:endParaRPr>
          </a:p>
        </p:txBody>
      </p:sp>
      <p:sp>
        <p:nvSpPr>
          <p:cNvPr id="13" name="Shape 11"/>
          <p:cNvSpPr/>
          <p:nvPr/>
        </p:nvSpPr>
        <p:spPr>
          <a:xfrm>
            <a:off x="1047750" y="6408420"/>
            <a:ext cx="10388560" cy="1543050"/>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4" name="Text 12"/>
          <p:cNvSpPr/>
          <p:nvPr/>
        </p:nvSpPr>
        <p:spPr>
          <a:xfrm>
            <a:off x="1341120" y="6625590"/>
            <a:ext cx="10095875"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26 MARCH 2027 · DEADLINE</a:t>
            </a:r>
            <a:endParaRPr lang="en-US" sz="1800" dirty="0">
              <a:latin typeface="Barlow" panose="00000500000000000000" pitchFamily="2" charset="0"/>
            </a:endParaRPr>
          </a:p>
        </p:txBody>
      </p:sp>
      <p:sp>
        <p:nvSpPr>
          <p:cNvPr id="15" name="Text 13"/>
          <p:cNvSpPr/>
          <p:nvPr/>
        </p:nvSpPr>
        <p:spPr>
          <a:xfrm>
            <a:off x="1341120" y="7040880"/>
            <a:ext cx="10095875" cy="73152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kern="0" spc="-11" dirty="0">
                <a:solidFill>
                  <a:srgbClr val="2E3F5F"/>
                </a:solidFill>
                <a:latin typeface="Barlow" panose="00000500000000000000" pitchFamily="2" charset="0"/>
                <a:ea typeface="Barlow" pitchFamily="34" charset="-122"/>
                <a:cs typeface="Barlow" pitchFamily="34" charset="-120"/>
              </a:rPr>
              <a:t>EHDS Regulation (EU) 2025/327 obliges Luxembourg to designate a Health Data Access Body. Cross-border exchange operational by March 2029. </a:t>
            </a:r>
            <a:r>
              <a:rPr lang="en-US" sz="1800" b="1" kern="0" spc="-11" baseline="30000" dirty="0">
                <a:solidFill>
                  <a:srgbClr val="B87A4B"/>
                </a:solidFill>
                <a:latin typeface="Barlow" panose="00000500000000000000" pitchFamily="2" charset="0"/>
                <a:ea typeface="Barlow" pitchFamily="34" charset="-122"/>
                <a:cs typeface="Barlow" pitchFamily="34" charset="-120"/>
              </a:rPr>
              <a:t>8</a:t>
            </a:r>
            <a:endParaRPr lang="en-US" sz="1800" dirty="0">
              <a:latin typeface="Barlow" panose="00000500000000000000" pitchFamily="2" charset="0"/>
            </a:endParaRPr>
          </a:p>
        </p:txBody>
      </p:sp>
      <p:sp>
        <p:nvSpPr>
          <p:cNvPr id="16" name="Shape 14"/>
          <p:cNvSpPr/>
          <p:nvPr/>
        </p:nvSpPr>
        <p:spPr>
          <a:xfrm>
            <a:off x="12045910" y="3310890"/>
            <a:ext cx="5194340" cy="6290310"/>
          </a:xfrm>
          <a:prstGeom prst="rect">
            <a:avLst/>
          </a:prstGeom>
          <a:solidFill>
            <a:srgbClr val="1B2A4A"/>
          </a:solidFill>
          <a:ln w="7620">
            <a:solidFill>
              <a:srgbClr val="2E3F5F"/>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7" name="Text 15"/>
          <p:cNvSpPr/>
          <p:nvPr/>
        </p:nvSpPr>
        <p:spPr>
          <a:xfrm>
            <a:off x="12434531" y="3661410"/>
            <a:ext cx="4549613"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WHAT THIS MEANS FOR US</a:t>
            </a:r>
            <a:endParaRPr lang="en-US" sz="1800" dirty="0">
              <a:latin typeface="Barlow" panose="00000500000000000000" pitchFamily="2" charset="0"/>
            </a:endParaRPr>
          </a:p>
        </p:txBody>
      </p:sp>
      <p:sp>
        <p:nvSpPr>
          <p:cNvPr id="18" name="Text 16"/>
          <p:cNvSpPr/>
          <p:nvPr/>
        </p:nvSpPr>
        <p:spPr>
          <a:xfrm>
            <a:off x="12434531" y="4133850"/>
            <a:ext cx="4549613" cy="2062162"/>
          </a:xfrm>
          <a:prstGeom prst="rect">
            <a:avLst/>
          </a:prstGeom>
          <a:noFill/>
          <a:ln/>
        </p:spPr>
        <p:txBody>
          <a:bodyPr wrap="square" lIns="25400" tIns="25400" rIns="25400" bIns="25400" rtlCol="0" anchor="t">
            <a:normAutofit fontScale="92500"/>
          </a:bodyPr>
          <a:lstStyle/>
          <a:p>
            <a:pPr marL="0" indent="0" algn="l">
              <a:lnSpc>
                <a:spcPct val="125000"/>
              </a:lnSpc>
              <a:buNone/>
            </a:pPr>
            <a:r>
              <a:rPr lang="en-US" sz="2550" kern="0" spc="-11" dirty="0">
                <a:solidFill>
                  <a:srgbClr val="F5F2E8"/>
                </a:solidFill>
                <a:latin typeface="Barlow" panose="00000500000000000000" pitchFamily="2" charset="0"/>
                <a:ea typeface="Barlow" pitchFamily="34" charset="-122"/>
                <a:cs typeface="Barlow" pitchFamily="34" charset="-120"/>
              </a:rPr>
              <a:t>LIET produces FHIR R4 structured output </a:t>
            </a:r>
            <a:r>
              <a:rPr lang="en-US" sz="2550" i="1" kern="0" spc="-11" dirty="0">
                <a:solidFill>
                  <a:srgbClr val="B87A4B"/>
                </a:solidFill>
                <a:latin typeface="Barlow" panose="00000500000000000000" pitchFamily="2" charset="0"/>
                <a:ea typeface="Barlow" pitchFamily="34" charset="-122"/>
                <a:cs typeface="Barlow" pitchFamily="34" charset="-120"/>
              </a:rPr>
              <a:t>from a normal voice consultation </a:t>
            </a:r>
            <a:r>
              <a:rPr lang="en-US" sz="2550" kern="0" spc="-11" dirty="0">
                <a:solidFill>
                  <a:srgbClr val="F5F2E8"/>
                </a:solidFill>
                <a:latin typeface="Barlow" panose="00000500000000000000" pitchFamily="2" charset="0"/>
                <a:ea typeface="Barlow" pitchFamily="34" charset="-122"/>
                <a:cs typeface="Barlow" pitchFamily="34" charset="-120"/>
              </a:rPr>
              <a:t>, natively aligned with the national mandate.</a:t>
            </a:r>
            <a:endParaRPr lang="en-US" sz="2550" dirty="0">
              <a:latin typeface="Barlow" panose="00000500000000000000" pitchFamily="2" charset="0"/>
            </a:endParaRPr>
          </a:p>
        </p:txBody>
      </p:sp>
      <p:sp>
        <p:nvSpPr>
          <p:cNvPr id="19" name="Text 17"/>
          <p:cNvSpPr/>
          <p:nvPr/>
        </p:nvSpPr>
        <p:spPr>
          <a:xfrm>
            <a:off x="12434531" y="6462713"/>
            <a:ext cx="4549613" cy="1198245"/>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kern="0" spc="-11" dirty="0">
                <a:solidFill>
                  <a:srgbClr val="F5F2E8">
                    <a:alpha val="80000"/>
                  </a:srgbClr>
                </a:solidFill>
                <a:latin typeface="Barlow" panose="00000500000000000000" pitchFamily="2" charset="0"/>
                <a:ea typeface="Barlow" pitchFamily="34" charset="-122"/>
                <a:cs typeface="Barlow" pitchFamily="34" charset="-120"/>
              </a:rPr>
              <a:t>We are not asking doctors to do more work. We are </a:t>
            </a:r>
            <a:r>
              <a:rPr lang="en-US" sz="2100" b="1" kern="0" spc="-11" dirty="0">
                <a:solidFill>
                  <a:srgbClr val="B87A4B"/>
                </a:solidFill>
                <a:latin typeface="Barlow" panose="00000500000000000000" pitchFamily="2" charset="0"/>
                <a:ea typeface="Barlow" pitchFamily="34" charset="-122"/>
                <a:cs typeface="Barlow" pitchFamily="34" charset="-120"/>
              </a:rPr>
              <a:t>automating work they are already mandated to do.</a:t>
            </a:r>
            <a:endParaRPr lang="en-US" sz="2100" dirty="0">
              <a:latin typeface="Barlow" panose="00000500000000000000" pitchFamily="2" charset="0"/>
            </a:endParaRPr>
          </a:p>
        </p:txBody>
      </p:sp>
      <p:sp>
        <p:nvSpPr>
          <p:cNvPr id="20" name="Shape 18"/>
          <p:cNvSpPr/>
          <p:nvPr/>
        </p:nvSpPr>
        <p:spPr>
          <a:xfrm>
            <a:off x="1047750" y="9502140"/>
            <a:ext cx="16192500" cy="9525"/>
          </a:xfrm>
          <a:prstGeom prst="rect">
            <a:avLst/>
          </a:prstGeom>
          <a:solidFill>
            <a:srgbClr val="E1DBCB"/>
          </a:solidFill>
          <a:ln/>
        </p:spPr>
        <p:txBody>
          <a:bodyPr/>
          <a:lstStyle/>
          <a:p>
            <a:endParaRPr lang="en-US">
              <a:latin typeface="Barlow" panose="00000500000000000000" pitchFamily="2" charset="0"/>
            </a:endParaRPr>
          </a:p>
        </p:txBody>
      </p:sp>
      <p:sp>
        <p:nvSpPr>
          <p:cNvPr id="21" name="Text 19"/>
          <p:cNvSpPr/>
          <p:nvPr/>
        </p:nvSpPr>
        <p:spPr>
          <a:xfrm>
            <a:off x="1047750" y="9643110"/>
            <a:ext cx="6322906"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7 </a:t>
            </a:r>
            <a:r>
              <a:rPr lang="en-US" sz="1800" kern="0" spc="18" dirty="0">
                <a:solidFill>
                  <a:srgbClr val="8899BB"/>
                </a:solidFill>
                <a:latin typeface="Barlow" panose="00000500000000000000" pitchFamily="2" charset="0"/>
                <a:ea typeface="Barlow" pitchFamily="34" charset="-122"/>
                <a:cs typeface="Barlow" pitchFamily="34" charset="-120"/>
              </a:rPr>
              <a:t>WHO European Observatory HSPM — Luxembourg 2025</a:t>
            </a:r>
            <a:endParaRPr lang="en-US" sz="1800" dirty="0">
              <a:latin typeface="Barlow" panose="00000500000000000000" pitchFamily="2" charset="0"/>
            </a:endParaRPr>
          </a:p>
        </p:txBody>
      </p:sp>
      <p:sp>
        <p:nvSpPr>
          <p:cNvPr id="22" name="Text 20"/>
          <p:cNvSpPr/>
          <p:nvPr/>
        </p:nvSpPr>
        <p:spPr>
          <a:xfrm>
            <a:off x="7453193" y="9643110"/>
            <a:ext cx="6510414"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8 </a:t>
            </a:r>
            <a:r>
              <a:rPr lang="en-US" sz="1800" kern="0" spc="18" dirty="0">
                <a:solidFill>
                  <a:srgbClr val="8899BB"/>
                </a:solidFill>
                <a:latin typeface="Barlow" panose="00000500000000000000" pitchFamily="2" charset="0"/>
                <a:ea typeface="Barlow" pitchFamily="34" charset="-122"/>
                <a:cs typeface="Barlow" pitchFamily="34" charset="-120"/>
              </a:rPr>
              <a:t>European Commission — EHDS Regulation (EU) 2025/327</a:t>
            </a:r>
            <a:endParaRPr lang="en-US" sz="1800" dirty="0">
              <a:latin typeface="Barlow" panose="00000500000000000000" pitchFamily="2" charset="0"/>
            </a:endParaRPr>
          </a:p>
        </p:txBody>
      </p:sp>
      <p:sp>
        <p:nvSpPr>
          <p:cNvPr id="23" name="Text 21"/>
          <p:cNvSpPr/>
          <p:nvPr/>
        </p:nvSpPr>
        <p:spPr>
          <a:xfrm>
            <a:off x="16511231" y="9624060"/>
            <a:ext cx="80522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800" dirty="0">
              <a:latin typeface="Barlow" panose="00000500000000000000"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4DFD3"/>
        </a:solidFill>
        <a:effectLst/>
      </p:bgPr>
    </p:bg>
    <p:spTree>
      <p:nvGrpSpPr>
        <p:cNvPr id="1" name=""/>
        <p:cNvGrpSpPr/>
        <p:nvPr/>
      </p:nvGrpSpPr>
      <p:grpSpPr>
        <a:xfrm>
          <a:off x="0" y="0"/>
          <a:ext cx="0" cy="0"/>
          <a:chOff x="0" y="0"/>
          <a:chExt cx="0" cy="0"/>
        </a:xfrm>
      </p:grpSpPr>
      <p:sp>
        <p:nvSpPr>
          <p:cNvPr id="2" name="Shape 0"/>
          <p:cNvSpPr/>
          <p:nvPr/>
        </p:nvSpPr>
        <p:spPr>
          <a:xfrm>
            <a:off x="1047750" y="126111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3" name="Text 1"/>
          <p:cNvSpPr/>
          <p:nvPr/>
        </p:nvSpPr>
        <p:spPr>
          <a:xfrm>
            <a:off x="1047750" y="775335"/>
            <a:ext cx="1287780"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THESIS</a:t>
            </a:r>
            <a:endParaRPr lang="en-US" sz="1800" dirty="0">
              <a:latin typeface="Barlow" panose="00000500000000000000" pitchFamily="2" charset="0"/>
            </a:endParaRPr>
          </a:p>
        </p:txBody>
      </p:sp>
      <p:sp>
        <p:nvSpPr>
          <p:cNvPr id="4" name="Text 2"/>
          <p:cNvSpPr/>
          <p:nvPr/>
        </p:nvSpPr>
        <p:spPr>
          <a:xfrm>
            <a:off x="16441460" y="762000"/>
            <a:ext cx="874990" cy="3848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468" dirty="0">
                <a:solidFill>
                  <a:srgbClr val="1B2A4A"/>
                </a:solidFill>
                <a:latin typeface="Barlow" panose="00000500000000000000" pitchFamily="2" charset="0"/>
                <a:ea typeface="Barlow" pitchFamily="34" charset="-122"/>
                <a:cs typeface="Barlow" pitchFamily="34" charset="-120"/>
              </a:rPr>
              <a:t>LIET</a:t>
            </a:r>
            <a:endParaRPr lang="en-US" sz="1950" dirty="0">
              <a:latin typeface="Barlow" panose="00000500000000000000" pitchFamily="2" charset="0"/>
            </a:endParaRPr>
          </a:p>
        </p:txBody>
      </p:sp>
      <p:sp>
        <p:nvSpPr>
          <p:cNvPr id="5" name="Text 3"/>
          <p:cNvSpPr/>
          <p:nvPr/>
        </p:nvSpPr>
        <p:spPr>
          <a:xfrm>
            <a:off x="1047750" y="1387999"/>
            <a:ext cx="166782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03 · WHAT WE BELIEVE</a:t>
            </a:r>
            <a:endParaRPr lang="en-US" sz="1800" dirty="0">
              <a:latin typeface="Barlow" panose="00000500000000000000" pitchFamily="2" charset="0"/>
            </a:endParaRPr>
          </a:p>
        </p:txBody>
      </p:sp>
      <p:sp>
        <p:nvSpPr>
          <p:cNvPr id="6" name="Text 4"/>
          <p:cNvSpPr/>
          <p:nvPr/>
        </p:nvSpPr>
        <p:spPr>
          <a:xfrm>
            <a:off x="1047750" y="2259677"/>
            <a:ext cx="15697200" cy="3400000"/>
          </a:xfrm>
          <a:prstGeom prst="rect">
            <a:avLst/>
          </a:prstGeom>
          <a:noFill/>
          <a:ln/>
        </p:spPr>
        <p:txBody>
          <a:bodyPr wrap="square" lIns="25400" tIns="25400" rIns="25400" bIns="25400" rtlCol="0" anchor="t">
            <a:normAutofit fontScale="92500"/>
          </a:bodyPr>
          <a:lstStyle/>
          <a:p>
            <a:pPr marL="0" indent="0" algn="l">
              <a:lnSpc>
                <a:spcPct val="105000"/>
              </a:lnSpc>
              <a:buNone/>
            </a:pPr>
            <a:r>
              <a:rPr lang="en-US" sz="6600" kern="0" spc="-145" dirty="0">
                <a:solidFill>
                  <a:srgbClr val="1B2A4A"/>
                </a:solidFill>
                <a:latin typeface="Barlow" panose="00000500000000000000" pitchFamily="2" charset="0"/>
                <a:ea typeface="Barlow" pitchFamily="34" charset="-122"/>
                <a:cs typeface="Barlow" pitchFamily="34" charset="-120"/>
              </a:rPr>
              <a:t>LIET captures the </a:t>
            </a:r>
            <a:r>
              <a:rPr lang="en-US" sz="6600" i="1" kern="0" spc="-145" dirty="0">
                <a:solidFill>
                  <a:srgbClr val="B87A4B"/>
                </a:solidFill>
                <a:latin typeface="Barlow" panose="00000500000000000000" pitchFamily="2" charset="0"/>
                <a:ea typeface="Barlow" pitchFamily="34" charset="-122"/>
                <a:cs typeface="Barlow" pitchFamily="34" charset="-120"/>
              </a:rPr>
              <a:t>clinical content </a:t>
            </a:r>
            <a:r>
              <a:rPr lang="en-US" sz="6600" kern="0" spc="-145" dirty="0">
                <a:solidFill>
                  <a:srgbClr val="1B2A4A"/>
                </a:solidFill>
                <a:latin typeface="Barlow" panose="00000500000000000000" pitchFamily="2" charset="0"/>
                <a:ea typeface="Barlow" pitchFamily="34" charset="-122"/>
                <a:cs typeface="Barlow" pitchFamily="34" charset="-120"/>
              </a:rPr>
              <a:t>that current EHRs lose — turning voice consultations into </a:t>
            </a:r>
            <a:r>
              <a:rPr lang="en-US" sz="6600" i="1" kern="0" spc="-145" dirty="0">
                <a:solidFill>
                  <a:srgbClr val="B87A4B"/>
                </a:solidFill>
                <a:latin typeface="Barlow" panose="00000500000000000000" pitchFamily="2" charset="0"/>
                <a:ea typeface="Barlow" pitchFamily="34" charset="-122"/>
                <a:cs typeface="Barlow" pitchFamily="34" charset="-120"/>
              </a:rPr>
              <a:t>structured longitudinal data </a:t>
            </a:r>
            <a:r>
              <a:rPr lang="en-US" sz="6600" kern="0" spc="-145" dirty="0">
                <a:solidFill>
                  <a:srgbClr val="1B2A4A"/>
                </a:solidFill>
                <a:latin typeface="Barlow" panose="00000500000000000000" pitchFamily="2" charset="0"/>
                <a:ea typeface="Barlow" pitchFamily="34" charset="-122"/>
                <a:cs typeface="Barlow" pitchFamily="34" charset="-120"/>
              </a:rPr>
              <a:t>nobody else owns.</a:t>
            </a:r>
            <a:endParaRPr lang="en-US" sz="6600" dirty="0">
              <a:latin typeface="Barlow" panose="00000500000000000000" pitchFamily="2" charset="0"/>
            </a:endParaRPr>
          </a:p>
        </p:txBody>
      </p:sp>
      <p:sp>
        <p:nvSpPr>
          <p:cNvPr id="11" name="Text Berdahl"/>
          <p:cNvSpPr/>
          <p:nvPr/>
        </p:nvSpPr>
        <p:spPr>
          <a:xfrm>
            <a:off x="1047750" y="5860473"/>
            <a:ext cx="15697200" cy="2239527"/>
          </a:xfrm>
          <a:prstGeom prst="rect">
            <a:avLst/>
          </a:prstGeom>
          <a:noFill/>
          <a:ln/>
        </p:spPr>
        <p:txBody>
          <a:bodyPr wrap="square" lIns="25400" tIns="25400" rIns="25400" bIns="25400" rtlCol="0" anchor="t">
            <a:normAutofit/>
          </a:bodyPr>
          <a:lstStyle/>
          <a:p>
            <a:pPr marL="0" indent="0" algn="l">
              <a:lnSpc>
                <a:spcPct val="140000"/>
              </a:lnSpc>
              <a:spcAft>
                <a:spcPts val="400"/>
              </a:spcAft>
              <a:buNone/>
            </a:pPr>
            <a:r>
              <a:rPr lang="en-US" sz="1400" b="1" kern="0" spc="288" dirty="0">
                <a:solidFill>
                  <a:srgbClr val="B87A4B"/>
                </a:solidFill>
                <a:latin typeface="Barlow" panose="00000500000000000000" pitchFamily="2" charset="0"/>
                <a:ea typeface="Barlow" pitchFamily="34" charset="-122"/>
                <a:cs typeface="Barlow" pitchFamily="34" charset="-120"/>
              </a:rPr>
              <a:t>THE GAP IS DOCUMENTED</a:t>
            </a:r>
            <a:endParaRPr lang="en-US" sz="1400" dirty="0">
              <a:latin typeface="Barlow" panose="00000500000000000000" pitchFamily="2" charset="0"/>
            </a:endParaRPr>
          </a:p>
          <a:p>
            <a:pPr marL="0" indent="0" algn="l">
              <a:lnSpc>
                <a:spcPct val="120000"/>
              </a:lnSpc>
              <a:spcAft>
                <a:spcPts val="400"/>
              </a:spcAft>
              <a:buNone/>
            </a:pPr>
            <a:r>
              <a:rPr lang="en-US" sz="1800" kern="0" spc="-11" dirty="0">
                <a:solidFill>
                  <a:srgbClr val="1B2A4A"/>
                </a:solidFill>
                <a:latin typeface="Barlow" panose="00000500000000000000" pitchFamily="2" charset="0"/>
                <a:ea typeface="Barlow" pitchFamily="34" charset="-122"/>
                <a:cs typeface="Barlow" pitchFamily="34" charset="-120"/>
              </a:rPr>
              <a:t>Only 38% of documented Review of Systems and 53% of documented Physical Exam findings in the EHR were confirmed by direct observation of the actual encounter.</a:t>
            </a:r>
          </a:p>
          <a:p>
            <a:pPr marL="0" indent="0" algn="l">
              <a:lnSpc>
                <a:spcPct val="120000"/>
              </a:lnSpc>
              <a:spcAft>
                <a:spcPts val="400"/>
              </a:spcAft>
              <a:buNone/>
            </a:pPr>
            <a:endParaRPr lang="en-US" sz="1800" dirty="0">
              <a:latin typeface="Barlow" panose="00000500000000000000" pitchFamily="2" charset="0"/>
            </a:endParaRPr>
          </a:p>
          <a:p>
            <a:pPr marL="0" indent="0" algn="l">
              <a:lnSpc>
                <a:spcPct val="130000"/>
              </a:lnSpc>
              <a:buNone/>
            </a:pPr>
            <a:r>
              <a:rPr lang="en-US" sz="1200" i="1" kern="0" spc="-5" dirty="0">
                <a:solidFill>
                  <a:srgbClr val="556688"/>
                </a:solidFill>
                <a:latin typeface="Barlow" panose="00000500000000000000" pitchFamily="2" charset="0"/>
                <a:ea typeface="Barlow" pitchFamily="34" charset="-122"/>
                <a:cs typeface="Barlow" pitchFamily="34" charset="-120"/>
              </a:rPr>
              <a:t>Berdahl CT et al., JAMA Network Open, 2019 — 180 emergency encounters, interrater reliability &gt;90%.</a:t>
            </a:r>
            <a:endParaRPr lang="en-US" sz="1200" dirty="0">
              <a:latin typeface="Barlow" panose="00000500000000000000" pitchFamily="2" charset="0"/>
            </a:endParaRPr>
          </a:p>
        </p:txBody>
      </p:sp>
      <p:sp>
        <p:nvSpPr>
          <p:cNvPr id="7" name="Shape 5"/>
          <p:cNvSpPr/>
          <p:nvPr/>
        </p:nvSpPr>
        <p:spPr>
          <a:xfrm>
            <a:off x="1047750" y="820293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8" name="Text 6"/>
          <p:cNvSpPr/>
          <p:nvPr/>
        </p:nvSpPr>
        <p:spPr>
          <a:xfrm>
            <a:off x="1047750" y="8820150"/>
            <a:ext cx="7141613" cy="922020"/>
          </a:xfrm>
          <a:prstGeom prst="rect">
            <a:avLst/>
          </a:prstGeom>
          <a:noFill/>
          <a:ln/>
        </p:spPr>
        <p:txBody>
          <a:bodyPr wrap="square" lIns="25400" tIns="25400" rIns="25400" bIns="25400" rtlCol="0" anchor="t">
            <a:normAutofit/>
          </a:bodyPr>
          <a:lstStyle/>
          <a:p>
            <a:pPr marL="0" indent="0" algn="l">
              <a:lnSpc>
                <a:spcPct val="145000"/>
              </a:lnSpc>
              <a:buNone/>
            </a:pPr>
            <a:r>
              <a:rPr lang="en-US" sz="2400" i="1" kern="0" spc="-11" dirty="0">
                <a:solidFill>
                  <a:srgbClr val="556688"/>
                </a:solidFill>
                <a:latin typeface="Barlow" panose="00000500000000000000" pitchFamily="2" charset="0"/>
                <a:ea typeface="Barlow" pitchFamily="34" charset="-122"/>
                <a:cs typeface="Barlow" pitchFamily="34" charset="-120"/>
              </a:rPr>
              <a:t>The scribe is the entry point. The record is the product.</a:t>
            </a:r>
            <a:endParaRPr lang="en-US" sz="2400" dirty="0">
              <a:latin typeface="Barlow" panose="00000500000000000000" pitchFamily="2" charset="0"/>
            </a:endParaRPr>
          </a:p>
        </p:txBody>
      </p:sp>
      <p:sp>
        <p:nvSpPr>
          <p:cNvPr id="9" name="Text 7"/>
          <p:cNvSpPr/>
          <p:nvPr/>
        </p:nvSpPr>
        <p:spPr>
          <a:xfrm>
            <a:off x="7981355" y="8911590"/>
            <a:ext cx="9536662"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EVERY CONSULTATION · SCHEMA-COMPLIANT · AUDIT-LOGGED</a:t>
            </a:r>
            <a:endParaRPr lang="en-US" sz="1800" dirty="0">
              <a:latin typeface="Barlow" panose="00000500000000000000" pitchFamily="2" charset="0"/>
            </a:endParaRPr>
          </a:p>
        </p:txBody>
      </p:sp>
      <p:sp>
        <p:nvSpPr>
          <p:cNvPr id="10" name="Text 8"/>
          <p:cNvSpPr/>
          <p:nvPr/>
        </p:nvSpPr>
        <p:spPr>
          <a:xfrm>
            <a:off x="16508254" y="9624060"/>
            <a:ext cx="808196"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800" dirty="0">
              <a:latin typeface="Barlow" panose="00000500000000000000"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EDE9E1"/>
        </a:solidFill>
        <a:effectLst/>
      </p:bgPr>
    </p:bg>
    <p:spTree>
      <p:nvGrpSpPr>
        <p:cNvPr id="1" name=""/>
        <p:cNvGrpSpPr/>
        <p:nvPr/>
      </p:nvGrpSpPr>
      <p:grpSpPr>
        <a:xfrm>
          <a:off x="0" y="0"/>
          <a:ext cx="0" cy="0"/>
          <a:chOff x="0" y="0"/>
          <a:chExt cx="0" cy="0"/>
        </a:xfrm>
      </p:grpSpPr>
      <p:sp>
        <p:nvSpPr>
          <p:cNvPr id="2" name="Shape 0"/>
          <p:cNvSpPr/>
          <p:nvPr/>
        </p:nvSpPr>
        <p:spPr>
          <a:xfrm>
            <a:off x="1047750" y="126111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3" name="Text 1"/>
          <p:cNvSpPr/>
          <p:nvPr/>
        </p:nvSpPr>
        <p:spPr>
          <a:xfrm>
            <a:off x="1047750" y="775335"/>
            <a:ext cx="566043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CASE TWO · PATTERN ACROSS VISITS</a:t>
            </a:r>
            <a:endParaRPr lang="en-US" sz="1800" dirty="0">
              <a:latin typeface="Barlow" panose="00000500000000000000" pitchFamily="2" charset="0"/>
            </a:endParaRPr>
          </a:p>
        </p:txBody>
      </p:sp>
      <p:sp>
        <p:nvSpPr>
          <p:cNvPr id="4" name="Text 2"/>
          <p:cNvSpPr/>
          <p:nvPr/>
        </p:nvSpPr>
        <p:spPr>
          <a:xfrm>
            <a:off x="16441460" y="762000"/>
            <a:ext cx="874990" cy="3848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468" dirty="0">
                <a:solidFill>
                  <a:srgbClr val="1B2A4A"/>
                </a:solidFill>
                <a:latin typeface="Barlow" panose="00000500000000000000" pitchFamily="2" charset="0"/>
                <a:ea typeface="Barlow" pitchFamily="34" charset="-122"/>
                <a:cs typeface="Barlow" pitchFamily="34" charset="-120"/>
              </a:rPr>
              <a:t>LIET</a:t>
            </a:r>
            <a:endParaRPr lang="en-US" sz="1950" dirty="0">
              <a:latin typeface="Barlow" panose="00000500000000000000" pitchFamily="2" charset="0"/>
            </a:endParaRPr>
          </a:p>
        </p:txBody>
      </p:sp>
      <p:sp>
        <p:nvSpPr>
          <p:cNvPr id="5" name="Text 3"/>
          <p:cNvSpPr/>
          <p:nvPr/>
        </p:nvSpPr>
        <p:spPr>
          <a:xfrm>
            <a:off x="1047750" y="1687830"/>
            <a:ext cx="166782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05 · ILLUSTRATIVE CASE · RARE DISEASE</a:t>
            </a:r>
            <a:endParaRPr lang="en-US" sz="1800" dirty="0">
              <a:latin typeface="Barlow" panose="00000500000000000000" pitchFamily="2" charset="0"/>
            </a:endParaRPr>
          </a:p>
        </p:txBody>
      </p:sp>
      <p:sp>
        <p:nvSpPr>
          <p:cNvPr id="6" name="Text 4"/>
          <p:cNvSpPr/>
          <p:nvPr/>
        </p:nvSpPr>
        <p:spPr>
          <a:xfrm>
            <a:off x="1047750" y="2160270"/>
            <a:ext cx="15697200" cy="572929"/>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3900" kern="0" spc="-70" dirty="0">
                <a:solidFill>
                  <a:srgbClr val="1B2A4A"/>
                </a:solidFill>
                <a:latin typeface="Barlow" panose="00000500000000000000" pitchFamily="2" charset="0"/>
                <a:ea typeface="Barlow" pitchFamily="34" charset="-122"/>
                <a:cs typeface="Barlow" pitchFamily="34" charset="-120"/>
              </a:rPr>
              <a:t>Three visits — </a:t>
            </a:r>
            <a:r>
              <a:rPr lang="en-US" sz="3900" i="1" kern="0" spc="-70" dirty="0">
                <a:solidFill>
                  <a:srgbClr val="B87A4B"/>
                </a:solidFill>
                <a:latin typeface="Barlow" panose="00000500000000000000" pitchFamily="2" charset="0"/>
                <a:ea typeface="Barlow" pitchFamily="34" charset="-122"/>
                <a:cs typeface="Barlow" pitchFamily="34" charset="-120"/>
              </a:rPr>
              <a:t>a triad no one would spot on single snapshot visit.</a:t>
            </a:r>
            <a:endParaRPr lang="en-US" sz="3900" dirty="0">
              <a:latin typeface="Barlow" panose="00000500000000000000" pitchFamily="2" charset="0"/>
            </a:endParaRPr>
          </a:p>
        </p:txBody>
      </p:sp>
      <p:sp>
        <p:nvSpPr>
          <p:cNvPr id="7" name="Shape 5"/>
          <p:cNvSpPr/>
          <p:nvPr/>
        </p:nvSpPr>
        <p:spPr>
          <a:xfrm>
            <a:off x="1047750" y="2961799"/>
            <a:ext cx="16192500" cy="7118985"/>
          </a:xfrm>
          <a:prstGeom prst="rect">
            <a:avLst/>
          </a:prstGeom>
          <a:solidFill>
            <a:srgbClr val="FBFAF6"/>
          </a:solidFill>
          <a:ln w="7620">
            <a:solidFill>
              <a:srgbClr val="CFC8B8"/>
            </a:solidFill>
            <a:prstDash val="solid"/>
          </a:ln>
        </p:spPr>
        <p:txBody>
          <a:bodyPr/>
          <a:lstStyle/>
          <a:p>
            <a:endParaRPr lang="en-US">
              <a:latin typeface="Barlow" panose="00000500000000000000" pitchFamily="2" charset="0"/>
            </a:endParaRPr>
          </a:p>
        </p:txBody>
      </p:sp>
      <p:sp>
        <p:nvSpPr>
          <p:cNvPr id="8" name="Shape 6"/>
          <p:cNvSpPr/>
          <p:nvPr/>
        </p:nvSpPr>
        <p:spPr>
          <a:xfrm>
            <a:off x="1474470" y="3887629"/>
            <a:ext cx="15339060" cy="9525"/>
          </a:xfrm>
          <a:prstGeom prst="rect">
            <a:avLst/>
          </a:prstGeom>
          <a:solidFill>
            <a:srgbClr val="CFC8B8"/>
          </a:solidFill>
          <a:ln/>
        </p:spPr>
        <p:txBody>
          <a:bodyPr/>
          <a:lstStyle/>
          <a:p>
            <a:endParaRPr lang="en-US">
              <a:latin typeface="Barlow" panose="00000500000000000000" pitchFamily="2" charset="0"/>
            </a:endParaRPr>
          </a:p>
        </p:txBody>
      </p:sp>
      <p:sp>
        <p:nvSpPr>
          <p:cNvPr id="9" name="Text 7"/>
          <p:cNvSpPr/>
          <p:nvPr/>
        </p:nvSpPr>
        <p:spPr>
          <a:xfrm>
            <a:off x="1474469" y="3274219"/>
            <a:ext cx="6575021" cy="51816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700" b="1" kern="0" spc="-27" dirty="0">
                <a:solidFill>
                  <a:srgbClr val="1B2A4A"/>
                </a:solidFill>
                <a:latin typeface="Barlow" panose="00000500000000000000" pitchFamily="2" charset="0"/>
                <a:ea typeface="Barlow" pitchFamily="34" charset="-122"/>
                <a:cs typeface="Barlow" pitchFamily="34" charset="-120"/>
              </a:rPr>
              <a:t>Lukas Müller · 17 M · </a:t>
            </a:r>
            <a:r>
              <a:rPr lang="en-US" sz="2700" b="1" kern="0" spc="-27" dirty="0">
                <a:solidFill>
                  <a:srgbClr val="1B2A4A"/>
                </a:solidFill>
                <a:latin typeface="Barlow" panose="00000500000000000000" pitchFamily="2" charset="0"/>
              </a:rPr>
              <a:t>Wilson disease</a:t>
            </a:r>
          </a:p>
        </p:txBody>
      </p:sp>
      <p:sp>
        <p:nvSpPr>
          <p:cNvPr id="10" name="Text 8"/>
          <p:cNvSpPr/>
          <p:nvPr/>
        </p:nvSpPr>
        <p:spPr>
          <a:xfrm>
            <a:off x="10818376" y="3358039"/>
            <a:ext cx="6175009" cy="39624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ILLUSTRATIVE · LITWIN 2025 PHENOTYPE </a:t>
            </a:r>
            <a:r>
              <a:rPr lang="en-US" sz="1800" b="1" kern="0" spc="252" baseline="30000" dirty="0">
                <a:solidFill>
                  <a:srgbClr val="B87A4B"/>
                </a:solidFill>
                <a:latin typeface="Barlow" panose="00000500000000000000" pitchFamily="2" charset="0"/>
                <a:ea typeface="Barlow" pitchFamily="34" charset="-122"/>
                <a:cs typeface="Barlow" pitchFamily="34" charset="-120"/>
              </a:rPr>
              <a:t>9</a:t>
            </a:r>
            <a:endParaRPr lang="en-US" sz="1800" dirty="0">
              <a:latin typeface="Barlow" panose="00000500000000000000" pitchFamily="2" charset="0"/>
            </a:endParaRPr>
          </a:p>
        </p:txBody>
      </p:sp>
      <p:sp>
        <p:nvSpPr>
          <p:cNvPr id="11" name="Shape 9"/>
          <p:cNvSpPr/>
          <p:nvPr/>
        </p:nvSpPr>
        <p:spPr>
          <a:xfrm>
            <a:off x="1474470" y="4942999"/>
            <a:ext cx="15339060" cy="9525"/>
          </a:xfrm>
          <a:prstGeom prst="rect">
            <a:avLst/>
          </a:prstGeom>
          <a:solidFill>
            <a:srgbClr val="CFC8B8"/>
          </a:solidFill>
          <a:ln/>
        </p:spPr>
        <p:txBody>
          <a:bodyPr/>
          <a:lstStyle/>
          <a:p>
            <a:endParaRPr lang="en-US">
              <a:latin typeface="Barlow" panose="00000500000000000000" pitchFamily="2" charset="0"/>
            </a:endParaRPr>
          </a:p>
        </p:txBody>
      </p:sp>
      <p:sp>
        <p:nvSpPr>
          <p:cNvPr id="12" name="Text 10"/>
          <p:cNvSpPr/>
          <p:nvPr/>
        </p:nvSpPr>
        <p:spPr>
          <a:xfrm>
            <a:off x="1474470" y="4008771"/>
            <a:ext cx="1981200" cy="7239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556688"/>
                </a:solidFill>
                <a:latin typeface="Barlow" panose="00000500000000000000" pitchFamily="2" charset="0"/>
                <a:ea typeface="Barlow" pitchFamily="34" charset="-122"/>
                <a:cs typeface="Barlow" pitchFamily="34" charset="-120"/>
              </a:rPr>
              <a:t>VISIT 1</a:t>
            </a:r>
            <a:endParaRPr lang="en-US" sz="1800" dirty="0">
              <a:latin typeface="Barlow" panose="00000500000000000000" pitchFamily="2" charset="0"/>
            </a:endParaRPr>
          </a:p>
        </p:txBody>
      </p:sp>
      <p:sp>
        <p:nvSpPr>
          <p:cNvPr id="13" name="Text 11"/>
          <p:cNvSpPr/>
          <p:nvPr/>
        </p:nvSpPr>
        <p:spPr>
          <a:xfrm>
            <a:off x="3684270" y="4142899"/>
            <a:ext cx="13523138" cy="723900"/>
          </a:xfrm>
          <a:prstGeom prst="rect">
            <a:avLst/>
          </a:prstGeom>
          <a:noFill/>
          <a:ln/>
        </p:spPr>
        <p:txBody>
          <a:bodyPr wrap="square" lIns="25400" tIns="25400" rIns="25400" bIns="25400" rtlCol="0" anchor="t">
            <a:normAutofit/>
          </a:bodyPr>
          <a:lstStyle/>
          <a:p>
            <a:pPr marL="0" indent="0" algn="l">
              <a:lnSpc>
                <a:spcPct val="150000"/>
              </a:lnSpc>
              <a:buNone/>
            </a:pPr>
            <a:r>
              <a:rPr lang="en-US" sz="1800" i="1" kern="0" spc="-11" dirty="0">
                <a:solidFill>
                  <a:srgbClr val="1B2A4A"/>
                </a:solidFill>
                <a:latin typeface="Barlow" panose="00000500000000000000" pitchFamily="2" charset="0"/>
                <a:ea typeface="Barlow" pitchFamily="34" charset="-122"/>
                <a:cs typeface="Barlow" pitchFamily="34" charset="-120"/>
              </a:rPr>
              <a:t>Fatigue, joint pain, difficulty concentrating. </a:t>
            </a:r>
            <a:r>
              <a:rPr lang="en-US" sz="1800" kern="0" spc="-11" dirty="0">
                <a:solidFill>
                  <a:srgbClr val="2E3F5F"/>
                </a:solidFill>
                <a:latin typeface="Barlow" panose="00000500000000000000" pitchFamily="2" charset="0"/>
                <a:ea typeface="Barlow" pitchFamily="34" charset="-122"/>
                <a:cs typeface="Barlow" pitchFamily="34" charset="-120"/>
              </a:rPr>
              <a:t>AST 52 · ALT 48 · Ceruloplasmin 18. Rx ibuprofen. Unremarkable in isolation.</a:t>
            </a:r>
            <a:endParaRPr lang="en-US" sz="1800" dirty="0">
              <a:latin typeface="Barlow" panose="00000500000000000000" pitchFamily="2" charset="0"/>
            </a:endParaRPr>
          </a:p>
        </p:txBody>
      </p:sp>
      <p:sp>
        <p:nvSpPr>
          <p:cNvPr id="14" name="Shape 12"/>
          <p:cNvSpPr/>
          <p:nvPr/>
        </p:nvSpPr>
        <p:spPr>
          <a:xfrm>
            <a:off x="1474470" y="5998369"/>
            <a:ext cx="15339060" cy="9525"/>
          </a:xfrm>
          <a:prstGeom prst="rect">
            <a:avLst/>
          </a:prstGeom>
          <a:solidFill>
            <a:srgbClr val="CFC8B8"/>
          </a:solidFill>
          <a:ln/>
        </p:spPr>
        <p:txBody>
          <a:bodyPr/>
          <a:lstStyle/>
          <a:p>
            <a:endParaRPr lang="en-US">
              <a:latin typeface="Barlow" panose="00000500000000000000" pitchFamily="2" charset="0"/>
            </a:endParaRPr>
          </a:p>
        </p:txBody>
      </p:sp>
      <p:sp>
        <p:nvSpPr>
          <p:cNvPr id="15" name="Text 13"/>
          <p:cNvSpPr/>
          <p:nvPr/>
        </p:nvSpPr>
        <p:spPr>
          <a:xfrm>
            <a:off x="1474470" y="5198269"/>
            <a:ext cx="1981200" cy="72390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556688"/>
                </a:solidFill>
                <a:latin typeface="Barlow" panose="00000500000000000000" pitchFamily="2" charset="0"/>
                <a:ea typeface="Barlow" pitchFamily="34" charset="-122"/>
                <a:cs typeface="Barlow" pitchFamily="34" charset="-120"/>
              </a:rPr>
              <a:t>VISIT 2 · +6 MO</a:t>
            </a:r>
            <a:endParaRPr lang="en-US" sz="1800" dirty="0">
              <a:latin typeface="Barlow" panose="00000500000000000000" pitchFamily="2" charset="0"/>
            </a:endParaRPr>
          </a:p>
        </p:txBody>
      </p:sp>
      <p:sp>
        <p:nvSpPr>
          <p:cNvPr id="16" name="Text 14"/>
          <p:cNvSpPr/>
          <p:nvPr/>
        </p:nvSpPr>
        <p:spPr>
          <a:xfrm>
            <a:off x="3684270" y="5198269"/>
            <a:ext cx="13523138" cy="723900"/>
          </a:xfrm>
          <a:prstGeom prst="rect">
            <a:avLst/>
          </a:prstGeom>
          <a:noFill/>
          <a:ln/>
        </p:spPr>
        <p:txBody>
          <a:bodyPr wrap="square" lIns="25400" tIns="25400" rIns="25400" bIns="25400" rtlCol="0" anchor="t">
            <a:normAutofit/>
          </a:bodyPr>
          <a:lstStyle/>
          <a:p>
            <a:pPr marL="0" indent="0" algn="l">
              <a:lnSpc>
                <a:spcPct val="150000"/>
              </a:lnSpc>
              <a:buNone/>
            </a:pPr>
            <a:r>
              <a:rPr lang="en-US" sz="1800" i="1" kern="0" spc="-11" dirty="0">
                <a:solidFill>
                  <a:srgbClr val="1B2A4A"/>
                </a:solidFill>
                <a:latin typeface="Barlow" panose="00000500000000000000" pitchFamily="2" charset="0"/>
                <a:ea typeface="Barlow" pitchFamily="34" charset="-122"/>
                <a:cs typeface="Barlow" pitchFamily="34" charset="-120"/>
              </a:rPr>
              <a:t>Worsened fatigue, new jaundice, tremor, irritability. </a:t>
            </a:r>
            <a:r>
              <a:rPr lang="en-US" sz="1800" kern="0" spc="-11" dirty="0">
                <a:solidFill>
                  <a:srgbClr val="2E3F5F"/>
                </a:solidFill>
                <a:latin typeface="Barlow" panose="00000500000000000000" pitchFamily="2" charset="0"/>
                <a:ea typeface="Barlow" pitchFamily="34" charset="-122"/>
                <a:cs typeface="Barlow" pitchFamily="34" charset="-120"/>
              </a:rPr>
              <a:t>AST 145 · ALT 168 · Ceruloplasmin 12 · 24h urine Cu 285 · </a:t>
            </a:r>
            <a:r>
              <a:rPr lang="en-US" sz="1800" b="1" kern="0" spc="-11" dirty="0">
                <a:solidFill>
                  <a:srgbClr val="1B2A4A"/>
                </a:solidFill>
                <a:latin typeface="Barlow" panose="00000500000000000000" pitchFamily="2" charset="0"/>
                <a:ea typeface="Barlow" pitchFamily="34" charset="-122"/>
                <a:cs typeface="Barlow" pitchFamily="34" charset="-120"/>
              </a:rPr>
              <a:t>K-F rings present.</a:t>
            </a:r>
            <a:endParaRPr lang="en-US" sz="1800" dirty="0">
              <a:latin typeface="Barlow" panose="00000500000000000000" pitchFamily="2" charset="0"/>
            </a:endParaRPr>
          </a:p>
        </p:txBody>
      </p:sp>
      <p:sp>
        <p:nvSpPr>
          <p:cNvPr id="17" name="Shape 15"/>
          <p:cNvSpPr/>
          <p:nvPr/>
        </p:nvSpPr>
        <p:spPr>
          <a:xfrm>
            <a:off x="1349525" y="6058853"/>
            <a:ext cx="15643860" cy="3514725"/>
          </a:xfrm>
          <a:prstGeom prst="roundRect">
            <a:avLst>
              <a:gd name="adj" fmla="val 1084"/>
            </a:avLst>
          </a:prstGeom>
          <a:solidFill>
            <a:srgbClr val="B87A4B">
              <a:alpha val="12000"/>
            </a:srgbClr>
          </a:solidFill>
          <a:ln w="7620">
            <a:solidFill>
              <a:srgbClr val="B87A4B"/>
            </a:solidFill>
            <a:prstDash val="solid"/>
          </a:ln>
        </p:spPr>
        <p:txBody>
          <a:bodyPr/>
          <a:lstStyle/>
          <a:p>
            <a:endParaRPr lang="en-US">
              <a:latin typeface="Barlow" panose="00000500000000000000" pitchFamily="2" charset="0"/>
            </a:endParaRPr>
          </a:p>
        </p:txBody>
      </p:sp>
      <p:sp>
        <p:nvSpPr>
          <p:cNvPr id="18" name="Text 16"/>
          <p:cNvSpPr/>
          <p:nvPr/>
        </p:nvSpPr>
        <p:spPr>
          <a:xfrm>
            <a:off x="1482090" y="6413659"/>
            <a:ext cx="1981200" cy="3232785"/>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72" dirty="0">
                <a:solidFill>
                  <a:srgbClr val="8E5B35"/>
                </a:solidFill>
                <a:latin typeface="Barlow" panose="00000500000000000000" pitchFamily="2" charset="0"/>
                <a:ea typeface="Barlow" pitchFamily="34" charset="-122"/>
                <a:cs typeface="Barlow" pitchFamily="34" charset="-120"/>
              </a:rPr>
              <a:t>LIET</a:t>
            </a:r>
            <a:endParaRPr lang="en-US" sz="1800" dirty="0">
              <a:latin typeface="Barlow" panose="00000500000000000000" pitchFamily="2" charset="0"/>
            </a:endParaRPr>
          </a:p>
        </p:txBody>
      </p:sp>
      <p:sp>
        <p:nvSpPr>
          <p:cNvPr id="19" name="Text 17"/>
          <p:cNvSpPr/>
          <p:nvPr/>
        </p:nvSpPr>
        <p:spPr>
          <a:xfrm>
            <a:off x="3691890" y="6413659"/>
            <a:ext cx="13507441"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b="1" kern="0" spc="288" dirty="0">
                <a:solidFill>
                  <a:srgbClr val="8E5B35"/>
                </a:solidFill>
                <a:latin typeface="Barlow" panose="00000500000000000000" pitchFamily="2" charset="0"/>
                <a:ea typeface="Barlow" pitchFamily="34" charset="-122"/>
                <a:cs typeface="Barlow" pitchFamily="34" charset="-120"/>
              </a:rPr>
              <a:t>PATTERN RECOGNISED ON VISIT 2</a:t>
            </a:r>
            <a:endParaRPr lang="en-US" sz="1800" dirty="0">
              <a:latin typeface="Barlow" panose="00000500000000000000" pitchFamily="2" charset="0"/>
            </a:endParaRPr>
          </a:p>
        </p:txBody>
      </p:sp>
      <p:sp>
        <p:nvSpPr>
          <p:cNvPr id="20" name="Text 18"/>
          <p:cNvSpPr/>
          <p:nvPr/>
        </p:nvSpPr>
        <p:spPr>
          <a:xfrm>
            <a:off x="3691890" y="6813709"/>
            <a:ext cx="13507441" cy="347663"/>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950" kern="0" spc="-19" dirty="0">
                <a:solidFill>
                  <a:srgbClr val="1B2A4A"/>
                </a:solidFill>
                <a:latin typeface="Barlow" panose="00000500000000000000" pitchFamily="2" charset="0"/>
                <a:ea typeface="Barlow" pitchFamily="34" charset="-122"/>
                <a:cs typeface="Barlow" pitchFamily="34" charset="-120"/>
              </a:rPr>
              <a:t>Progressive hepatic + neurological + behavioural in adolescent — consider </a:t>
            </a:r>
            <a:r>
              <a:rPr lang="en-US" sz="1950" i="1" kern="0" spc="-19" dirty="0">
                <a:solidFill>
                  <a:srgbClr val="8E3B2E"/>
                </a:solidFill>
                <a:latin typeface="Barlow" panose="00000500000000000000" pitchFamily="2" charset="0"/>
                <a:ea typeface="Barlow" pitchFamily="34" charset="-122"/>
                <a:cs typeface="Barlow" pitchFamily="34" charset="-120"/>
              </a:rPr>
              <a:t>Wilson disease.</a:t>
            </a:r>
            <a:endParaRPr lang="en-US" sz="1950" dirty="0">
              <a:latin typeface="Barlow" panose="00000500000000000000" pitchFamily="2" charset="0"/>
            </a:endParaRPr>
          </a:p>
        </p:txBody>
      </p:sp>
      <p:sp>
        <p:nvSpPr>
          <p:cNvPr id="21" name="Text 19"/>
          <p:cNvSpPr/>
          <p:nvPr/>
        </p:nvSpPr>
        <p:spPr>
          <a:xfrm>
            <a:off x="3691890" y="7250000"/>
            <a:ext cx="13507441" cy="400000"/>
          </a:xfrm>
          <a:prstGeom prst="rect">
            <a:avLst/>
          </a:prstGeom>
          <a:noFill/>
          <a:ln/>
        </p:spPr>
        <p:txBody>
          <a:bodyPr wrap="square" lIns="25400" tIns="25400" rIns="25400" bIns="25400" rtlCol="0" anchor="t"/>
          <a:lstStyle/>
          <a:p>
            <a:pPr marL="0" indent="0" algn="l">
              <a:lnSpc>
                <a:spcPct val="125000"/>
              </a:lnSpc>
              <a:buNone/>
            </a:pPr>
            <a:r>
              <a:rPr lang="en-US" sz="1700" kern="0" spc="-11" dirty="0">
                <a:solidFill>
                  <a:srgbClr val="2E3F5F"/>
                </a:solidFill>
                <a:latin typeface="Barlow" panose="00000500000000000000" pitchFamily="2" charset="0"/>
                <a:ea typeface="Barlow" pitchFamily="34" charset="-122"/>
                <a:cs typeface="Barlow" pitchFamily="34" charset="-120"/>
              </a:rPr>
              <a:t>ATP7B genetic testing recommended. Mean diagnostic delay:</a:t>
            </a:r>
            <a:endParaRPr lang="en-US" sz="1700" dirty="0">
              <a:latin typeface="Barlow" panose="00000500000000000000" pitchFamily="2" charset="0"/>
            </a:endParaRPr>
          </a:p>
        </p:txBody>
      </p:sp>
      <p:sp>
        <p:nvSpPr>
          <p:cNvPr id="22" name="Text 20"/>
          <p:cNvSpPr/>
          <p:nvPr/>
        </p:nvSpPr>
        <p:spPr>
          <a:xfrm>
            <a:off x="1900000" y="7900000"/>
            <a:ext cx="5100000" cy="1000000"/>
          </a:xfrm>
          <a:prstGeom prst="rect">
            <a:avLst/>
          </a:prstGeom>
          <a:noFill/>
          <a:ln/>
        </p:spPr>
        <p:txBody>
          <a:bodyPr wrap="square" lIns="25400" tIns="25400" rIns="25400" bIns="25400" rtlCol="0" anchor="t"/>
          <a:lstStyle/>
          <a:p>
            <a:pPr marL="0" indent="0" algn="l">
              <a:lnSpc>
                <a:spcPct val="105000"/>
              </a:lnSpc>
              <a:buNone/>
            </a:pPr>
            <a:r>
              <a:rPr lang="en-US" sz="4800" kern="0" spc="-22" dirty="0">
                <a:solidFill>
                  <a:srgbClr val="1B2A4A"/>
                </a:solidFill>
                <a:latin typeface="Barlow" panose="00000500000000000000" pitchFamily="2" charset="0"/>
                <a:ea typeface="Barlow" pitchFamily="34" charset="-122"/>
                <a:cs typeface="Barlow" pitchFamily="34" charset="-120"/>
              </a:rPr>
              <a:t>22.5 months</a:t>
            </a:r>
            <a:endParaRPr lang="en-US" sz="4800" dirty="0">
              <a:latin typeface="Barlow" panose="00000500000000000000" pitchFamily="2" charset="0"/>
            </a:endParaRPr>
          </a:p>
        </p:txBody>
      </p:sp>
      <p:sp>
        <p:nvSpPr>
          <p:cNvPr id="23" name="Text 21"/>
          <p:cNvSpPr/>
          <p:nvPr/>
        </p:nvSpPr>
        <p:spPr>
          <a:xfrm>
            <a:off x="1900000" y="8950000"/>
            <a:ext cx="5100000" cy="700000"/>
          </a:xfrm>
          <a:prstGeom prst="rect">
            <a:avLst/>
          </a:prstGeom>
          <a:noFill/>
          <a:ln/>
        </p:spPr>
        <p:txBody>
          <a:bodyPr wrap="square" lIns="25400" tIns="25400" rIns="25400" bIns="25400" rtlCol="0" anchor="t"/>
          <a:lstStyle/>
          <a:p>
            <a:pPr marL="0" indent="0" algn="l">
              <a:lnSpc>
                <a:spcPct val="130000"/>
              </a:lnSpc>
              <a:buNone/>
            </a:pPr>
            <a:r>
              <a:rPr lang="en-US" sz="1400" kern="0" spc="-5" dirty="0">
                <a:solidFill>
                  <a:srgbClr val="2E3F5F"/>
                </a:solidFill>
                <a:latin typeface="Barlow" panose="00000500000000000000" pitchFamily="2" charset="0"/>
                <a:ea typeface="Barlow" pitchFamily="34" charset="-122"/>
                <a:cs typeface="Barlow" pitchFamily="34" charset="-120"/>
              </a:rPr>
              <a:t>Mean diagnostic delay.</a:t>
            </a:r>
            <a:endParaRPr lang="en-US" sz="1400" dirty="0">
              <a:latin typeface="Barlow" panose="00000500000000000000" pitchFamily="2" charset="0"/>
            </a:endParaRPr>
          </a:p>
        </p:txBody>
      </p:sp>
      <p:sp>
        <p:nvSpPr>
          <p:cNvPr id="24" name="Text 22"/>
          <p:cNvSpPr/>
          <p:nvPr/>
        </p:nvSpPr>
        <p:spPr>
          <a:xfrm>
            <a:off x="6700000" y="7900000"/>
            <a:ext cx="3039745" cy="1000000"/>
          </a:xfrm>
          <a:prstGeom prst="rect">
            <a:avLst/>
          </a:prstGeom>
          <a:noFill/>
          <a:ln/>
        </p:spPr>
        <p:txBody>
          <a:bodyPr wrap="square" lIns="25400" tIns="25400" rIns="25400" bIns="25400" rtlCol="0" anchor="t"/>
          <a:lstStyle/>
          <a:p>
            <a:pPr marL="0" indent="0" algn="l">
              <a:lnSpc>
                <a:spcPct val="105000"/>
              </a:lnSpc>
              <a:buNone/>
            </a:pPr>
            <a:r>
              <a:rPr lang="en-US" sz="4800" kern="0" spc="-22" dirty="0">
                <a:solidFill>
                  <a:srgbClr val="1B2A4A"/>
                </a:solidFill>
                <a:latin typeface="Barlow" panose="00000500000000000000" pitchFamily="2" charset="0"/>
                <a:ea typeface="Barlow" pitchFamily="34" charset="-122"/>
                <a:cs typeface="Barlow" pitchFamily="34" charset="-120"/>
              </a:rPr>
              <a:t>65 months</a:t>
            </a:r>
            <a:endParaRPr lang="en-US" sz="4800" dirty="0">
              <a:latin typeface="Barlow" panose="00000500000000000000" pitchFamily="2" charset="0"/>
            </a:endParaRPr>
          </a:p>
        </p:txBody>
      </p:sp>
      <p:sp>
        <p:nvSpPr>
          <p:cNvPr id="25" name="Text 23"/>
          <p:cNvSpPr/>
          <p:nvPr/>
        </p:nvSpPr>
        <p:spPr>
          <a:xfrm>
            <a:off x="6700000" y="8950000"/>
            <a:ext cx="5100000" cy="700000"/>
          </a:xfrm>
          <a:prstGeom prst="rect">
            <a:avLst/>
          </a:prstGeom>
          <a:noFill/>
          <a:ln/>
        </p:spPr>
        <p:txBody>
          <a:bodyPr wrap="square" lIns="25400" tIns="25400" rIns="25400" bIns="25400" rtlCol="0" anchor="t"/>
          <a:lstStyle/>
          <a:p>
            <a:pPr marL="0" indent="0" algn="l">
              <a:lnSpc>
                <a:spcPct val="130000"/>
              </a:lnSpc>
              <a:buNone/>
            </a:pPr>
            <a:r>
              <a:rPr lang="en-US" sz="1400" kern="0" spc="-5" dirty="0">
                <a:solidFill>
                  <a:srgbClr val="2E3F5F"/>
                </a:solidFill>
                <a:latin typeface="Barlow" panose="00000500000000000000" pitchFamily="2" charset="0"/>
                <a:ea typeface="Barlow" pitchFamily="34" charset="-122"/>
                <a:cs typeface="Barlow" pitchFamily="34" charset="-120"/>
              </a:rPr>
              <a:t>In psychiatric presentations.</a:t>
            </a:r>
            <a:endParaRPr lang="en-US" sz="1400" dirty="0">
              <a:latin typeface="Barlow" panose="00000500000000000000" pitchFamily="2" charset="0"/>
            </a:endParaRPr>
          </a:p>
        </p:txBody>
      </p:sp>
      <p:sp>
        <p:nvSpPr>
          <p:cNvPr id="26" name="Text 24"/>
          <p:cNvSpPr/>
          <p:nvPr/>
        </p:nvSpPr>
        <p:spPr>
          <a:xfrm>
            <a:off x="11500000" y="7900000"/>
            <a:ext cx="5100000" cy="1000000"/>
          </a:xfrm>
          <a:prstGeom prst="rect">
            <a:avLst/>
          </a:prstGeom>
          <a:noFill/>
          <a:ln/>
        </p:spPr>
        <p:txBody>
          <a:bodyPr wrap="square" lIns="25400" tIns="25400" rIns="25400" bIns="25400" rtlCol="0" anchor="t"/>
          <a:lstStyle/>
          <a:p>
            <a:pPr marL="0" indent="0" algn="l">
              <a:lnSpc>
                <a:spcPct val="105000"/>
              </a:lnSpc>
              <a:buNone/>
            </a:pPr>
            <a:r>
              <a:rPr lang="en-US" sz="4800" kern="0" spc="-22" dirty="0">
                <a:solidFill>
                  <a:srgbClr val="1B2A4A"/>
                </a:solidFill>
                <a:latin typeface="Barlow" panose="00000500000000000000" pitchFamily="2" charset="0"/>
                <a:ea typeface="Barlow" pitchFamily="34" charset="-122"/>
                <a:cs typeface="Barlow" pitchFamily="34" charset="-120"/>
              </a:rPr>
              <a:t>62.5%</a:t>
            </a:r>
            <a:endParaRPr lang="en-US" sz="4800" dirty="0">
              <a:latin typeface="Barlow" panose="00000500000000000000" pitchFamily="2" charset="0"/>
            </a:endParaRPr>
          </a:p>
        </p:txBody>
      </p:sp>
      <p:sp>
        <p:nvSpPr>
          <p:cNvPr id="27" name="Text 25"/>
          <p:cNvSpPr/>
          <p:nvPr/>
        </p:nvSpPr>
        <p:spPr>
          <a:xfrm>
            <a:off x="11500000" y="8950000"/>
            <a:ext cx="5100000" cy="700000"/>
          </a:xfrm>
          <a:prstGeom prst="rect">
            <a:avLst/>
          </a:prstGeom>
          <a:noFill/>
          <a:ln/>
        </p:spPr>
        <p:txBody>
          <a:bodyPr wrap="square" lIns="25400" tIns="25400" rIns="25400" bIns="25400" rtlCol="0" anchor="t"/>
          <a:lstStyle/>
          <a:p>
            <a:pPr marL="0" indent="0" algn="l">
              <a:lnSpc>
                <a:spcPct val="130000"/>
              </a:lnSpc>
              <a:buNone/>
            </a:pPr>
            <a:r>
              <a:rPr lang="en-US" sz="1400" kern="0" spc="-5" dirty="0">
                <a:solidFill>
                  <a:srgbClr val="2E3F5F"/>
                </a:solidFill>
                <a:latin typeface="Barlow" panose="00000500000000000000" pitchFamily="2" charset="0"/>
                <a:ea typeface="Barlow" pitchFamily="34" charset="-122"/>
                <a:cs typeface="Barlow" pitchFamily="34" charset="-120"/>
              </a:rPr>
              <a:t>Initially misdiagnosed.</a:t>
            </a:r>
            <a:endParaRPr lang="en-US" sz="1400" dirty="0">
              <a:latin typeface="Barlow" panose="00000500000000000000" pitchFamily="2" charset="0"/>
            </a:endParaRPr>
          </a:p>
        </p:txBody>
      </p:sp>
      <p:sp>
        <p:nvSpPr>
          <p:cNvPr id="29" name="Shape 27"/>
          <p:cNvSpPr/>
          <p:nvPr/>
        </p:nvSpPr>
        <p:spPr>
          <a:xfrm>
            <a:off x="1047750" y="9597390"/>
            <a:ext cx="16192500" cy="9525"/>
          </a:xfrm>
          <a:prstGeom prst="rect">
            <a:avLst/>
          </a:prstGeom>
          <a:solidFill>
            <a:srgbClr val="E1DBCB"/>
          </a:solidFill>
          <a:ln/>
        </p:spPr>
        <p:txBody>
          <a:bodyPr/>
          <a:lstStyle/>
          <a:p>
            <a:endParaRPr lang="en-US">
              <a:latin typeface="Barlow" panose="00000500000000000000" pitchFamily="2" charset="0"/>
            </a:endParaRPr>
          </a:p>
        </p:txBody>
      </p:sp>
      <p:sp>
        <p:nvSpPr>
          <p:cNvPr id="30" name="Text 28"/>
          <p:cNvSpPr/>
          <p:nvPr/>
        </p:nvSpPr>
        <p:spPr>
          <a:xfrm>
            <a:off x="1047750" y="9738360"/>
            <a:ext cx="3593432"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9 </a:t>
            </a:r>
            <a:r>
              <a:rPr lang="en-US" sz="1800" kern="0" spc="18" dirty="0">
                <a:solidFill>
                  <a:srgbClr val="8899BB"/>
                </a:solidFill>
                <a:latin typeface="Barlow" panose="00000500000000000000" pitchFamily="2" charset="0"/>
                <a:ea typeface="Barlow" pitchFamily="34" charset="-122"/>
                <a:cs typeface="Barlow" pitchFamily="34" charset="-120"/>
              </a:rPr>
              <a:t>Litwin T et al., Diagnostics 2025</a:t>
            </a:r>
            <a:endParaRPr lang="en-US" sz="1800" dirty="0">
              <a:latin typeface="Barlow" panose="00000500000000000000" pitchFamily="2" charset="0"/>
            </a:endParaRPr>
          </a:p>
        </p:txBody>
      </p:sp>
      <p:sp>
        <p:nvSpPr>
          <p:cNvPr id="32" name="Text Cirillo"/>
          <p:cNvSpPr/>
          <p:nvPr/>
        </p:nvSpPr>
        <p:spPr>
          <a:xfrm>
            <a:off x="5500000" y="9738360"/>
            <a:ext cx="1090000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00" i="1" kern="0" spc="18" dirty="0">
                <a:solidFill>
                  <a:srgbClr val="8899BB"/>
                </a:solidFill>
                <a:latin typeface="Barlow" panose="00000500000000000000" pitchFamily="2" charset="0"/>
                <a:ea typeface="Barlow" pitchFamily="34" charset="-122"/>
                <a:cs typeface="Barlow" pitchFamily="34" charset="-120"/>
              </a:rPr>
              <a:t>Mean rare disease diagnostic delay in Europe: 3.4 years. Cirillo et al., Eur J Public Health 2025 (n=7,909).</a:t>
            </a:r>
            <a:endParaRPr lang="en-US" sz="1300" dirty="0">
              <a:latin typeface="Barlow" panose="00000500000000000000" pitchFamily="2" charset="0"/>
            </a:endParaRPr>
          </a:p>
        </p:txBody>
      </p:sp>
      <p:sp>
        <p:nvSpPr>
          <p:cNvPr id="31" name="Text 29"/>
          <p:cNvSpPr/>
          <p:nvPr/>
        </p:nvSpPr>
        <p:spPr>
          <a:xfrm>
            <a:off x="16508016" y="9738360"/>
            <a:ext cx="808434"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800" dirty="0">
              <a:latin typeface="Barlow" panose="00000500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1047750" y="126111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3" name="Text 1"/>
          <p:cNvSpPr/>
          <p:nvPr/>
        </p:nvSpPr>
        <p:spPr>
          <a:xfrm>
            <a:off x="1047750" y="775335"/>
            <a:ext cx="2779263"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UNDER THE HOOD</a:t>
            </a:r>
            <a:endParaRPr lang="en-US" sz="1800" dirty="0">
              <a:latin typeface="Barlow" panose="00000500000000000000" pitchFamily="2" charset="0"/>
            </a:endParaRPr>
          </a:p>
        </p:txBody>
      </p:sp>
      <p:sp>
        <p:nvSpPr>
          <p:cNvPr id="4" name="Text 2"/>
          <p:cNvSpPr/>
          <p:nvPr/>
        </p:nvSpPr>
        <p:spPr>
          <a:xfrm>
            <a:off x="16441460" y="762000"/>
            <a:ext cx="874990" cy="3848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468" dirty="0">
                <a:solidFill>
                  <a:srgbClr val="1B2A4A"/>
                </a:solidFill>
                <a:latin typeface="Barlow" panose="00000500000000000000" pitchFamily="2" charset="0"/>
                <a:ea typeface="Barlow" pitchFamily="34" charset="-122"/>
                <a:cs typeface="Barlow" pitchFamily="34" charset="-120"/>
              </a:rPr>
              <a:t>LIET</a:t>
            </a:r>
            <a:endParaRPr lang="en-US" sz="1950" dirty="0">
              <a:latin typeface="Barlow" panose="00000500000000000000" pitchFamily="2" charset="0"/>
            </a:endParaRPr>
          </a:p>
        </p:txBody>
      </p:sp>
      <p:sp>
        <p:nvSpPr>
          <p:cNvPr id="5" name="Text 3"/>
          <p:cNvSpPr/>
          <p:nvPr/>
        </p:nvSpPr>
        <p:spPr>
          <a:xfrm>
            <a:off x="1047750" y="1687830"/>
            <a:ext cx="166782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06 · THE CLINICAL ENGINE</a:t>
            </a:r>
            <a:endParaRPr lang="en-US" sz="1800" dirty="0">
              <a:latin typeface="Barlow" panose="00000500000000000000" pitchFamily="2" charset="0"/>
            </a:endParaRPr>
          </a:p>
        </p:txBody>
      </p:sp>
      <p:sp>
        <p:nvSpPr>
          <p:cNvPr id="6" name="Text 4"/>
          <p:cNvSpPr/>
          <p:nvPr/>
        </p:nvSpPr>
        <p:spPr>
          <a:xfrm>
            <a:off x="1047750" y="2236470"/>
            <a:ext cx="15697200" cy="127254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500" kern="0" spc="-81" dirty="0">
                <a:solidFill>
                  <a:srgbClr val="1B2A4A"/>
                </a:solidFill>
                <a:latin typeface="Barlow" panose="00000500000000000000" pitchFamily="2" charset="0"/>
                <a:ea typeface="Barlow" pitchFamily="34" charset="-122"/>
                <a:cs typeface="Barlow" pitchFamily="34" charset="-120"/>
              </a:rPr>
              <a:t>A small number of </a:t>
            </a:r>
            <a:r>
              <a:rPr lang="en-US" sz="4500" i="1" kern="0" spc="-81" dirty="0">
                <a:solidFill>
                  <a:srgbClr val="B87A4B"/>
                </a:solidFill>
                <a:latin typeface="Barlow" panose="00000500000000000000" pitchFamily="2" charset="0"/>
                <a:ea typeface="Barlow" pitchFamily="34" charset="-122"/>
                <a:cs typeface="Barlow" pitchFamily="34" charset="-120"/>
              </a:rPr>
              <a:t>grounded LLM calls </a:t>
            </a:r>
            <a:r>
              <a:rPr lang="en-US" sz="4500" kern="0" spc="-81" dirty="0">
                <a:solidFill>
                  <a:srgbClr val="1B2A4A"/>
                </a:solidFill>
                <a:latin typeface="Barlow" panose="00000500000000000000" pitchFamily="2" charset="0"/>
                <a:ea typeface="Barlow" pitchFamily="34" charset="-122"/>
                <a:cs typeface="Barlow" pitchFamily="34" charset="-120"/>
              </a:rPr>
              <a:t>, a deterministic pattern engine, and standards-compliant output.</a:t>
            </a:r>
            <a:endParaRPr lang="en-US" sz="4500" dirty="0">
              <a:latin typeface="Barlow" panose="00000500000000000000" pitchFamily="2" charset="0"/>
            </a:endParaRPr>
          </a:p>
        </p:txBody>
      </p:sp>
      <p:sp>
        <p:nvSpPr>
          <p:cNvPr id="7" name="Shape 5"/>
          <p:cNvSpPr/>
          <p:nvPr/>
        </p:nvSpPr>
        <p:spPr>
          <a:xfrm>
            <a:off x="1047750" y="3928110"/>
            <a:ext cx="5194221" cy="2961322"/>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8" name="Text 6"/>
          <p:cNvSpPr/>
          <p:nvPr/>
        </p:nvSpPr>
        <p:spPr>
          <a:xfrm>
            <a:off x="1436370" y="4278630"/>
            <a:ext cx="454949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LAYER 1 · REASONING</a:t>
            </a:r>
            <a:endParaRPr lang="en-US" sz="1800" dirty="0">
              <a:latin typeface="Barlow" panose="00000500000000000000" pitchFamily="2" charset="0"/>
            </a:endParaRPr>
          </a:p>
        </p:txBody>
      </p:sp>
      <p:sp>
        <p:nvSpPr>
          <p:cNvPr id="9" name="Text 7"/>
          <p:cNvSpPr/>
          <p:nvPr/>
        </p:nvSpPr>
        <p:spPr>
          <a:xfrm>
            <a:off x="1436370" y="4751070"/>
            <a:ext cx="4549490" cy="347663"/>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950" b="1" kern="0" spc="-10" dirty="0">
                <a:solidFill>
                  <a:srgbClr val="1B2A4A"/>
                </a:solidFill>
                <a:latin typeface="Barlow" panose="00000500000000000000" pitchFamily="2" charset="0"/>
                <a:ea typeface="Barlow" pitchFamily="34" charset="-122"/>
                <a:cs typeface="Barlow" pitchFamily="34" charset="-120"/>
              </a:rPr>
              <a:t>Grounded clinical analysis</a:t>
            </a:r>
            <a:endParaRPr lang="en-US" sz="1950" dirty="0">
              <a:latin typeface="Barlow" panose="00000500000000000000" pitchFamily="2" charset="0"/>
            </a:endParaRPr>
          </a:p>
        </p:txBody>
      </p:sp>
      <p:sp>
        <p:nvSpPr>
          <p:cNvPr id="10" name="Text 8"/>
          <p:cNvSpPr/>
          <p:nvPr/>
        </p:nvSpPr>
        <p:spPr>
          <a:xfrm>
            <a:off x="1436370" y="5213032"/>
            <a:ext cx="4549490" cy="136398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800" kern="0" spc="-11" dirty="0">
                <a:solidFill>
                  <a:srgbClr val="556688"/>
                </a:solidFill>
                <a:latin typeface="Barlow" panose="00000500000000000000" pitchFamily="2" charset="0"/>
                <a:ea typeface="Barlow" pitchFamily="34" charset="-122"/>
                <a:cs typeface="Barlow" pitchFamily="34" charset="-120"/>
              </a:rPr>
              <a:t>Grounded LLM calls through a single audited pipeline. Summary, 3–4 ranked considerations, investigation table, red flags, consultation gaps.</a:t>
            </a:r>
            <a:endParaRPr lang="en-US" sz="1800" dirty="0">
              <a:latin typeface="Barlow" panose="00000500000000000000" pitchFamily="2" charset="0"/>
            </a:endParaRPr>
          </a:p>
        </p:txBody>
      </p:sp>
      <p:sp>
        <p:nvSpPr>
          <p:cNvPr id="11" name="Shape 9"/>
          <p:cNvSpPr/>
          <p:nvPr/>
        </p:nvSpPr>
        <p:spPr>
          <a:xfrm>
            <a:off x="6546771" y="3928110"/>
            <a:ext cx="5194340" cy="2961322"/>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2" name="Text 10"/>
          <p:cNvSpPr/>
          <p:nvPr/>
        </p:nvSpPr>
        <p:spPr>
          <a:xfrm>
            <a:off x="6935391" y="4278630"/>
            <a:ext cx="4549613"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LAYER 2 · MEMORY</a:t>
            </a:r>
            <a:endParaRPr lang="en-US" sz="1800" dirty="0">
              <a:latin typeface="Barlow" panose="00000500000000000000" pitchFamily="2" charset="0"/>
            </a:endParaRPr>
          </a:p>
        </p:txBody>
      </p:sp>
      <p:sp>
        <p:nvSpPr>
          <p:cNvPr id="13" name="Text 11"/>
          <p:cNvSpPr/>
          <p:nvPr/>
        </p:nvSpPr>
        <p:spPr>
          <a:xfrm>
            <a:off x="6935391" y="4751070"/>
            <a:ext cx="4549613" cy="347663"/>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950" b="1" kern="0" spc="-10" dirty="0">
                <a:solidFill>
                  <a:srgbClr val="1B2A4A"/>
                </a:solidFill>
                <a:latin typeface="Barlow" panose="00000500000000000000" pitchFamily="2" charset="0"/>
                <a:ea typeface="Barlow" pitchFamily="34" charset="-122"/>
                <a:cs typeface="Barlow" pitchFamily="34" charset="-120"/>
              </a:rPr>
              <a:t>Longitudinal pattern engine</a:t>
            </a:r>
            <a:endParaRPr lang="en-US" sz="1950" dirty="0">
              <a:latin typeface="Barlow" panose="00000500000000000000" pitchFamily="2" charset="0"/>
            </a:endParaRPr>
          </a:p>
        </p:txBody>
      </p:sp>
      <p:sp>
        <p:nvSpPr>
          <p:cNvPr id="14" name="Text 12"/>
          <p:cNvSpPr/>
          <p:nvPr/>
        </p:nvSpPr>
        <p:spPr>
          <a:xfrm>
            <a:off x="6935391" y="5213032"/>
            <a:ext cx="4549613" cy="136398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kern="0" spc="-11" dirty="0">
                <a:solidFill>
                  <a:srgbClr val="556688"/>
                </a:solidFill>
                <a:latin typeface="Barlow" panose="00000500000000000000" pitchFamily="2" charset="0"/>
                <a:ea typeface="Barlow" pitchFamily="34" charset="-122"/>
                <a:cs typeface="Barlow" pitchFamily="34" charset="-120"/>
              </a:rPr>
              <a:t>Deterministic — auditable code. Vital trends, recurrence, treatment response, follow-up compliance. Not the LLM being clever; the record being structured.</a:t>
            </a:r>
            <a:endParaRPr lang="en-US" sz="1800" dirty="0">
              <a:latin typeface="Barlow" panose="00000500000000000000" pitchFamily="2" charset="0"/>
            </a:endParaRPr>
          </a:p>
        </p:txBody>
      </p:sp>
      <p:sp>
        <p:nvSpPr>
          <p:cNvPr id="15" name="Shape 13"/>
          <p:cNvSpPr/>
          <p:nvPr/>
        </p:nvSpPr>
        <p:spPr>
          <a:xfrm>
            <a:off x="12045910" y="3928110"/>
            <a:ext cx="5194340" cy="2961322"/>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6" name="Text 14"/>
          <p:cNvSpPr/>
          <p:nvPr/>
        </p:nvSpPr>
        <p:spPr>
          <a:xfrm>
            <a:off x="12434531" y="4278630"/>
            <a:ext cx="4549613"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LAYER 3 · OUTPUT</a:t>
            </a:r>
            <a:endParaRPr lang="en-US" sz="1800" dirty="0">
              <a:latin typeface="Barlow" panose="00000500000000000000" pitchFamily="2" charset="0"/>
            </a:endParaRPr>
          </a:p>
        </p:txBody>
      </p:sp>
      <p:sp>
        <p:nvSpPr>
          <p:cNvPr id="17" name="Text 15"/>
          <p:cNvSpPr/>
          <p:nvPr/>
        </p:nvSpPr>
        <p:spPr>
          <a:xfrm>
            <a:off x="12434531" y="4751070"/>
            <a:ext cx="4549613" cy="347663"/>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950" b="1" kern="0" spc="-10" dirty="0">
                <a:solidFill>
                  <a:srgbClr val="1B2A4A"/>
                </a:solidFill>
                <a:latin typeface="Barlow" panose="00000500000000000000" pitchFamily="2" charset="0"/>
                <a:ea typeface="Barlow" pitchFamily="34" charset="-122"/>
                <a:cs typeface="Barlow" pitchFamily="34" charset="-120"/>
              </a:rPr>
              <a:t>Interoperable record</a:t>
            </a:r>
            <a:endParaRPr lang="en-US" sz="1950" dirty="0">
              <a:latin typeface="Barlow" panose="00000500000000000000" pitchFamily="2" charset="0"/>
            </a:endParaRPr>
          </a:p>
        </p:txBody>
      </p:sp>
      <p:sp>
        <p:nvSpPr>
          <p:cNvPr id="18" name="Text 16"/>
          <p:cNvSpPr/>
          <p:nvPr/>
        </p:nvSpPr>
        <p:spPr>
          <a:xfrm>
            <a:off x="12434531" y="5213032"/>
            <a:ext cx="4549613" cy="136398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800" kern="0" spc="-11" dirty="0">
                <a:solidFill>
                  <a:srgbClr val="556688"/>
                </a:solidFill>
                <a:latin typeface="Barlow" panose="00000500000000000000" pitchFamily="2" charset="0"/>
                <a:ea typeface="Barlow" pitchFamily="34" charset="-122"/>
                <a:cs typeface="Barlow" pitchFamily="34" charset="-120"/>
              </a:rPr>
              <a:t>FHIR R4 with LOINC, SNOMED CT, RxNorm, ORPHA. SHA-256 audit chain. Every consultation structured, exportable, tamper-detectable.</a:t>
            </a:r>
            <a:endParaRPr lang="en-US" sz="1800" dirty="0">
              <a:latin typeface="Barlow" panose="00000500000000000000" pitchFamily="2" charset="0"/>
            </a:endParaRPr>
          </a:p>
        </p:txBody>
      </p:sp>
      <p:sp>
        <p:nvSpPr>
          <p:cNvPr id="19" name="Shape 17"/>
          <p:cNvSpPr/>
          <p:nvPr/>
        </p:nvSpPr>
        <p:spPr>
          <a:xfrm>
            <a:off x="1047750" y="7894320"/>
            <a:ext cx="2514957" cy="487680"/>
          </a:xfrm>
          <a:prstGeom prst="roundRect">
            <a:avLst>
              <a:gd name="adj" fmla="val 50000"/>
            </a:avLst>
          </a:prstGeom>
          <a:solidFill>
            <a:srgbClr val="FBFAF6"/>
          </a:solidFill>
          <a:ln w="7620">
            <a:solidFill>
              <a:srgbClr val="CFC8B8"/>
            </a:solidFill>
            <a:prstDash val="solid"/>
          </a:ln>
        </p:spPr>
        <p:txBody>
          <a:bodyPr/>
          <a:lstStyle/>
          <a:p>
            <a:endParaRPr lang="en-US">
              <a:latin typeface="Barlow" panose="00000500000000000000" pitchFamily="2" charset="0"/>
            </a:endParaRPr>
          </a:p>
        </p:txBody>
      </p:sp>
      <p:sp>
        <p:nvSpPr>
          <p:cNvPr id="20" name="Text 18"/>
          <p:cNvSpPr/>
          <p:nvPr/>
        </p:nvSpPr>
        <p:spPr>
          <a:xfrm>
            <a:off x="1207770" y="7978140"/>
            <a:ext cx="2271117"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dirty="0">
                <a:solidFill>
                  <a:srgbClr val="2E3F5F"/>
                </a:solidFill>
                <a:latin typeface="Barlow" panose="00000500000000000000" pitchFamily="2" charset="0"/>
                <a:ea typeface="Barlow" pitchFamily="34" charset="-122"/>
                <a:cs typeface="Barlow" pitchFamily="34" charset="-120"/>
              </a:rPr>
              <a:t>voice transcript</a:t>
            </a:r>
            <a:endParaRPr lang="en-US" sz="1800" dirty="0">
              <a:latin typeface="Barlow" panose="00000500000000000000" pitchFamily="2" charset="0"/>
            </a:endParaRPr>
          </a:p>
        </p:txBody>
      </p:sp>
      <p:sp>
        <p:nvSpPr>
          <p:cNvPr id="21" name="Shape 19"/>
          <p:cNvSpPr/>
          <p:nvPr/>
        </p:nvSpPr>
        <p:spPr>
          <a:xfrm>
            <a:off x="3696057" y="7894320"/>
            <a:ext cx="2652236" cy="487680"/>
          </a:xfrm>
          <a:prstGeom prst="roundRect">
            <a:avLst>
              <a:gd name="adj" fmla="val 50000"/>
            </a:avLst>
          </a:prstGeom>
          <a:solidFill>
            <a:srgbClr val="FBFAF6"/>
          </a:solidFill>
          <a:ln w="7620">
            <a:solidFill>
              <a:srgbClr val="CFC8B8"/>
            </a:solidFill>
            <a:prstDash val="solid"/>
          </a:ln>
        </p:spPr>
        <p:txBody>
          <a:bodyPr/>
          <a:lstStyle/>
          <a:p>
            <a:endParaRPr lang="en-US">
              <a:latin typeface="Barlow" panose="00000500000000000000" pitchFamily="2" charset="0"/>
            </a:endParaRPr>
          </a:p>
        </p:txBody>
      </p:sp>
      <p:sp>
        <p:nvSpPr>
          <p:cNvPr id="22" name="Text 20"/>
          <p:cNvSpPr/>
          <p:nvPr/>
        </p:nvSpPr>
        <p:spPr>
          <a:xfrm>
            <a:off x="3856077" y="7978140"/>
            <a:ext cx="2411763"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dirty="0">
                <a:solidFill>
                  <a:srgbClr val="2E3F5F"/>
                </a:solidFill>
                <a:latin typeface="Barlow" panose="00000500000000000000" pitchFamily="2" charset="0"/>
                <a:ea typeface="Barlow" pitchFamily="34" charset="-122"/>
                <a:cs typeface="Barlow" pitchFamily="34" charset="-120"/>
              </a:rPr>
              <a:t>+ patient context</a:t>
            </a:r>
            <a:endParaRPr lang="en-US" sz="1800" dirty="0">
              <a:latin typeface="Barlow" panose="00000500000000000000" pitchFamily="2" charset="0"/>
            </a:endParaRPr>
          </a:p>
        </p:txBody>
      </p:sp>
      <p:sp>
        <p:nvSpPr>
          <p:cNvPr id="23" name="Shape 21"/>
          <p:cNvSpPr/>
          <p:nvPr/>
        </p:nvSpPr>
        <p:spPr>
          <a:xfrm>
            <a:off x="6481643" y="7894320"/>
            <a:ext cx="1691878" cy="487680"/>
          </a:xfrm>
          <a:prstGeom prst="roundRect">
            <a:avLst>
              <a:gd name="adj" fmla="val 50000"/>
            </a:avLst>
          </a:prstGeom>
          <a:solidFill>
            <a:srgbClr val="FBFAF6"/>
          </a:solidFill>
          <a:ln w="7620">
            <a:solidFill>
              <a:srgbClr val="CFC8B8"/>
            </a:solidFill>
            <a:prstDash val="solid"/>
          </a:ln>
        </p:spPr>
        <p:txBody>
          <a:bodyPr/>
          <a:lstStyle/>
          <a:p>
            <a:endParaRPr lang="en-US">
              <a:latin typeface="Barlow" panose="00000500000000000000" pitchFamily="2" charset="0"/>
            </a:endParaRPr>
          </a:p>
        </p:txBody>
      </p:sp>
      <p:sp>
        <p:nvSpPr>
          <p:cNvPr id="24" name="Text 22"/>
          <p:cNvSpPr/>
          <p:nvPr/>
        </p:nvSpPr>
        <p:spPr>
          <a:xfrm>
            <a:off x="6641663" y="7978140"/>
            <a:ext cx="1448038"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dirty="0">
                <a:solidFill>
                  <a:srgbClr val="2E3F5F"/>
                </a:solidFill>
                <a:latin typeface="Barlow" panose="00000500000000000000" pitchFamily="2" charset="0"/>
                <a:ea typeface="Barlow" pitchFamily="34" charset="-122"/>
                <a:cs typeface="Barlow" pitchFamily="34" charset="-120"/>
              </a:rPr>
              <a:t>+ live DDx</a:t>
            </a:r>
            <a:endParaRPr lang="en-US" sz="1800" dirty="0">
              <a:latin typeface="Barlow" panose="00000500000000000000" pitchFamily="2" charset="0"/>
            </a:endParaRPr>
          </a:p>
        </p:txBody>
      </p:sp>
      <p:sp>
        <p:nvSpPr>
          <p:cNvPr id="25" name="Shape 23"/>
          <p:cNvSpPr/>
          <p:nvPr/>
        </p:nvSpPr>
        <p:spPr>
          <a:xfrm>
            <a:off x="8306871" y="7894320"/>
            <a:ext cx="2926556" cy="487680"/>
          </a:xfrm>
          <a:prstGeom prst="roundRect">
            <a:avLst>
              <a:gd name="adj" fmla="val 50000"/>
            </a:avLst>
          </a:prstGeom>
          <a:solidFill>
            <a:srgbClr val="B87A4B">
              <a:alpha val="12000"/>
            </a:srgbClr>
          </a:solidFill>
          <a:ln w="7620">
            <a:solidFill>
              <a:srgbClr val="B87A4B"/>
            </a:solidFill>
            <a:prstDash val="solid"/>
          </a:ln>
        </p:spPr>
        <p:txBody>
          <a:bodyPr/>
          <a:lstStyle/>
          <a:p>
            <a:endParaRPr lang="en-US">
              <a:latin typeface="Barlow" panose="00000500000000000000" pitchFamily="2" charset="0"/>
            </a:endParaRPr>
          </a:p>
        </p:txBody>
      </p:sp>
      <p:sp>
        <p:nvSpPr>
          <p:cNvPr id="26" name="Text 24"/>
          <p:cNvSpPr/>
          <p:nvPr/>
        </p:nvSpPr>
        <p:spPr>
          <a:xfrm>
            <a:off x="8466891" y="7978140"/>
            <a:ext cx="2694313"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dirty="0">
                <a:solidFill>
                  <a:srgbClr val="8E5B35"/>
                </a:solidFill>
                <a:latin typeface="Barlow" panose="00000500000000000000" pitchFamily="2" charset="0"/>
                <a:ea typeface="Barlow" pitchFamily="34" charset="-122"/>
                <a:cs typeface="Barlow" pitchFamily="34" charset="-120"/>
              </a:rPr>
              <a:t>→ clinical analysis</a:t>
            </a:r>
            <a:endParaRPr lang="en-US" sz="1800" dirty="0">
              <a:latin typeface="Barlow" panose="00000500000000000000" pitchFamily="2" charset="0"/>
            </a:endParaRPr>
          </a:p>
        </p:txBody>
      </p:sp>
      <p:sp>
        <p:nvSpPr>
          <p:cNvPr id="27" name="Shape 25"/>
          <p:cNvSpPr/>
          <p:nvPr/>
        </p:nvSpPr>
        <p:spPr>
          <a:xfrm>
            <a:off x="11366778" y="7894320"/>
            <a:ext cx="2652236" cy="487680"/>
          </a:xfrm>
          <a:prstGeom prst="roundRect">
            <a:avLst>
              <a:gd name="adj" fmla="val 50000"/>
            </a:avLst>
          </a:prstGeom>
          <a:solidFill>
            <a:srgbClr val="B87A4B">
              <a:alpha val="12000"/>
            </a:srgbClr>
          </a:solidFill>
          <a:ln w="7620">
            <a:solidFill>
              <a:srgbClr val="B87A4B"/>
            </a:solidFill>
            <a:prstDash val="solid"/>
          </a:ln>
        </p:spPr>
        <p:txBody>
          <a:bodyPr/>
          <a:lstStyle/>
          <a:p>
            <a:endParaRPr lang="en-US">
              <a:latin typeface="Barlow" panose="00000500000000000000" pitchFamily="2" charset="0"/>
            </a:endParaRPr>
          </a:p>
        </p:txBody>
      </p:sp>
      <p:sp>
        <p:nvSpPr>
          <p:cNvPr id="28" name="Text 26"/>
          <p:cNvSpPr/>
          <p:nvPr/>
        </p:nvSpPr>
        <p:spPr>
          <a:xfrm>
            <a:off x="11526798" y="7978140"/>
            <a:ext cx="2411763"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dirty="0">
                <a:solidFill>
                  <a:srgbClr val="8E5B35"/>
                </a:solidFill>
                <a:latin typeface="Barlow" panose="00000500000000000000" pitchFamily="2" charset="0"/>
                <a:ea typeface="Barlow" pitchFamily="34" charset="-122"/>
                <a:cs typeface="Barlow" pitchFamily="34" charset="-120"/>
              </a:rPr>
              <a:t>→ pattern signals</a:t>
            </a:r>
            <a:endParaRPr lang="en-US" sz="1800" dirty="0">
              <a:latin typeface="Barlow" panose="00000500000000000000" pitchFamily="2" charset="0"/>
            </a:endParaRPr>
          </a:p>
        </p:txBody>
      </p:sp>
      <p:sp>
        <p:nvSpPr>
          <p:cNvPr id="29" name="Shape 27"/>
          <p:cNvSpPr/>
          <p:nvPr/>
        </p:nvSpPr>
        <p:spPr>
          <a:xfrm>
            <a:off x="1047750" y="8515350"/>
            <a:ext cx="3749635" cy="487680"/>
          </a:xfrm>
          <a:prstGeom prst="roundRect">
            <a:avLst>
              <a:gd name="adj" fmla="val 50000"/>
            </a:avLst>
          </a:prstGeom>
          <a:solidFill>
            <a:srgbClr val="1B2A4A"/>
          </a:solidFill>
          <a:ln w="7620">
            <a:solidFill>
              <a:srgbClr val="1B2A4A"/>
            </a:solidFill>
            <a:prstDash val="solid"/>
          </a:ln>
        </p:spPr>
        <p:txBody>
          <a:bodyPr/>
          <a:lstStyle/>
          <a:p>
            <a:endParaRPr lang="en-US">
              <a:latin typeface="Barlow" panose="00000500000000000000" pitchFamily="2" charset="0"/>
            </a:endParaRPr>
          </a:p>
        </p:txBody>
      </p:sp>
      <p:sp>
        <p:nvSpPr>
          <p:cNvPr id="30" name="Text 28"/>
          <p:cNvSpPr/>
          <p:nvPr/>
        </p:nvSpPr>
        <p:spPr>
          <a:xfrm>
            <a:off x="1207770" y="8599170"/>
            <a:ext cx="3542084"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dirty="0">
                <a:solidFill>
                  <a:srgbClr val="F5F2E8"/>
                </a:solidFill>
                <a:latin typeface="Barlow" panose="00000500000000000000" pitchFamily="2" charset="0"/>
                <a:ea typeface="Barlow" pitchFamily="34" charset="-122"/>
                <a:cs typeface="Barlow" pitchFamily="34" charset="-120"/>
              </a:rPr>
              <a:t>→ FHIR R4 · SHA-256 audit</a:t>
            </a:r>
            <a:endParaRPr lang="en-US" sz="1800" dirty="0">
              <a:latin typeface="Barlow" panose="00000500000000000000" pitchFamily="2" charset="0"/>
            </a:endParaRPr>
          </a:p>
        </p:txBody>
      </p:sp>
      <p:sp>
        <p:nvSpPr>
          <p:cNvPr id="31" name="Text 29"/>
          <p:cNvSpPr/>
          <p:nvPr/>
        </p:nvSpPr>
        <p:spPr>
          <a:xfrm>
            <a:off x="1047750" y="9269730"/>
            <a:ext cx="16678275" cy="369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i="1" kern="0" spc="-11" dirty="0">
                <a:solidFill>
                  <a:srgbClr val="556688"/>
                </a:solidFill>
                <a:latin typeface="Barlow" panose="00000500000000000000" pitchFamily="2" charset="0"/>
                <a:ea typeface="Barlow" pitchFamily="34" charset="-122"/>
                <a:cs typeface="Barlow" pitchFamily="34" charset="-120"/>
              </a:rPr>
              <a:t>The boring part is the feature.</a:t>
            </a:r>
            <a:endParaRPr lang="en-US" sz="1800" dirty="0">
              <a:latin typeface="Barlow" panose="00000500000000000000" pitchFamily="2" charset="0"/>
            </a:endParaRPr>
          </a:p>
        </p:txBody>
      </p:sp>
      <p:sp>
        <p:nvSpPr>
          <p:cNvPr id="32" name="Text 30"/>
          <p:cNvSpPr/>
          <p:nvPr/>
        </p:nvSpPr>
        <p:spPr>
          <a:xfrm>
            <a:off x="16501110" y="9624060"/>
            <a:ext cx="81534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800" dirty="0">
              <a:latin typeface="Barlow" panose="00000500000000000000"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E4DFD3"/>
        </a:solidFill>
        <a:effectLst/>
      </p:bgPr>
    </p:bg>
    <p:spTree>
      <p:nvGrpSpPr>
        <p:cNvPr id="1" name=""/>
        <p:cNvGrpSpPr/>
        <p:nvPr/>
      </p:nvGrpSpPr>
      <p:grpSpPr>
        <a:xfrm>
          <a:off x="0" y="0"/>
          <a:ext cx="0" cy="0"/>
          <a:chOff x="0" y="0"/>
          <a:chExt cx="0" cy="0"/>
        </a:xfrm>
      </p:grpSpPr>
      <p:sp>
        <p:nvSpPr>
          <p:cNvPr id="2" name="Shape 0"/>
          <p:cNvSpPr/>
          <p:nvPr/>
        </p:nvSpPr>
        <p:spPr>
          <a:xfrm>
            <a:off x="1047750" y="126111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3" name="Text 1"/>
          <p:cNvSpPr/>
          <p:nvPr/>
        </p:nvSpPr>
        <p:spPr>
          <a:xfrm>
            <a:off x="1047750" y="775335"/>
            <a:ext cx="1019056"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MOAT</a:t>
            </a:r>
            <a:endParaRPr lang="en-US" sz="1800" dirty="0">
              <a:latin typeface="Barlow" panose="00000500000000000000" pitchFamily="2" charset="0"/>
            </a:endParaRPr>
          </a:p>
        </p:txBody>
      </p:sp>
      <p:sp>
        <p:nvSpPr>
          <p:cNvPr id="4" name="Text 2"/>
          <p:cNvSpPr/>
          <p:nvPr/>
        </p:nvSpPr>
        <p:spPr>
          <a:xfrm>
            <a:off x="16441460" y="762000"/>
            <a:ext cx="874990" cy="3848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468" dirty="0">
                <a:solidFill>
                  <a:srgbClr val="1B2A4A"/>
                </a:solidFill>
                <a:latin typeface="Barlow" panose="00000500000000000000" pitchFamily="2" charset="0"/>
                <a:ea typeface="Barlow" pitchFamily="34" charset="-122"/>
                <a:cs typeface="Barlow" pitchFamily="34" charset="-120"/>
              </a:rPr>
              <a:t>LIET</a:t>
            </a:r>
            <a:endParaRPr lang="en-US" sz="1950" dirty="0">
              <a:latin typeface="Barlow" panose="00000500000000000000" pitchFamily="2" charset="0"/>
            </a:endParaRPr>
          </a:p>
        </p:txBody>
      </p:sp>
      <p:sp>
        <p:nvSpPr>
          <p:cNvPr id="5" name="Text 3"/>
          <p:cNvSpPr/>
          <p:nvPr/>
        </p:nvSpPr>
        <p:spPr>
          <a:xfrm>
            <a:off x="1047750" y="1687830"/>
            <a:ext cx="166782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07 · WHAT COMPOUNDS</a:t>
            </a:r>
            <a:endParaRPr lang="en-US" sz="1800" dirty="0">
              <a:latin typeface="Barlow" panose="00000500000000000000" pitchFamily="2" charset="0"/>
            </a:endParaRPr>
          </a:p>
        </p:txBody>
      </p:sp>
      <p:sp>
        <p:nvSpPr>
          <p:cNvPr id="6" name="Text 4"/>
          <p:cNvSpPr/>
          <p:nvPr/>
        </p:nvSpPr>
        <p:spPr>
          <a:xfrm>
            <a:off x="1047750" y="2236470"/>
            <a:ext cx="15697200" cy="127254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500" kern="0" spc="-81" dirty="0">
                <a:solidFill>
                  <a:srgbClr val="1B2A4A"/>
                </a:solidFill>
                <a:latin typeface="Barlow" panose="00000500000000000000" pitchFamily="2" charset="0"/>
                <a:ea typeface="Barlow" pitchFamily="34" charset="-122"/>
                <a:cs typeface="Barlow" pitchFamily="34" charset="-120"/>
              </a:rPr>
              <a:t>The moat is the </a:t>
            </a:r>
            <a:r>
              <a:rPr lang="en-US" sz="4500" i="1" kern="0" spc="-81" dirty="0">
                <a:solidFill>
                  <a:srgbClr val="B87A4B"/>
                </a:solidFill>
                <a:latin typeface="Barlow" panose="00000500000000000000" pitchFamily="2" charset="0"/>
                <a:ea typeface="Barlow" pitchFamily="34" charset="-122"/>
                <a:cs typeface="Barlow" pitchFamily="34" charset="-120"/>
              </a:rPr>
              <a:t>production-calibrated reasoning layer </a:t>
            </a:r>
            <a:r>
              <a:rPr lang="en-US" sz="4500" kern="0" spc="-81" dirty="0">
                <a:solidFill>
                  <a:srgbClr val="1B2A4A"/>
                </a:solidFill>
                <a:latin typeface="Barlow" panose="00000500000000000000" pitchFamily="2" charset="0"/>
                <a:ea typeface="Barlow" pitchFamily="34" charset="-122"/>
                <a:cs typeface="Barlow" pitchFamily="34" charset="-120"/>
              </a:rPr>
              <a:t>— not the patient data.</a:t>
            </a:r>
            <a:endParaRPr lang="en-US" sz="4500" dirty="0">
              <a:latin typeface="Barlow" panose="00000500000000000000" pitchFamily="2" charset="0"/>
            </a:endParaRPr>
          </a:p>
        </p:txBody>
      </p:sp>
      <p:sp>
        <p:nvSpPr>
          <p:cNvPr id="7" name="Text 5"/>
          <p:cNvSpPr/>
          <p:nvPr/>
        </p:nvSpPr>
        <p:spPr>
          <a:xfrm>
            <a:off x="1047750" y="3890010"/>
            <a:ext cx="7985950" cy="1581150"/>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2250" kern="0" spc="-11" dirty="0">
                <a:solidFill>
                  <a:srgbClr val="1B2A4A"/>
                </a:solidFill>
                <a:latin typeface="Barlow" panose="00000500000000000000" pitchFamily="2" charset="0"/>
                <a:ea typeface="Barlow" pitchFamily="34" charset="-122"/>
                <a:cs typeface="Barlow" pitchFamily="34" charset="-120"/>
              </a:rPr>
              <a:t>The public sector doesn't have structured primary-care workflows. Hospital EMRs don't reach the GP clinic. Foundation models were trained on someone else's records, in someone else's language.</a:t>
            </a:r>
            <a:endParaRPr lang="en-US" sz="2250" dirty="0">
              <a:latin typeface="Barlow" panose="00000500000000000000" pitchFamily="2" charset="0"/>
            </a:endParaRPr>
          </a:p>
        </p:txBody>
      </p:sp>
      <p:sp>
        <p:nvSpPr>
          <p:cNvPr id="8" name="Shape 6"/>
          <p:cNvSpPr/>
          <p:nvPr/>
        </p:nvSpPr>
        <p:spPr>
          <a:xfrm>
            <a:off x="1028700" y="5838825"/>
            <a:ext cx="7753350" cy="3813810"/>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9" name="Text 7"/>
          <p:cNvSpPr/>
          <p:nvPr/>
        </p:nvSpPr>
        <p:spPr>
          <a:xfrm>
            <a:off x="1417320" y="6189345"/>
            <a:ext cx="7185394"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WHAT COMPOUNDS WITH EVERY CONSULTATION</a:t>
            </a:r>
            <a:endParaRPr lang="en-US" sz="1800" dirty="0">
              <a:latin typeface="Barlow" panose="00000500000000000000" pitchFamily="2" charset="0"/>
            </a:endParaRPr>
          </a:p>
        </p:txBody>
      </p:sp>
      <p:sp>
        <p:nvSpPr>
          <p:cNvPr id="10" name="Text 8"/>
          <p:cNvSpPr/>
          <p:nvPr/>
        </p:nvSpPr>
        <p:spPr>
          <a:xfrm>
            <a:off x="1230630" y="6661785"/>
            <a:ext cx="7239000" cy="2678430"/>
          </a:xfrm>
          <a:prstGeom prst="rect">
            <a:avLst/>
          </a:prstGeom>
          <a:noFill/>
          <a:ln/>
        </p:spPr>
        <p:txBody>
          <a:bodyPr wrap="square" lIns="25400" tIns="25400" rIns="25400" bIns="25400" rtlCol="0" anchor="t">
            <a:normAutofit/>
          </a:bodyPr>
          <a:lstStyle/>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The schema — what we ask, in what order, in what language</a:t>
            </a:r>
            <a:endParaRPr lang="en-US" sz="2100" dirty="0">
              <a:latin typeface="Barlow" panose="00000500000000000000" pitchFamily="2" charset="0"/>
            </a:endParaRPr>
          </a:p>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The prompts — grounded, tested against real clinical speech</a:t>
            </a:r>
            <a:endParaRPr lang="en-US" sz="2100" dirty="0">
              <a:latin typeface="Barlow" panose="00000500000000000000" pitchFamily="2" charset="0"/>
            </a:endParaRPr>
          </a:p>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Pattern-engine calibration — tuned by real usage</a:t>
            </a:r>
            <a:endParaRPr lang="en-US" sz="2100" dirty="0">
              <a:latin typeface="Barlow" panose="00000500000000000000" pitchFamily="2" charset="0"/>
            </a:endParaRPr>
          </a:p>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De-identified aggregate view of primary care, at scale</a:t>
            </a:r>
            <a:endParaRPr lang="en-US" sz="2100" dirty="0">
              <a:latin typeface="Barlow" panose="00000500000000000000" pitchFamily="2" charset="0"/>
            </a:endParaRPr>
          </a:p>
        </p:txBody>
      </p:sp>
      <p:sp>
        <p:nvSpPr>
          <p:cNvPr id="11" name="Shape 9"/>
          <p:cNvSpPr/>
          <p:nvPr/>
        </p:nvSpPr>
        <p:spPr>
          <a:xfrm>
            <a:off x="9486900" y="3890010"/>
            <a:ext cx="7753350" cy="5711190"/>
          </a:xfrm>
          <a:prstGeom prst="rect">
            <a:avLst/>
          </a:prstGeom>
          <a:solidFill>
            <a:srgbClr val="B87A4B">
              <a:alpha val="12000"/>
            </a:srgbClr>
          </a:solidFill>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2" name="Shape 10"/>
          <p:cNvSpPr/>
          <p:nvPr/>
        </p:nvSpPr>
        <p:spPr>
          <a:xfrm>
            <a:off x="9486900" y="9593580"/>
            <a:ext cx="7753350" cy="9525"/>
          </a:xfrm>
          <a:prstGeom prst="rect">
            <a:avLst/>
          </a:prstGeom>
          <a:solidFill>
            <a:srgbClr val="B87A4B"/>
          </a:solidFill>
          <a:ln/>
        </p:spPr>
        <p:txBody>
          <a:bodyPr/>
          <a:lstStyle/>
          <a:p>
            <a:endParaRPr lang="en-US">
              <a:latin typeface="Barlow" panose="00000500000000000000" pitchFamily="2" charset="0"/>
            </a:endParaRPr>
          </a:p>
        </p:txBody>
      </p:sp>
      <p:sp>
        <p:nvSpPr>
          <p:cNvPr id="13" name="Shape 11"/>
          <p:cNvSpPr/>
          <p:nvPr/>
        </p:nvSpPr>
        <p:spPr>
          <a:xfrm>
            <a:off x="9486900" y="3890010"/>
            <a:ext cx="7753350" cy="9525"/>
          </a:xfrm>
          <a:prstGeom prst="rect">
            <a:avLst/>
          </a:prstGeom>
          <a:solidFill>
            <a:srgbClr val="B87A4B"/>
          </a:solidFill>
          <a:ln/>
        </p:spPr>
        <p:txBody>
          <a:bodyPr/>
          <a:lstStyle/>
          <a:p>
            <a:endParaRPr lang="en-US">
              <a:latin typeface="Barlow" panose="00000500000000000000" pitchFamily="2" charset="0"/>
            </a:endParaRPr>
          </a:p>
        </p:txBody>
      </p:sp>
      <p:sp>
        <p:nvSpPr>
          <p:cNvPr id="14" name="Shape 12"/>
          <p:cNvSpPr/>
          <p:nvPr/>
        </p:nvSpPr>
        <p:spPr>
          <a:xfrm>
            <a:off x="9486900" y="3890010"/>
            <a:ext cx="22860" cy="5711190"/>
          </a:xfrm>
          <a:prstGeom prst="rect">
            <a:avLst/>
          </a:prstGeom>
          <a:solidFill>
            <a:srgbClr val="B87A4B"/>
          </a:solidFill>
          <a:ln/>
        </p:spPr>
        <p:txBody>
          <a:bodyPr/>
          <a:lstStyle/>
          <a:p>
            <a:endParaRPr lang="en-US">
              <a:latin typeface="Barlow" panose="00000500000000000000" pitchFamily="2" charset="0"/>
            </a:endParaRPr>
          </a:p>
        </p:txBody>
      </p:sp>
      <p:sp>
        <p:nvSpPr>
          <p:cNvPr id="15" name="Shape 13"/>
          <p:cNvSpPr/>
          <p:nvPr/>
        </p:nvSpPr>
        <p:spPr>
          <a:xfrm>
            <a:off x="17232630" y="3890010"/>
            <a:ext cx="9525" cy="5711190"/>
          </a:xfrm>
          <a:prstGeom prst="rect">
            <a:avLst/>
          </a:prstGeom>
          <a:solidFill>
            <a:srgbClr val="B87A4B"/>
          </a:solidFill>
          <a:ln/>
        </p:spPr>
        <p:txBody>
          <a:bodyPr/>
          <a:lstStyle/>
          <a:p>
            <a:endParaRPr lang="en-US">
              <a:latin typeface="Barlow" panose="00000500000000000000" pitchFamily="2" charset="0"/>
            </a:endParaRPr>
          </a:p>
        </p:txBody>
      </p:sp>
      <p:sp>
        <p:nvSpPr>
          <p:cNvPr id="16" name="Text 14"/>
          <p:cNvSpPr/>
          <p:nvPr/>
        </p:nvSpPr>
        <p:spPr>
          <a:xfrm>
            <a:off x="9890760" y="4240530"/>
            <a:ext cx="7169696"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WHAT STAYS WITH THE HOSPITAL</a:t>
            </a:r>
            <a:endParaRPr lang="en-US" sz="1800" dirty="0">
              <a:latin typeface="Barlow" panose="00000500000000000000" pitchFamily="2" charset="0"/>
            </a:endParaRPr>
          </a:p>
        </p:txBody>
      </p:sp>
      <p:sp>
        <p:nvSpPr>
          <p:cNvPr id="17" name="Text 15"/>
          <p:cNvSpPr/>
          <p:nvPr/>
        </p:nvSpPr>
        <p:spPr>
          <a:xfrm>
            <a:off x="10214610" y="4770120"/>
            <a:ext cx="6845846" cy="41148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00" b="1" kern="0" spc="-11" dirty="0">
                <a:solidFill>
                  <a:srgbClr val="1B2A4A"/>
                </a:solidFill>
                <a:latin typeface="Barlow" panose="00000500000000000000" pitchFamily="2" charset="0"/>
                <a:ea typeface="Barlow" pitchFamily="34" charset="-122"/>
                <a:cs typeface="Barlow" pitchFamily="34" charset="-120"/>
              </a:rPr>
              <a:t>Patient-identifiable clinical data </a:t>
            </a:r>
            <a:r>
              <a:rPr lang="en-US" sz="2100" kern="0" spc="-11" dirty="0">
                <a:solidFill>
                  <a:srgbClr val="2E3F5F"/>
                </a:solidFill>
                <a:latin typeface="Barlow" panose="00000500000000000000" pitchFamily="2" charset="0"/>
                <a:ea typeface="Barlow" pitchFamily="34" charset="-122"/>
                <a:cs typeface="Barlow" pitchFamily="34" charset="-120"/>
              </a:rPr>
              <a:t>— always</a:t>
            </a:r>
            <a:endParaRPr lang="en-US" sz="2100" dirty="0">
              <a:latin typeface="Barlow" panose="00000500000000000000" pitchFamily="2" charset="0"/>
            </a:endParaRPr>
          </a:p>
        </p:txBody>
      </p:sp>
      <p:sp>
        <p:nvSpPr>
          <p:cNvPr id="18" name="Text 16"/>
          <p:cNvSpPr/>
          <p:nvPr/>
        </p:nvSpPr>
        <p:spPr>
          <a:xfrm>
            <a:off x="10214610" y="5276850"/>
            <a:ext cx="6845846" cy="41148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Medical record ownership — unchanged</a:t>
            </a:r>
            <a:endParaRPr lang="en-US" sz="2100" dirty="0">
              <a:latin typeface="Barlow" panose="00000500000000000000" pitchFamily="2" charset="0"/>
            </a:endParaRPr>
          </a:p>
        </p:txBody>
      </p:sp>
      <p:sp>
        <p:nvSpPr>
          <p:cNvPr id="19" name="Text 17"/>
          <p:cNvSpPr/>
          <p:nvPr/>
        </p:nvSpPr>
        <p:spPr>
          <a:xfrm>
            <a:off x="10214610" y="5783580"/>
            <a:ext cx="6845846" cy="784860"/>
          </a:xfrm>
          <a:prstGeom prst="rect">
            <a:avLst/>
          </a:prstGeom>
          <a:noFill/>
          <a:ln/>
        </p:spPr>
        <p:txBody>
          <a:bodyPr wrap="square" lIns="25400" tIns="25400" rIns="25400" bIns="25400" rtlCol="0" anchor="t">
            <a:normAutofit/>
          </a:bodyPr>
          <a:lstStyle/>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Consent control — patient-led, GDPR + Luxembourg law</a:t>
            </a:r>
            <a:endParaRPr lang="en-US" sz="2100" dirty="0">
              <a:latin typeface="Barlow" panose="00000500000000000000" pitchFamily="2" charset="0"/>
            </a:endParaRPr>
          </a:p>
        </p:txBody>
      </p:sp>
      <p:sp>
        <p:nvSpPr>
          <p:cNvPr id="20" name="Shape 18"/>
          <p:cNvSpPr/>
          <p:nvPr/>
        </p:nvSpPr>
        <p:spPr>
          <a:xfrm>
            <a:off x="9890760" y="6873240"/>
            <a:ext cx="571500" cy="19050"/>
          </a:xfrm>
          <a:prstGeom prst="rect">
            <a:avLst/>
          </a:prstGeom>
          <a:solidFill>
            <a:srgbClr val="B87A4B"/>
          </a:solidFill>
          <a:ln/>
        </p:spPr>
        <p:txBody>
          <a:bodyPr/>
          <a:lstStyle/>
          <a:p>
            <a:endParaRPr lang="en-US">
              <a:latin typeface="Barlow" panose="00000500000000000000" pitchFamily="2" charset="0"/>
            </a:endParaRPr>
          </a:p>
        </p:txBody>
      </p:sp>
      <p:sp>
        <p:nvSpPr>
          <p:cNvPr id="21" name="Text 19"/>
          <p:cNvSpPr/>
          <p:nvPr/>
        </p:nvSpPr>
        <p:spPr>
          <a:xfrm>
            <a:off x="9890760" y="7044690"/>
            <a:ext cx="7169696"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i="1" kern="0" spc="-11" dirty="0">
                <a:solidFill>
                  <a:srgbClr val="2E3F5F"/>
                </a:solidFill>
                <a:latin typeface="Barlow" panose="00000500000000000000" pitchFamily="2" charset="0"/>
                <a:ea typeface="Barlow" pitchFamily="34" charset="-122"/>
                <a:cs typeface="Barlow" pitchFamily="34" charset="-120"/>
              </a:rPr>
              <a:t>No patient-identifiable data leaves the hospital's control without explicit consent.</a:t>
            </a:r>
            <a:endParaRPr lang="en-US" sz="1800" dirty="0">
              <a:latin typeface="Barlow" panose="00000500000000000000" pitchFamily="2" charset="0"/>
            </a:endParaRPr>
          </a:p>
        </p:txBody>
      </p:sp>
      <p:sp>
        <p:nvSpPr>
          <p:cNvPr id="22" name="Text 20"/>
          <p:cNvSpPr/>
          <p:nvPr/>
        </p:nvSpPr>
        <p:spPr>
          <a:xfrm>
            <a:off x="16508016" y="9624060"/>
            <a:ext cx="808434"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800" dirty="0">
              <a:latin typeface="Barlow" panose="00000500000000000000"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1047750" y="126111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3" name="Text 1"/>
          <p:cNvSpPr/>
          <p:nvPr/>
        </p:nvSpPr>
        <p:spPr>
          <a:xfrm>
            <a:off x="1047750" y="775335"/>
            <a:ext cx="2527816"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ECOSYSTEM FIT</a:t>
            </a:r>
            <a:endParaRPr lang="en-US" sz="1800" dirty="0">
              <a:latin typeface="Barlow" panose="00000500000000000000" pitchFamily="2" charset="0"/>
            </a:endParaRPr>
          </a:p>
        </p:txBody>
      </p:sp>
      <p:sp>
        <p:nvSpPr>
          <p:cNvPr id="4" name="Text 2"/>
          <p:cNvSpPr/>
          <p:nvPr/>
        </p:nvSpPr>
        <p:spPr>
          <a:xfrm>
            <a:off x="16441460" y="762000"/>
            <a:ext cx="874990" cy="3848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468" dirty="0">
                <a:solidFill>
                  <a:srgbClr val="1B2A4A"/>
                </a:solidFill>
                <a:latin typeface="Barlow" panose="00000500000000000000" pitchFamily="2" charset="0"/>
                <a:ea typeface="Barlow" pitchFamily="34" charset="-122"/>
                <a:cs typeface="Barlow" pitchFamily="34" charset="-120"/>
              </a:rPr>
              <a:t>LIET</a:t>
            </a:r>
            <a:endParaRPr lang="en-US" sz="1950" dirty="0">
              <a:latin typeface="Barlow" panose="00000500000000000000" pitchFamily="2" charset="0"/>
            </a:endParaRPr>
          </a:p>
        </p:txBody>
      </p:sp>
      <p:sp>
        <p:nvSpPr>
          <p:cNvPr id="5" name="Text 3"/>
          <p:cNvSpPr/>
          <p:nvPr/>
        </p:nvSpPr>
        <p:spPr>
          <a:xfrm>
            <a:off x="1047750" y="1687830"/>
            <a:ext cx="166782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08 · LUXEMBOURG DEMAND ALREADY EXISTS</a:t>
            </a:r>
            <a:endParaRPr lang="en-US" sz="1800" dirty="0">
              <a:latin typeface="Barlow" panose="00000500000000000000" pitchFamily="2" charset="0"/>
            </a:endParaRPr>
          </a:p>
        </p:txBody>
      </p:sp>
      <p:sp>
        <p:nvSpPr>
          <p:cNvPr id="6" name="Text 4"/>
          <p:cNvSpPr/>
          <p:nvPr/>
        </p:nvSpPr>
        <p:spPr>
          <a:xfrm>
            <a:off x="1047750" y="2236470"/>
            <a:ext cx="15697200" cy="127254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500" kern="0" spc="-81" dirty="0">
                <a:solidFill>
                  <a:srgbClr val="1B2A4A"/>
                </a:solidFill>
                <a:latin typeface="Barlow" panose="00000500000000000000" pitchFamily="2" charset="0"/>
                <a:ea typeface="Barlow" pitchFamily="34" charset="-122"/>
                <a:cs typeface="Barlow" pitchFamily="34" charset="-120"/>
              </a:rPr>
              <a:t>Structured longitudinal ambulatory data serves </a:t>
            </a:r>
            <a:r>
              <a:rPr lang="en-US" sz="4500" i="1" kern="0" spc="-81" dirty="0">
                <a:solidFill>
                  <a:srgbClr val="B87A4B"/>
                </a:solidFill>
                <a:latin typeface="Barlow" panose="00000500000000000000" pitchFamily="2" charset="0"/>
                <a:ea typeface="Barlow" pitchFamily="34" charset="-122"/>
                <a:cs typeface="Barlow" pitchFamily="34" charset="-120"/>
              </a:rPr>
              <a:t>three downstream demands </a:t>
            </a:r>
            <a:r>
              <a:rPr lang="en-US" sz="4500" kern="0" spc="-81" dirty="0">
                <a:solidFill>
                  <a:srgbClr val="1B2A4A"/>
                </a:solidFill>
                <a:latin typeface="Barlow" panose="00000500000000000000" pitchFamily="2" charset="0"/>
                <a:ea typeface="Barlow" pitchFamily="34" charset="-122"/>
                <a:cs typeface="Barlow" pitchFamily="34" charset="-120"/>
              </a:rPr>
              <a:t>Luxembourg already has.</a:t>
            </a:r>
            <a:endParaRPr lang="en-US" sz="4500" dirty="0">
              <a:latin typeface="Barlow" panose="00000500000000000000" pitchFamily="2" charset="0"/>
            </a:endParaRPr>
          </a:p>
        </p:txBody>
      </p:sp>
      <p:sp>
        <p:nvSpPr>
          <p:cNvPr id="7" name="Shape 5"/>
          <p:cNvSpPr/>
          <p:nvPr/>
        </p:nvSpPr>
        <p:spPr>
          <a:xfrm>
            <a:off x="1047750" y="3890010"/>
            <a:ext cx="5194221" cy="3323272"/>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8" name="Text 6"/>
          <p:cNvSpPr/>
          <p:nvPr/>
        </p:nvSpPr>
        <p:spPr>
          <a:xfrm>
            <a:off x="1436370" y="4240530"/>
            <a:ext cx="454949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01 · THE DSP</a:t>
            </a:r>
            <a:endParaRPr lang="en-US" sz="1800" dirty="0">
              <a:latin typeface="Barlow" panose="00000500000000000000" pitchFamily="2" charset="0"/>
            </a:endParaRPr>
          </a:p>
        </p:txBody>
      </p:sp>
      <p:sp>
        <p:nvSpPr>
          <p:cNvPr id="9" name="Text 7"/>
          <p:cNvSpPr/>
          <p:nvPr/>
        </p:nvSpPr>
        <p:spPr>
          <a:xfrm>
            <a:off x="1436370" y="4712970"/>
            <a:ext cx="4549490" cy="347663"/>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950" b="1" kern="0" spc="-10" dirty="0">
                <a:solidFill>
                  <a:srgbClr val="1B2A4A"/>
                </a:solidFill>
                <a:latin typeface="Barlow" panose="00000500000000000000" pitchFamily="2" charset="0"/>
                <a:ea typeface="Barlow" pitchFamily="34" charset="-122"/>
                <a:cs typeface="Barlow" pitchFamily="34" charset="-120"/>
              </a:rPr>
              <a:t>Solves the empty-dossier problem.</a:t>
            </a:r>
            <a:endParaRPr lang="en-US" sz="1950" dirty="0">
              <a:latin typeface="Barlow" panose="00000500000000000000" pitchFamily="2" charset="0"/>
            </a:endParaRPr>
          </a:p>
        </p:txBody>
      </p:sp>
      <p:sp>
        <p:nvSpPr>
          <p:cNvPr id="10" name="Text 8"/>
          <p:cNvSpPr/>
          <p:nvPr/>
        </p:nvSpPr>
        <p:spPr>
          <a:xfrm>
            <a:off x="1436370" y="5174932"/>
            <a:ext cx="4549490" cy="1695450"/>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1" dirty="0">
                <a:solidFill>
                  <a:srgbClr val="556688"/>
                </a:solidFill>
                <a:latin typeface="Barlow" panose="00000500000000000000" pitchFamily="2" charset="0"/>
                <a:ea typeface="Barlow" pitchFamily="34" charset="-122"/>
                <a:cs typeface="Barlow" pitchFamily="34" charset="-120"/>
              </a:rPr>
              <a:t>DSP-ready FHIR documents from every consultation. Certified push follows Agence eSanté's certification on its standard timeline — structured output is ready day one.</a:t>
            </a:r>
            <a:endParaRPr lang="en-US" sz="1800" dirty="0">
              <a:latin typeface="Barlow" panose="00000500000000000000" pitchFamily="2" charset="0"/>
            </a:endParaRPr>
          </a:p>
        </p:txBody>
      </p:sp>
      <p:sp>
        <p:nvSpPr>
          <p:cNvPr id="11" name="Shape 9"/>
          <p:cNvSpPr/>
          <p:nvPr/>
        </p:nvSpPr>
        <p:spPr>
          <a:xfrm>
            <a:off x="6546771" y="3890010"/>
            <a:ext cx="5194340" cy="3323272"/>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2" name="Text 10"/>
          <p:cNvSpPr/>
          <p:nvPr/>
        </p:nvSpPr>
        <p:spPr>
          <a:xfrm>
            <a:off x="6935391" y="4240530"/>
            <a:ext cx="4549613"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02 · HDAB-LU (MARCH 2027)</a:t>
            </a:r>
            <a:endParaRPr lang="en-US" sz="1800" dirty="0">
              <a:latin typeface="Barlow" panose="00000500000000000000" pitchFamily="2" charset="0"/>
            </a:endParaRPr>
          </a:p>
        </p:txBody>
      </p:sp>
      <p:sp>
        <p:nvSpPr>
          <p:cNvPr id="13" name="Text 11"/>
          <p:cNvSpPr/>
          <p:nvPr/>
        </p:nvSpPr>
        <p:spPr>
          <a:xfrm>
            <a:off x="6935391" y="4712970"/>
            <a:ext cx="4549613" cy="347663"/>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950" b="1" kern="0" spc="-10" dirty="0">
                <a:solidFill>
                  <a:srgbClr val="1B2A4A"/>
                </a:solidFill>
                <a:latin typeface="Barlow" panose="00000500000000000000" pitchFamily="2" charset="0"/>
                <a:ea typeface="Barlow" pitchFamily="34" charset="-122"/>
                <a:cs typeface="Barlow" pitchFamily="34" charset="-120"/>
              </a:rPr>
              <a:t>EHDS readiness.</a:t>
            </a:r>
            <a:endParaRPr lang="en-US" sz="1950" dirty="0">
              <a:latin typeface="Barlow" panose="00000500000000000000" pitchFamily="2" charset="0"/>
            </a:endParaRPr>
          </a:p>
        </p:txBody>
      </p:sp>
      <p:sp>
        <p:nvSpPr>
          <p:cNvPr id="14" name="Text 12"/>
          <p:cNvSpPr/>
          <p:nvPr/>
        </p:nvSpPr>
        <p:spPr>
          <a:xfrm>
            <a:off x="6935391" y="5174932"/>
            <a:ext cx="4549613" cy="1725930"/>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1" dirty="0">
                <a:solidFill>
                  <a:srgbClr val="556688"/>
                </a:solidFill>
                <a:latin typeface="Barlow" panose="00000500000000000000" pitchFamily="2" charset="0"/>
                <a:ea typeface="Barlow" pitchFamily="34" charset="-122"/>
                <a:cs typeface="Barlow" pitchFamily="34" charset="-120"/>
              </a:rPr>
              <a:t>Luxembourg must designate a Health Data Access Body by March 2027. </a:t>
            </a:r>
            <a:r>
              <a:rPr lang="en-US" sz="1800" b="1" kern="0" spc="-11" baseline="30000" dirty="0">
                <a:solidFill>
                  <a:srgbClr val="B87A4B"/>
                </a:solidFill>
                <a:latin typeface="Barlow" panose="00000500000000000000" pitchFamily="2" charset="0"/>
                <a:ea typeface="Barlow" pitchFamily="34" charset="-122"/>
                <a:cs typeface="Barlow" pitchFamily="34" charset="-120"/>
              </a:rPr>
              <a:t>12 </a:t>
            </a:r>
            <a:r>
              <a:rPr lang="en-US" sz="1800" kern="0" spc="-11" dirty="0">
                <a:solidFill>
                  <a:srgbClr val="556688"/>
                </a:solidFill>
                <a:latin typeface="Barlow" panose="00000500000000000000" pitchFamily="2" charset="0"/>
                <a:ea typeface="Barlow" pitchFamily="34" charset="-122"/>
                <a:cs typeface="Barlow" pitchFamily="34" charset="-120"/>
              </a:rPr>
              <a:t>It will need primary-care data, patient-consented. LIET is the upstream capture layer that supplies it.</a:t>
            </a:r>
            <a:endParaRPr lang="en-US" sz="1800" dirty="0">
              <a:latin typeface="Barlow" panose="00000500000000000000" pitchFamily="2" charset="0"/>
            </a:endParaRPr>
          </a:p>
        </p:txBody>
      </p:sp>
      <p:sp>
        <p:nvSpPr>
          <p:cNvPr id="15" name="Shape 13"/>
          <p:cNvSpPr/>
          <p:nvPr/>
        </p:nvSpPr>
        <p:spPr>
          <a:xfrm>
            <a:off x="12045910" y="3890010"/>
            <a:ext cx="5194340" cy="3323272"/>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6" name="Text 14"/>
          <p:cNvSpPr/>
          <p:nvPr/>
        </p:nvSpPr>
        <p:spPr>
          <a:xfrm>
            <a:off x="12434531" y="4240530"/>
            <a:ext cx="4549613"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03 · LIH PRECISION MEDICINE</a:t>
            </a:r>
            <a:endParaRPr lang="en-US" sz="1800" dirty="0">
              <a:latin typeface="Barlow" panose="00000500000000000000" pitchFamily="2" charset="0"/>
            </a:endParaRPr>
          </a:p>
        </p:txBody>
      </p:sp>
      <p:sp>
        <p:nvSpPr>
          <p:cNvPr id="17" name="Text 15"/>
          <p:cNvSpPr/>
          <p:nvPr/>
        </p:nvSpPr>
        <p:spPr>
          <a:xfrm>
            <a:off x="12434531" y="4712970"/>
            <a:ext cx="4549613" cy="65722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950" b="1" kern="0" spc="-10" dirty="0">
                <a:solidFill>
                  <a:srgbClr val="1B2A4A"/>
                </a:solidFill>
                <a:latin typeface="Barlow" panose="00000500000000000000" pitchFamily="2" charset="0"/>
                <a:ea typeface="Barlow" pitchFamily="34" charset="-122"/>
                <a:cs typeface="Barlow" pitchFamily="34" charset="-120"/>
              </a:rPr>
              <a:t>Clinnova · Colive Voice · Dataspace4Health · NCER-PD.</a:t>
            </a:r>
            <a:endParaRPr lang="en-US" sz="1950" dirty="0">
              <a:latin typeface="Barlow" panose="00000500000000000000" pitchFamily="2" charset="0"/>
            </a:endParaRPr>
          </a:p>
        </p:txBody>
      </p:sp>
      <p:sp>
        <p:nvSpPr>
          <p:cNvPr id="18" name="Text 16"/>
          <p:cNvSpPr/>
          <p:nvPr/>
        </p:nvSpPr>
        <p:spPr>
          <a:xfrm>
            <a:off x="12434531" y="5484495"/>
            <a:ext cx="4549613" cy="139446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kern="0" spc="-11" dirty="0">
                <a:solidFill>
                  <a:srgbClr val="556688"/>
                </a:solidFill>
                <a:latin typeface="Barlow" panose="00000500000000000000" pitchFamily="2" charset="0"/>
                <a:ea typeface="Barlow" pitchFamily="34" charset="-122"/>
                <a:cs typeface="Barlow" pitchFamily="34" charset="-120"/>
              </a:rPr>
              <a:t>These programmes need structured longitudinal ambulatory data they currently don't have. </a:t>
            </a:r>
            <a:r>
              <a:rPr lang="en-US" sz="1800" b="1" kern="0" spc="-11" baseline="30000" dirty="0">
                <a:solidFill>
                  <a:srgbClr val="B87A4B"/>
                </a:solidFill>
                <a:latin typeface="Barlow" panose="00000500000000000000" pitchFamily="2" charset="0"/>
                <a:ea typeface="Barlow" pitchFamily="34" charset="-122"/>
                <a:cs typeface="Barlow" pitchFamily="34" charset="-120"/>
              </a:rPr>
              <a:t>10 </a:t>
            </a:r>
            <a:r>
              <a:rPr lang="en-US" sz="1800" kern="0" spc="-11" dirty="0">
                <a:solidFill>
                  <a:srgbClr val="556688"/>
                </a:solidFill>
                <a:latin typeface="Barlow" panose="00000500000000000000" pitchFamily="2" charset="0"/>
                <a:ea typeface="Barlow" pitchFamily="34" charset="-122"/>
                <a:cs typeface="Barlow" pitchFamily="34" charset="-120"/>
              </a:rPr>
              <a:t>LIET generates it as a by-product of routine clinical use.</a:t>
            </a:r>
            <a:endParaRPr lang="en-US" sz="1800" dirty="0">
              <a:latin typeface="Barlow" panose="00000500000000000000" pitchFamily="2" charset="0"/>
            </a:endParaRPr>
          </a:p>
        </p:txBody>
      </p:sp>
      <p:sp>
        <p:nvSpPr>
          <p:cNvPr id="19" name="Shape 17"/>
          <p:cNvSpPr/>
          <p:nvPr/>
        </p:nvSpPr>
        <p:spPr>
          <a:xfrm>
            <a:off x="1047750" y="7518082"/>
            <a:ext cx="16192500" cy="2026920"/>
          </a:xfrm>
          <a:prstGeom prst="rect">
            <a:avLst/>
          </a:prstGeom>
          <a:solidFill>
            <a:srgbClr val="EDE9E1"/>
          </a:solidFill>
          <a:ln w="7620">
            <a:solidFill>
              <a:srgbClr val="E1DBCB"/>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20" name="Text 18"/>
          <p:cNvSpPr/>
          <p:nvPr/>
        </p:nvSpPr>
        <p:spPr>
          <a:xfrm>
            <a:off x="1360170" y="7735253"/>
            <a:ext cx="1603469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ADJACENT PLAYERS — WE COMPLEMENT, NOT COMPETE</a:t>
            </a:r>
            <a:endParaRPr lang="en-US" sz="1800" dirty="0">
              <a:latin typeface="Barlow" panose="00000500000000000000" pitchFamily="2" charset="0"/>
            </a:endParaRPr>
          </a:p>
        </p:txBody>
      </p:sp>
      <p:sp>
        <p:nvSpPr>
          <p:cNvPr id="21" name="Text 19"/>
          <p:cNvSpPr/>
          <p:nvPr/>
        </p:nvSpPr>
        <p:spPr>
          <a:xfrm>
            <a:off x="1360170" y="8302943"/>
            <a:ext cx="5083195" cy="1062990"/>
          </a:xfrm>
          <a:prstGeom prst="rect">
            <a:avLst/>
          </a:prstGeom>
          <a:noFill/>
          <a:ln/>
        </p:spPr>
        <p:txBody>
          <a:bodyPr wrap="square" lIns="25400" tIns="25400" rIns="25400" bIns="25400" rtlCol="0" anchor="t">
            <a:normAutofit/>
          </a:bodyPr>
          <a:lstStyle/>
          <a:p>
            <a:pPr marL="0" indent="0" algn="l">
              <a:lnSpc>
                <a:spcPct val="145000"/>
              </a:lnSpc>
              <a:buNone/>
            </a:pPr>
            <a:r>
              <a:rPr lang="en-US" sz="1800" b="1" kern="0" spc="-11" dirty="0">
                <a:solidFill>
                  <a:srgbClr val="1B2A4A"/>
                </a:solidFill>
                <a:latin typeface="Barlow" panose="00000500000000000000" pitchFamily="2" charset="0"/>
                <a:ea typeface="Barlow" pitchFamily="34" charset="-122"/>
                <a:cs typeface="Barlow" pitchFamily="34" charset="-120"/>
              </a:rPr>
              <a:t>Agence eSanté </a:t>
            </a:r>
            <a:r>
              <a:rPr lang="en-US" sz="1800" kern="0" spc="-11" dirty="0">
                <a:solidFill>
                  <a:srgbClr val="556688"/>
                </a:solidFill>
                <a:latin typeface="Barlow" panose="00000500000000000000" pitchFamily="2" charset="0"/>
                <a:ea typeface="Barlow" pitchFamily="34" charset="-122"/>
                <a:cs typeface="Barlow" pitchFamily="34" charset="-120"/>
              </a:rPr>
              <a:t>builds the filing cabinet (DSP). We are the pen that writes what goes in.</a:t>
            </a:r>
            <a:endParaRPr lang="en-US" sz="1800" dirty="0">
              <a:latin typeface="Barlow" panose="00000500000000000000" pitchFamily="2" charset="0"/>
            </a:endParaRPr>
          </a:p>
        </p:txBody>
      </p:sp>
      <p:sp>
        <p:nvSpPr>
          <p:cNvPr id="22" name="Text 20"/>
          <p:cNvSpPr/>
          <p:nvPr/>
        </p:nvSpPr>
        <p:spPr>
          <a:xfrm>
            <a:off x="6676311" y="8302943"/>
            <a:ext cx="5083318" cy="106299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b="1" kern="0" spc="-11" dirty="0">
                <a:solidFill>
                  <a:srgbClr val="1B2A4A"/>
                </a:solidFill>
                <a:latin typeface="Barlow" panose="00000500000000000000" pitchFamily="2" charset="0"/>
                <a:ea typeface="Barlow" pitchFamily="34" charset="-122"/>
                <a:cs typeface="Barlow" pitchFamily="34" charset="-120"/>
              </a:rPr>
              <a:t>ITTM </a:t>
            </a:r>
            <a:r>
              <a:rPr lang="en-US" sz="1800" kern="0" spc="-11" dirty="0">
                <a:solidFill>
                  <a:srgbClr val="556688"/>
                </a:solidFill>
                <a:latin typeface="Barlow" panose="00000500000000000000" pitchFamily="2" charset="0"/>
                <a:ea typeface="Barlow" pitchFamily="34" charset="-122"/>
                <a:cs typeface="Barlow" pitchFamily="34" charset="-120"/>
              </a:rPr>
              <a:t>maps existing clinical data to OMOP-CDM research standards. </a:t>
            </a:r>
            <a:r>
              <a:rPr lang="en-US" sz="1800" b="1" kern="0" spc="-11" baseline="30000" dirty="0">
                <a:solidFill>
                  <a:srgbClr val="B87A4B"/>
                </a:solidFill>
                <a:latin typeface="Barlow" panose="00000500000000000000" pitchFamily="2" charset="0"/>
                <a:ea typeface="Barlow" pitchFamily="34" charset="-122"/>
                <a:cs typeface="Barlow" pitchFamily="34" charset="-120"/>
              </a:rPr>
              <a:t>11 </a:t>
            </a:r>
            <a:r>
              <a:rPr lang="en-US" sz="1800" kern="0" spc="-11" dirty="0">
                <a:solidFill>
                  <a:srgbClr val="556688"/>
                </a:solidFill>
                <a:latin typeface="Barlow" panose="00000500000000000000" pitchFamily="2" charset="0"/>
                <a:ea typeface="Barlow" pitchFamily="34" charset="-122"/>
                <a:cs typeface="Barlow" pitchFamily="34" charset="-120"/>
              </a:rPr>
              <a:t>We generate the primary-care data they currently don't have.</a:t>
            </a:r>
            <a:endParaRPr lang="en-US" sz="1800" dirty="0">
              <a:latin typeface="Barlow" panose="00000500000000000000" pitchFamily="2" charset="0"/>
            </a:endParaRPr>
          </a:p>
        </p:txBody>
      </p:sp>
      <p:sp>
        <p:nvSpPr>
          <p:cNvPr id="23" name="Text 21"/>
          <p:cNvSpPr/>
          <p:nvPr/>
        </p:nvSpPr>
        <p:spPr>
          <a:xfrm>
            <a:off x="11992570" y="8302943"/>
            <a:ext cx="5083318" cy="106299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b="1" kern="0" spc="-11" dirty="0">
                <a:solidFill>
                  <a:srgbClr val="1B2A4A"/>
                </a:solidFill>
                <a:latin typeface="Barlow" panose="00000500000000000000" pitchFamily="2" charset="0"/>
                <a:ea typeface="Barlow" pitchFamily="34" charset="-122"/>
                <a:cs typeface="Barlow" pitchFamily="34" charset="-120"/>
              </a:rPr>
              <a:t>Colive Voice </a:t>
            </a:r>
            <a:r>
              <a:rPr lang="en-US" sz="1800" kern="0" spc="-11" dirty="0">
                <a:solidFill>
                  <a:srgbClr val="556688"/>
                </a:solidFill>
                <a:latin typeface="Barlow" panose="00000500000000000000" pitchFamily="2" charset="0"/>
                <a:ea typeface="Barlow" pitchFamily="34" charset="-122"/>
                <a:cs typeface="Barlow" pitchFamily="34" charset="-120"/>
              </a:rPr>
              <a:t>runs research protocols for voice biomarkers. We capture routine clinical speech. Different corpora, convergent science.</a:t>
            </a:r>
            <a:endParaRPr lang="en-US" sz="1800" dirty="0">
              <a:latin typeface="Barlow" panose="00000500000000000000" pitchFamily="2" charset="0"/>
            </a:endParaRPr>
          </a:p>
        </p:txBody>
      </p:sp>
      <p:sp>
        <p:nvSpPr>
          <p:cNvPr id="24" name="Shape 22"/>
          <p:cNvSpPr/>
          <p:nvPr/>
        </p:nvSpPr>
        <p:spPr>
          <a:xfrm>
            <a:off x="1047750" y="9502140"/>
            <a:ext cx="16192500" cy="9525"/>
          </a:xfrm>
          <a:prstGeom prst="rect">
            <a:avLst/>
          </a:prstGeom>
          <a:solidFill>
            <a:srgbClr val="E1DBCB"/>
          </a:solidFill>
          <a:ln/>
        </p:spPr>
        <p:txBody>
          <a:bodyPr/>
          <a:lstStyle/>
          <a:p>
            <a:endParaRPr lang="en-US">
              <a:latin typeface="Barlow" panose="00000500000000000000" pitchFamily="2" charset="0"/>
            </a:endParaRPr>
          </a:p>
        </p:txBody>
      </p:sp>
      <p:sp>
        <p:nvSpPr>
          <p:cNvPr id="25" name="Text 23"/>
          <p:cNvSpPr/>
          <p:nvPr/>
        </p:nvSpPr>
        <p:spPr>
          <a:xfrm>
            <a:off x="1047750" y="9643110"/>
            <a:ext cx="2921642"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10 </a:t>
            </a:r>
            <a:r>
              <a:rPr lang="en-US" sz="1800" kern="0" spc="18" dirty="0">
                <a:solidFill>
                  <a:srgbClr val="8899BB"/>
                </a:solidFill>
                <a:latin typeface="Barlow" panose="00000500000000000000" pitchFamily="2" charset="0"/>
                <a:ea typeface="Barlow" pitchFamily="34" charset="-122"/>
                <a:cs typeface="Barlow" pitchFamily="34" charset="-120"/>
              </a:rPr>
              <a:t>LIH Annual Report 2023</a:t>
            </a:r>
            <a:endParaRPr lang="en-US" sz="1800" dirty="0">
              <a:latin typeface="Barlow" panose="00000500000000000000" pitchFamily="2" charset="0"/>
            </a:endParaRPr>
          </a:p>
        </p:txBody>
      </p:sp>
      <p:sp>
        <p:nvSpPr>
          <p:cNvPr id="26" name="Text 24"/>
          <p:cNvSpPr/>
          <p:nvPr/>
        </p:nvSpPr>
        <p:spPr>
          <a:xfrm>
            <a:off x="4150995" y="9643110"/>
            <a:ext cx="3865313"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11 </a:t>
            </a:r>
            <a:r>
              <a:rPr lang="en-US" sz="1800" kern="0" spc="18" dirty="0">
                <a:solidFill>
                  <a:srgbClr val="8899BB"/>
                </a:solidFill>
                <a:latin typeface="Barlow" panose="00000500000000000000" pitchFamily="2" charset="0"/>
                <a:ea typeface="Barlow" pitchFamily="34" charset="-122"/>
                <a:cs typeface="Barlow" pitchFamily="34" charset="-120"/>
              </a:rPr>
              <a:t>ITTM S.A. — LCSB spin-off 2015</a:t>
            </a:r>
            <a:endParaRPr lang="en-US" sz="1800" dirty="0">
              <a:latin typeface="Barlow" panose="00000500000000000000" pitchFamily="2" charset="0"/>
            </a:endParaRPr>
          </a:p>
        </p:txBody>
      </p:sp>
      <p:sp>
        <p:nvSpPr>
          <p:cNvPr id="27" name="Text 25"/>
          <p:cNvSpPr/>
          <p:nvPr/>
        </p:nvSpPr>
        <p:spPr>
          <a:xfrm>
            <a:off x="8170426" y="9643110"/>
            <a:ext cx="3501457"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12 </a:t>
            </a:r>
            <a:r>
              <a:rPr lang="en-US" sz="1800" kern="0" spc="18" dirty="0">
                <a:solidFill>
                  <a:srgbClr val="8899BB"/>
                </a:solidFill>
                <a:latin typeface="Barlow" panose="00000500000000000000" pitchFamily="2" charset="0"/>
                <a:ea typeface="Barlow" pitchFamily="34" charset="-122"/>
                <a:cs typeface="Barlow" pitchFamily="34" charset="-120"/>
              </a:rPr>
              <a:t>LNDS / HDAB-LU preparation</a:t>
            </a:r>
            <a:endParaRPr lang="en-US" sz="1800" dirty="0">
              <a:latin typeface="Barlow" panose="00000500000000000000" pitchFamily="2" charset="0"/>
            </a:endParaRPr>
          </a:p>
        </p:txBody>
      </p:sp>
      <p:sp>
        <p:nvSpPr>
          <p:cNvPr id="28" name="Text 26"/>
          <p:cNvSpPr/>
          <p:nvPr/>
        </p:nvSpPr>
        <p:spPr>
          <a:xfrm>
            <a:off x="16539092" y="9624060"/>
            <a:ext cx="777359"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800" dirty="0">
              <a:latin typeface="Barlow" panose="00000500000000000000"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EDE9E1"/>
        </a:solidFill>
        <a:effectLst/>
      </p:bgPr>
    </p:bg>
    <p:spTree>
      <p:nvGrpSpPr>
        <p:cNvPr id="1" name=""/>
        <p:cNvGrpSpPr/>
        <p:nvPr/>
      </p:nvGrpSpPr>
      <p:grpSpPr>
        <a:xfrm>
          <a:off x="0" y="0"/>
          <a:ext cx="0" cy="0"/>
          <a:chOff x="0" y="0"/>
          <a:chExt cx="0" cy="0"/>
        </a:xfrm>
      </p:grpSpPr>
      <p:sp>
        <p:nvSpPr>
          <p:cNvPr id="2" name="Shape 0"/>
          <p:cNvSpPr/>
          <p:nvPr/>
        </p:nvSpPr>
        <p:spPr>
          <a:xfrm>
            <a:off x="1047750" y="126111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3" name="Text 1"/>
          <p:cNvSpPr/>
          <p:nvPr/>
        </p:nvSpPr>
        <p:spPr>
          <a:xfrm>
            <a:off x="1047750" y="775335"/>
            <a:ext cx="47200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VISION · PHARMACOGENOMICS</a:t>
            </a:r>
            <a:endParaRPr lang="en-US" sz="1800" dirty="0">
              <a:latin typeface="Barlow" panose="00000500000000000000" pitchFamily="2" charset="0"/>
            </a:endParaRPr>
          </a:p>
        </p:txBody>
      </p:sp>
      <p:sp>
        <p:nvSpPr>
          <p:cNvPr id="4" name="Text 2"/>
          <p:cNvSpPr/>
          <p:nvPr/>
        </p:nvSpPr>
        <p:spPr>
          <a:xfrm>
            <a:off x="16441460" y="762000"/>
            <a:ext cx="874990" cy="3848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468" dirty="0">
                <a:solidFill>
                  <a:srgbClr val="1B2A4A"/>
                </a:solidFill>
                <a:latin typeface="Barlow" panose="00000500000000000000" pitchFamily="2" charset="0"/>
                <a:ea typeface="Barlow" pitchFamily="34" charset="-122"/>
                <a:cs typeface="Barlow" pitchFamily="34" charset="-120"/>
              </a:rPr>
              <a:t>LIET</a:t>
            </a:r>
            <a:endParaRPr lang="en-US" sz="1950" dirty="0">
              <a:latin typeface="Barlow" panose="00000500000000000000" pitchFamily="2" charset="0"/>
            </a:endParaRPr>
          </a:p>
        </p:txBody>
      </p:sp>
      <p:sp>
        <p:nvSpPr>
          <p:cNvPr id="5" name="Text 3"/>
          <p:cNvSpPr/>
          <p:nvPr/>
        </p:nvSpPr>
        <p:spPr>
          <a:xfrm>
            <a:off x="1047750" y="1687830"/>
            <a:ext cx="166782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09 · ONCE THE RECORD EXISTS, PRECISION MEDICINE FOLLOWS</a:t>
            </a:r>
            <a:endParaRPr lang="en-US" sz="1800" dirty="0">
              <a:latin typeface="Barlow" panose="00000500000000000000" pitchFamily="2" charset="0"/>
            </a:endParaRPr>
          </a:p>
        </p:txBody>
      </p:sp>
      <p:sp>
        <p:nvSpPr>
          <p:cNvPr id="6" name="Text 4"/>
          <p:cNvSpPr/>
          <p:nvPr/>
        </p:nvSpPr>
        <p:spPr>
          <a:xfrm>
            <a:off x="1047750" y="2141220"/>
            <a:ext cx="15697200" cy="1107758"/>
          </a:xfrm>
          <a:prstGeom prst="rect">
            <a:avLst/>
          </a:prstGeom>
          <a:noFill/>
          <a:ln/>
        </p:spPr>
        <p:txBody>
          <a:bodyPr wrap="square" lIns="25400" tIns="25400" rIns="25400" bIns="25400" rtlCol="0" anchor="t">
            <a:normAutofit/>
          </a:bodyPr>
          <a:lstStyle/>
          <a:p>
            <a:pPr marL="0" indent="0" algn="l">
              <a:lnSpc>
                <a:spcPct val="108000"/>
              </a:lnSpc>
              <a:buNone/>
            </a:pPr>
            <a:r>
              <a:rPr lang="en-US" sz="3900" i="1" kern="0" spc="-70" dirty="0">
                <a:solidFill>
                  <a:srgbClr val="B87A4B"/>
                </a:solidFill>
                <a:latin typeface="Barlow" panose="00000500000000000000" pitchFamily="2" charset="0"/>
                <a:ea typeface="Barlow" pitchFamily="34" charset="-122"/>
                <a:cs typeface="Barlow" pitchFamily="34" charset="-120"/>
              </a:rPr>
              <a:t>99.5% of people </a:t>
            </a:r>
            <a:r>
              <a:rPr lang="en-US" sz="3900" kern="0" spc="-70" dirty="0">
                <a:solidFill>
                  <a:srgbClr val="1B2A4A"/>
                </a:solidFill>
                <a:latin typeface="Barlow" panose="00000500000000000000" pitchFamily="2" charset="0"/>
                <a:ea typeface="Barlow" pitchFamily="34" charset="-122"/>
                <a:cs typeface="Barlow" pitchFamily="34" charset="-120"/>
              </a:rPr>
              <a:t>carry at least one actionable pharmacogenomic variant. </a:t>
            </a:r>
            <a:r>
              <a:rPr lang="en-US" sz="1800" b="1" kern="0" spc="-70" baseline="30000" dirty="0">
                <a:solidFill>
                  <a:srgbClr val="B87A4B"/>
                </a:solidFill>
                <a:latin typeface="Barlow" panose="00000500000000000000" pitchFamily="2" charset="0"/>
                <a:ea typeface="Barlow" pitchFamily="34" charset="-122"/>
                <a:cs typeface="Barlow" pitchFamily="34" charset="-120"/>
              </a:rPr>
              <a:t>13</a:t>
            </a:r>
            <a:endParaRPr lang="en-US" sz="3900" dirty="0">
              <a:latin typeface="Barlow" panose="00000500000000000000" pitchFamily="2" charset="0"/>
            </a:endParaRPr>
          </a:p>
        </p:txBody>
      </p:sp>
      <p:sp>
        <p:nvSpPr>
          <p:cNvPr id="7" name="Text 5"/>
          <p:cNvSpPr/>
          <p:nvPr/>
        </p:nvSpPr>
        <p:spPr>
          <a:xfrm>
            <a:off x="1047750" y="3515678"/>
            <a:ext cx="7985950" cy="906780"/>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7200" kern="0" spc="-216" dirty="0">
                <a:solidFill>
                  <a:srgbClr val="B87A4B"/>
                </a:solidFill>
                <a:latin typeface="Barlow" panose="00000500000000000000" pitchFamily="2" charset="0"/>
                <a:ea typeface="Barlow" pitchFamily="34" charset="-122"/>
                <a:cs typeface="Barlow" pitchFamily="34" charset="-120"/>
              </a:rPr>
              <a:t>30% </a:t>
            </a:r>
            <a:r>
              <a:rPr lang="en-US" sz="1800" b="1" kern="0" spc="-216" baseline="30000" dirty="0">
                <a:solidFill>
                  <a:srgbClr val="B87A4B"/>
                </a:solidFill>
                <a:latin typeface="Barlow" panose="00000500000000000000" pitchFamily="2" charset="0"/>
                <a:ea typeface="Barlow" pitchFamily="34" charset="-122"/>
                <a:cs typeface="Barlow" pitchFamily="34" charset="-120"/>
              </a:rPr>
              <a:t>15</a:t>
            </a:r>
            <a:endParaRPr lang="en-US" sz="7200" dirty="0">
              <a:latin typeface="Barlow" panose="00000500000000000000" pitchFamily="2" charset="0"/>
            </a:endParaRPr>
          </a:p>
        </p:txBody>
      </p:sp>
      <p:sp>
        <p:nvSpPr>
          <p:cNvPr id="8" name="Text 6"/>
          <p:cNvSpPr/>
          <p:nvPr/>
        </p:nvSpPr>
        <p:spPr>
          <a:xfrm>
            <a:off x="1047750" y="4460558"/>
            <a:ext cx="798595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180" dirty="0">
                <a:solidFill>
                  <a:srgbClr val="556688"/>
                </a:solidFill>
                <a:latin typeface="Barlow" panose="00000500000000000000" pitchFamily="2" charset="0"/>
                <a:ea typeface="Barlow" pitchFamily="34" charset="-122"/>
                <a:cs typeface="Barlow" pitchFamily="34" charset="-120"/>
              </a:rPr>
              <a:t>FEWER CLINICALLY-RELEVANT ADRS</a:t>
            </a:r>
            <a:endParaRPr lang="en-US" sz="1800" dirty="0">
              <a:latin typeface="Barlow" panose="00000500000000000000" pitchFamily="2" charset="0"/>
            </a:endParaRPr>
          </a:p>
        </p:txBody>
      </p:sp>
      <p:sp>
        <p:nvSpPr>
          <p:cNvPr id="9" name="Text 7"/>
          <p:cNvSpPr/>
          <p:nvPr/>
        </p:nvSpPr>
        <p:spPr>
          <a:xfrm>
            <a:off x="1047750" y="4856797"/>
            <a:ext cx="7985950" cy="655320"/>
          </a:xfrm>
          <a:prstGeom prst="rect">
            <a:avLst/>
          </a:prstGeom>
          <a:noFill/>
          <a:ln/>
        </p:spPr>
        <p:txBody>
          <a:bodyPr wrap="square" lIns="25400" tIns="25400" rIns="25400" bIns="25400" rtlCol="0" anchor="t">
            <a:normAutofit/>
          </a:bodyPr>
          <a:lstStyle/>
          <a:p>
            <a:pPr marL="0" indent="0" algn="l">
              <a:lnSpc>
                <a:spcPct val="135000"/>
              </a:lnSpc>
              <a:buNone/>
            </a:pPr>
            <a:r>
              <a:rPr lang="en-US" sz="1800" i="1" kern="0" spc="-11" dirty="0">
                <a:solidFill>
                  <a:srgbClr val="556688"/>
                </a:solidFill>
                <a:latin typeface="Barlow" panose="00000500000000000000" pitchFamily="2" charset="0"/>
                <a:ea typeface="Barlow" pitchFamily="34" charset="-122"/>
                <a:cs typeface="Barlow" pitchFamily="34" charset="-120"/>
              </a:rPr>
              <a:t>PREPARE trial — 7 EU countries, n=6,944. 21.0% vs 27.7%; OR 0.70; p=0.0075.</a:t>
            </a:r>
            <a:endParaRPr lang="en-US" sz="1800" dirty="0">
              <a:latin typeface="Barlow" panose="00000500000000000000" pitchFamily="2" charset="0"/>
            </a:endParaRPr>
          </a:p>
        </p:txBody>
      </p:sp>
      <p:sp>
        <p:nvSpPr>
          <p:cNvPr id="10" name="Text 8"/>
          <p:cNvSpPr/>
          <p:nvPr/>
        </p:nvSpPr>
        <p:spPr>
          <a:xfrm>
            <a:off x="1047750" y="5683568"/>
            <a:ext cx="7985950" cy="906780"/>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7200" kern="0" spc="-216" dirty="0">
                <a:solidFill>
                  <a:srgbClr val="B87A4B"/>
                </a:solidFill>
                <a:latin typeface="Barlow" panose="00000500000000000000" pitchFamily="2" charset="0"/>
                <a:ea typeface="Barlow" pitchFamily="34" charset="-122"/>
                <a:cs typeface="Barlow" pitchFamily="34" charset="-120"/>
              </a:rPr>
              <a:t>41% </a:t>
            </a:r>
            <a:r>
              <a:rPr lang="en-US" sz="1800" b="1" kern="0" spc="-216" baseline="30000" dirty="0">
                <a:solidFill>
                  <a:srgbClr val="B87A4B"/>
                </a:solidFill>
                <a:latin typeface="Barlow" panose="00000500000000000000" pitchFamily="2" charset="0"/>
                <a:ea typeface="Barlow" pitchFamily="34" charset="-122"/>
                <a:cs typeface="Barlow" pitchFamily="34" charset="-120"/>
              </a:rPr>
              <a:t>16</a:t>
            </a:r>
            <a:endParaRPr lang="en-US" sz="7200" dirty="0">
              <a:latin typeface="Barlow" panose="00000500000000000000" pitchFamily="2" charset="0"/>
            </a:endParaRPr>
          </a:p>
        </p:txBody>
      </p:sp>
      <p:sp>
        <p:nvSpPr>
          <p:cNvPr id="11" name="Text 9"/>
          <p:cNvSpPr/>
          <p:nvPr/>
        </p:nvSpPr>
        <p:spPr>
          <a:xfrm>
            <a:off x="1047750" y="6628448"/>
            <a:ext cx="798595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180" dirty="0">
                <a:solidFill>
                  <a:srgbClr val="556688"/>
                </a:solidFill>
                <a:latin typeface="Barlow" panose="00000500000000000000" pitchFamily="2" charset="0"/>
                <a:ea typeface="Barlow" pitchFamily="34" charset="-122"/>
                <a:cs typeface="Barlow" pitchFamily="34" charset="-120"/>
              </a:rPr>
              <a:t>FEWER HOSPITALISATIONS (PSYCHIATRIC SUBSET)</a:t>
            </a:r>
            <a:endParaRPr lang="en-US" sz="1800" dirty="0">
              <a:latin typeface="Barlow" panose="00000500000000000000" pitchFamily="2" charset="0"/>
            </a:endParaRPr>
          </a:p>
        </p:txBody>
      </p:sp>
      <p:sp>
        <p:nvSpPr>
          <p:cNvPr id="12" name="Text 10"/>
          <p:cNvSpPr/>
          <p:nvPr/>
        </p:nvSpPr>
        <p:spPr>
          <a:xfrm>
            <a:off x="1047750" y="7024688"/>
            <a:ext cx="7985950" cy="34671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00" i="1" kern="0" spc="-11" dirty="0">
                <a:solidFill>
                  <a:srgbClr val="556688"/>
                </a:solidFill>
                <a:latin typeface="Barlow" panose="00000500000000000000" pitchFamily="2" charset="0"/>
                <a:ea typeface="Barlow" pitchFamily="34" charset="-122"/>
                <a:cs typeface="Barlow" pitchFamily="34" charset="-120"/>
              </a:rPr>
              <a:t>n=1,076 · 40.5% fewer readmissions.</a:t>
            </a:r>
            <a:endParaRPr lang="en-US" sz="1800" dirty="0">
              <a:latin typeface="Barlow" panose="00000500000000000000" pitchFamily="2" charset="0"/>
            </a:endParaRPr>
          </a:p>
        </p:txBody>
      </p:sp>
      <p:sp>
        <p:nvSpPr>
          <p:cNvPr id="13" name="Text 11"/>
          <p:cNvSpPr/>
          <p:nvPr/>
        </p:nvSpPr>
        <p:spPr>
          <a:xfrm>
            <a:off x="1047750" y="7542848"/>
            <a:ext cx="7985950" cy="906780"/>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7200" kern="0" spc="-216" dirty="0">
                <a:solidFill>
                  <a:srgbClr val="B87A4B"/>
                </a:solidFill>
                <a:latin typeface="Barlow" panose="00000500000000000000" pitchFamily="2" charset="0"/>
                <a:ea typeface="Barlow" pitchFamily="34" charset="-122"/>
                <a:cs typeface="Barlow" pitchFamily="34" charset="-120"/>
              </a:rPr>
              <a:t>75% </a:t>
            </a:r>
            <a:r>
              <a:rPr lang="en-US" sz="1800" b="1" kern="0" spc="-216" baseline="30000" dirty="0">
                <a:solidFill>
                  <a:srgbClr val="B87A4B"/>
                </a:solidFill>
                <a:latin typeface="Barlow" panose="00000500000000000000" pitchFamily="2" charset="0"/>
                <a:ea typeface="Barlow" pitchFamily="34" charset="-122"/>
                <a:cs typeface="Barlow" pitchFamily="34" charset="-120"/>
              </a:rPr>
              <a:t>17</a:t>
            </a:r>
            <a:endParaRPr lang="en-US" sz="7200" dirty="0">
              <a:latin typeface="Barlow" panose="00000500000000000000" pitchFamily="2" charset="0"/>
            </a:endParaRPr>
          </a:p>
        </p:txBody>
      </p:sp>
      <p:sp>
        <p:nvSpPr>
          <p:cNvPr id="14" name="Text 12"/>
          <p:cNvSpPr/>
          <p:nvPr/>
        </p:nvSpPr>
        <p:spPr>
          <a:xfrm>
            <a:off x="1047750" y="8487728"/>
            <a:ext cx="798595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180" dirty="0">
                <a:solidFill>
                  <a:srgbClr val="556688"/>
                </a:solidFill>
                <a:latin typeface="Barlow" panose="00000500000000000000" pitchFamily="2" charset="0"/>
                <a:ea typeface="Barlow" pitchFamily="34" charset="-122"/>
                <a:cs typeface="Barlow" pitchFamily="34" charset="-120"/>
              </a:rPr>
              <a:t>AVOIDABLE ADRS PREVENTABLE</a:t>
            </a:r>
            <a:endParaRPr lang="en-US" sz="1800" dirty="0">
              <a:latin typeface="Barlow" panose="00000500000000000000" pitchFamily="2" charset="0"/>
            </a:endParaRPr>
          </a:p>
        </p:txBody>
      </p:sp>
      <p:sp>
        <p:nvSpPr>
          <p:cNvPr id="15" name="Text 13"/>
          <p:cNvSpPr/>
          <p:nvPr/>
        </p:nvSpPr>
        <p:spPr>
          <a:xfrm>
            <a:off x="244186" y="8941638"/>
            <a:ext cx="7985950" cy="34671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800" i="1" kern="0" spc="-11" dirty="0">
                <a:solidFill>
                  <a:srgbClr val="556688"/>
                </a:solidFill>
                <a:latin typeface="Barlow" panose="00000500000000000000" pitchFamily="2" charset="0"/>
                <a:ea typeface="Barlow" pitchFamily="34" charset="-122"/>
                <a:cs typeface="Barlow" pitchFamily="34" charset="-120"/>
              </a:rPr>
              <a:t>Pre-emptive testing of three genes — CYP2D6, CYP2C19, DPYD.</a:t>
            </a:r>
            <a:endParaRPr lang="en-US" sz="1800" dirty="0">
              <a:latin typeface="Barlow" panose="00000500000000000000" pitchFamily="2" charset="0"/>
            </a:endParaRPr>
          </a:p>
        </p:txBody>
      </p:sp>
      <p:sp>
        <p:nvSpPr>
          <p:cNvPr id="16" name="Shape 14"/>
          <p:cNvSpPr/>
          <p:nvPr/>
        </p:nvSpPr>
        <p:spPr>
          <a:xfrm>
            <a:off x="9486900" y="3515678"/>
            <a:ext cx="7753350" cy="2232660"/>
          </a:xfrm>
          <a:prstGeom prst="rect">
            <a:avLst/>
          </a:prstGeom>
          <a:solidFill>
            <a:srgbClr val="1B2A4A"/>
          </a:solidFill>
          <a:ln w="7620">
            <a:solidFill>
              <a:srgbClr val="2E3F5F"/>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7" name="Text 15"/>
          <p:cNvSpPr/>
          <p:nvPr/>
        </p:nvSpPr>
        <p:spPr>
          <a:xfrm>
            <a:off x="9761220" y="3732847"/>
            <a:ext cx="7420852"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WHERE LIET FITS</a:t>
            </a:r>
            <a:endParaRPr lang="en-US" sz="1800" dirty="0">
              <a:latin typeface="Barlow" panose="00000500000000000000" pitchFamily="2" charset="0"/>
            </a:endParaRPr>
          </a:p>
        </p:txBody>
      </p:sp>
      <p:sp>
        <p:nvSpPr>
          <p:cNvPr id="18" name="Text 16"/>
          <p:cNvSpPr/>
          <p:nvPr/>
        </p:nvSpPr>
        <p:spPr>
          <a:xfrm>
            <a:off x="9761220" y="4205288"/>
            <a:ext cx="7420852" cy="1363980"/>
          </a:xfrm>
          <a:prstGeom prst="rect">
            <a:avLst/>
          </a:prstGeom>
          <a:noFill/>
          <a:ln/>
        </p:spPr>
        <p:txBody>
          <a:bodyPr wrap="square" lIns="25400" tIns="25400" rIns="25400" bIns="25400" rtlCol="0" anchor="t">
            <a:normAutofit/>
          </a:bodyPr>
          <a:lstStyle/>
          <a:p>
            <a:pPr marL="0" indent="0" algn="l">
              <a:lnSpc>
                <a:spcPct val="145000"/>
              </a:lnSpc>
              <a:buNone/>
            </a:pPr>
            <a:r>
              <a:rPr lang="en-US" sz="1800" kern="0" spc="-11" dirty="0">
                <a:solidFill>
                  <a:srgbClr val="F5F2E8"/>
                </a:solidFill>
                <a:latin typeface="Barlow" panose="00000500000000000000" pitchFamily="2" charset="0"/>
                <a:ea typeface="Barlow" pitchFamily="34" charset="-122"/>
                <a:cs typeface="Barlow" pitchFamily="34" charset="-120"/>
              </a:rPr>
              <a:t>LIET is the </a:t>
            </a:r>
            <a:r>
              <a:rPr lang="en-US" sz="1800" b="1" kern="0" spc="-11" dirty="0">
                <a:solidFill>
                  <a:srgbClr val="B87A4B"/>
                </a:solidFill>
                <a:latin typeface="Barlow" panose="00000500000000000000" pitchFamily="2" charset="0"/>
                <a:ea typeface="Barlow" pitchFamily="34" charset="-122"/>
                <a:cs typeface="Barlow" pitchFamily="34" charset="-120"/>
              </a:rPr>
              <a:t>upstream infrastructure </a:t>
            </a:r>
            <a:r>
              <a:rPr lang="en-US" sz="1800" kern="0" spc="-11" dirty="0">
                <a:solidFill>
                  <a:srgbClr val="F5F2E8"/>
                </a:solidFill>
                <a:latin typeface="Barlow" panose="00000500000000000000" pitchFamily="2" charset="0"/>
                <a:ea typeface="Barlow" pitchFamily="34" charset="-122"/>
                <a:cs typeface="Barlow" pitchFamily="34" charset="-120"/>
              </a:rPr>
              <a:t>that makes PGx actionable at the point of prescription. We do not provide pharmacogenomics. We provide the structured prescription + consultation data that any PGx workflow requires.</a:t>
            </a:r>
            <a:endParaRPr lang="en-US" sz="1800" dirty="0">
              <a:latin typeface="Barlow" panose="00000500000000000000" pitchFamily="2" charset="0"/>
            </a:endParaRPr>
          </a:p>
        </p:txBody>
      </p:sp>
      <p:sp>
        <p:nvSpPr>
          <p:cNvPr id="19" name="Shape 17"/>
          <p:cNvSpPr/>
          <p:nvPr/>
        </p:nvSpPr>
        <p:spPr>
          <a:xfrm>
            <a:off x="9486900" y="5919788"/>
            <a:ext cx="7753350" cy="9525"/>
          </a:xfrm>
          <a:prstGeom prst="rect">
            <a:avLst/>
          </a:prstGeom>
          <a:solidFill>
            <a:srgbClr val="B87A4B"/>
          </a:solidFill>
          <a:ln/>
        </p:spPr>
        <p:txBody>
          <a:bodyPr/>
          <a:lstStyle/>
          <a:p>
            <a:endParaRPr lang="en-US">
              <a:latin typeface="Barlow" panose="00000500000000000000" pitchFamily="2" charset="0"/>
            </a:endParaRPr>
          </a:p>
        </p:txBody>
      </p:sp>
      <p:sp>
        <p:nvSpPr>
          <p:cNvPr id="20" name="Text 18"/>
          <p:cNvSpPr/>
          <p:nvPr/>
        </p:nvSpPr>
        <p:spPr>
          <a:xfrm>
            <a:off x="9486900" y="6022657"/>
            <a:ext cx="798595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252" dirty="0">
                <a:solidFill>
                  <a:srgbClr val="8E5B35"/>
                </a:solidFill>
                <a:latin typeface="Barlow" panose="00000500000000000000" pitchFamily="2" charset="0"/>
                <a:ea typeface="Barlow" pitchFamily="34" charset="-122"/>
                <a:cs typeface="Barlow" pitchFamily="34" charset="-120"/>
              </a:rPr>
              <a:t>YEAR 1–2 · CAPTURE</a:t>
            </a:r>
            <a:endParaRPr lang="en-US" sz="1800" dirty="0">
              <a:latin typeface="Barlow" panose="00000500000000000000" pitchFamily="2" charset="0"/>
            </a:endParaRPr>
          </a:p>
        </p:txBody>
      </p:sp>
      <p:sp>
        <p:nvSpPr>
          <p:cNvPr id="21" name="Text 19"/>
          <p:cNvSpPr/>
          <p:nvPr/>
        </p:nvSpPr>
        <p:spPr>
          <a:xfrm>
            <a:off x="9486900" y="6361748"/>
            <a:ext cx="7985950" cy="369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kern="0" spc="-11" dirty="0">
                <a:solidFill>
                  <a:srgbClr val="2E3F5F"/>
                </a:solidFill>
                <a:latin typeface="Barlow" panose="00000500000000000000" pitchFamily="2" charset="0"/>
                <a:ea typeface="Barlow" pitchFamily="34" charset="-122"/>
                <a:cs typeface="Barlow" pitchFamily="34" charset="-120"/>
              </a:rPr>
              <a:t>Build the longitudinal record in Luxembourg primary care.</a:t>
            </a:r>
            <a:endParaRPr lang="en-US" sz="1800" dirty="0">
              <a:latin typeface="Barlow" panose="00000500000000000000" pitchFamily="2" charset="0"/>
            </a:endParaRPr>
          </a:p>
        </p:txBody>
      </p:sp>
      <p:sp>
        <p:nvSpPr>
          <p:cNvPr id="22" name="Shape 20"/>
          <p:cNvSpPr/>
          <p:nvPr/>
        </p:nvSpPr>
        <p:spPr>
          <a:xfrm>
            <a:off x="9486900" y="6750368"/>
            <a:ext cx="7753350" cy="9525"/>
          </a:xfrm>
          <a:prstGeom prst="rect">
            <a:avLst/>
          </a:prstGeom>
          <a:solidFill>
            <a:srgbClr val="B87A4B"/>
          </a:solidFill>
          <a:ln/>
        </p:spPr>
        <p:txBody>
          <a:bodyPr/>
          <a:lstStyle/>
          <a:p>
            <a:endParaRPr lang="en-US">
              <a:latin typeface="Barlow" panose="00000500000000000000" pitchFamily="2" charset="0"/>
            </a:endParaRPr>
          </a:p>
        </p:txBody>
      </p:sp>
      <p:sp>
        <p:nvSpPr>
          <p:cNvPr id="23" name="Text 21"/>
          <p:cNvSpPr/>
          <p:nvPr/>
        </p:nvSpPr>
        <p:spPr>
          <a:xfrm>
            <a:off x="9486900" y="6853238"/>
            <a:ext cx="7985950"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252" dirty="0">
                <a:solidFill>
                  <a:srgbClr val="8E5B35"/>
                </a:solidFill>
                <a:latin typeface="Barlow" panose="00000500000000000000" pitchFamily="2" charset="0"/>
                <a:ea typeface="Barlow" pitchFamily="34" charset="-122"/>
                <a:cs typeface="Barlow" pitchFamily="34" charset="-120"/>
              </a:rPr>
              <a:t>YEAR 3–4 · INTEGRATE (CONTINGENT ON LNS / LUXGEN)</a:t>
            </a:r>
            <a:endParaRPr lang="en-US" sz="1800" dirty="0">
              <a:latin typeface="Barlow" panose="00000500000000000000" pitchFamily="2" charset="0"/>
            </a:endParaRPr>
          </a:p>
        </p:txBody>
      </p:sp>
      <p:sp>
        <p:nvSpPr>
          <p:cNvPr id="24" name="Text 22"/>
          <p:cNvSpPr/>
          <p:nvPr/>
        </p:nvSpPr>
        <p:spPr>
          <a:xfrm>
            <a:off x="9486900" y="7512368"/>
            <a:ext cx="7985950" cy="369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kern="0" spc="-11" dirty="0">
                <a:solidFill>
                  <a:srgbClr val="2E3F5F"/>
                </a:solidFill>
                <a:latin typeface="Barlow" panose="00000500000000000000" pitchFamily="2" charset="0"/>
                <a:ea typeface="Barlow" pitchFamily="34" charset="-122"/>
                <a:cs typeface="Barlow" pitchFamily="34" charset="-120"/>
              </a:rPr>
              <a:t>CPIC references and dosing at prescription time.</a:t>
            </a:r>
            <a:endParaRPr lang="en-US" sz="1800" dirty="0">
              <a:latin typeface="Barlow" panose="00000500000000000000" pitchFamily="2" charset="0"/>
            </a:endParaRPr>
          </a:p>
        </p:txBody>
      </p:sp>
      <p:sp>
        <p:nvSpPr>
          <p:cNvPr id="25" name="Shape 23"/>
          <p:cNvSpPr/>
          <p:nvPr/>
        </p:nvSpPr>
        <p:spPr>
          <a:xfrm>
            <a:off x="9486900" y="7900988"/>
            <a:ext cx="7753350" cy="9525"/>
          </a:xfrm>
          <a:prstGeom prst="rect">
            <a:avLst/>
          </a:prstGeom>
          <a:solidFill>
            <a:srgbClr val="B87A4B"/>
          </a:solidFill>
          <a:ln/>
        </p:spPr>
        <p:txBody>
          <a:bodyPr/>
          <a:lstStyle/>
          <a:p>
            <a:endParaRPr lang="en-US">
              <a:latin typeface="Barlow" panose="00000500000000000000" pitchFamily="2" charset="0"/>
            </a:endParaRPr>
          </a:p>
        </p:txBody>
      </p:sp>
      <p:sp>
        <p:nvSpPr>
          <p:cNvPr id="26" name="Text 24"/>
          <p:cNvSpPr/>
          <p:nvPr/>
        </p:nvSpPr>
        <p:spPr>
          <a:xfrm>
            <a:off x="9486900" y="8003857"/>
            <a:ext cx="798595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252" dirty="0">
                <a:solidFill>
                  <a:srgbClr val="8E5B35"/>
                </a:solidFill>
                <a:latin typeface="Barlow" panose="00000500000000000000" pitchFamily="2" charset="0"/>
                <a:ea typeface="Barlow" pitchFamily="34" charset="-122"/>
                <a:cs typeface="Barlow" pitchFamily="34" charset="-120"/>
              </a:rPr>
              <a:t>YEAR 5+ · POPULATION-SCALE VALUE</a:t>
            </a:r>
            <a:endParaRPr lang="en-US" sz="1800" dirty="0">
              <a:latin typeface="Barlow" panose="00000500000000000000" pitchFamily="2" charset="0"/>
            </a:endParaRPr>
          </a:p>
        </p:txBody>
      </p:sp>
      <p:sp>
        <p:nvSpPr>
          <p:cNvPr id="27" name="Text 25"/>
          <p:cNvSpPr/>
          <p:nvPr/>
        </p:nvSpPr>
        <p:spPr>
          <a:xfrm>
            <a:off x="9486900" y="8342948"/>
            <a:ext cx="7985950" cy="369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kern="0" spc="-11" dirty="0">
                <a:solidFill>
                  <a:srgbClr val="2E3F5F"/>
                </a:solidFill>
                <a:latin typeface="Barlow" panose="00000500000000000000" pitchFamily="2" charset="0"/>
                <a:ea typeface="Barlow" pitchFamily="34" charset="-122"/>
                <a:cs typeface="Barlow" pitchFamily="34" charset="-120"/>
              </a:rPr>
              <a:t>Value-based prescribing visible to CNS.</a:t>
            </a:r>
            <a:endParaRPr lang="en-US" sz="1800" dirty="0">
              <a:latin typeface="Barlow" panose="00000500000000000000" pitchFamily="2" charset="0"/>
            </a:endParaRPr>
          </a:p>
        </p:txBody>
      </p:sp>
      <p:sp>
        <p:nvSpPr>
          <p:cNvPr id="28" name="Shape 26"/>
          <p:cNvSpPr/>
          <p:nvPr/>
        </p:nvSpPr>
        <p:spPr>
          <a:xfrm>
            <a:off x="1047750" y="8915400"/>
            <a:ext cx="16192500" cy="9525"/>
          </a:xfrm>
          <a:prstGeom prst="rect">
            <a:avLst/>
          </a:prstGeom>
          <a:solidFill>
            <a:srgbClr val="E1DBCB"/>
          </a:solidFill>
          <a:ln/>
        </p:spPr>
        <p:txBody>
          <a:bodyPr/>
          <a:lstStyle/>
          <a:p>
            <a:endParaRPr lang="en-US">
              <a:latin typeface="Barlow" panose="00000500000000000000" pitchFamily="2" charset="0"/>
            </a:endParaRPr>
          </a:p>
        </p:txBody>
      </p:sp>
      <p:sp>
        <p:nvSpPr>
          <p:cNvPr id="29" name="Text 27"/>
          <p:cNvSpPr/>
          <p:nvPr/>
        </p:nvSpPr>
        <p:spPr>
          <a:xfrm>
            <a:off x="11906042" y="9578339"/>
            <a:ext cx="5819983"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13 </a:t>
            </a:r>
            <a:r>
              <a:rPr lang="en-US" sz="1800" kern="0" spc="18" dirty="0">
                <a:solidFill>
                  <a:srgbClr val="8899BB"/>
                </a:solidFill>
                <a:latin typeface="Barlow" panose="00000500000000000000" pitchFamily="2" charset="0"/>
                <a:ea typeface="Barlow" pitchFamily="34" charset="-122"/>
                <a:cs typeface="Barlow" pitchFamily="34" charset="-120"/>
              </a:rPr>
              <a:t>McInnes G et al., CPT 2021 — UK Biobank n=487k</a:t>
            </a:r>
            <a:endParaRPr lang="en-US" sz="1800" dirty="0">
              <a:latin typeface="Barlow" panose="00000500000000000000" pitchFamily="2" charset="0"/>
            </a:endParaRPr>
          </a:p>
        </p:txBody>
      </p:sp>
      <p:sp>
        <p:nvSpPr>
          <p:cNvPr id="30" name="Text 28"/>
          <p:cNvSpPr/>
          <p:nvPr/>
        </p:nvSpPr>
        <p:spPr>
          <a:xfrm>
            <a:off x="6964918" y="9056370"/>
            <a:ext cx="4787401"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15 </a:t>
            </a:r>
            <a:r>
              <a:rPr lang="en-US" sz="1800" kern="0" spc="18" dirty="0">
                <a:solidFill>
                  <a:srgbClr val="8899BB"/>
                </a:solidFill>
                <a:latin typeface="Barlow" panose="00000500000000000000" pitchFamily="2" charset="0"/>
                <a:ea typeface="Barlow" pitchFamily="34" charset="-122"/>
                <a:cs typeface="Barlow" pitchFamily="34" charset="-120"/>
              </a:rPr>
              <a:t>Swen JJ et al., Lancet 2023 — PREPARE</a:t>
            </a:r>
            <a:endParaRPr lang="en-US" sz="1800" dirty="0">
              <a:latin typeface="Barlow" panose="00000500000000000000" pitchFamily="2" charset="0"/>
            </a:endParaRPr>
          </a:p>
        </p:txBody>
      </p:sp>
      <p:sp>
        <p:nvSpPr>
          <p:cNvPr id="31" name="Text 29"/>
          <p:cNvSpPr/>
          <p:nvPr/>
        </p:nvSpPr>
        <p:spPr>
          <a:xfrm>
            <a:off x="11879581" y="9056370"/>
            <a:ext cx="4169814"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16 </a:t>
            </a:r>
            <a:r>
              <a:rPr lang="en-US" sz="1800" kern="0" spc="18" dirty="0">
                <a:solidFill>
                  <a:srgbClr val="8899BB"/>
                </a:solidFill>
                <a:latin typeface="Barlow" panose="00000500000000000000" pitchFamily="2" charset="0"/>
                <a:ea typeface="Barlow" pitchFamily="34" charset="-122"/>
                <a:cs typeface="Barlow" pitchFamily="34" charset="-120"/>
              </a:rPr>
              <a:t>Skokou M et al., eBioMedicine 2024</a:t>
            </a:r>
            <a:endParaRPr lang="en-US" sz="1800" dirty="0">
              <a:latin typeface="Barlow" panose="00000500000000000000" pitchFamily="2" charset="0"/>
            </a:endParaRPr>
          </a:p>
        </p:txBody>
      </p:sp>
      <p:sp>
        <p:nvSpPr>
          <p:cNvPr id="32" name="Text 30"/>
          <p:cNvSpPr/>
          <p:nvPr/>
        </p:nvSpPr>
        <p:spPr>
          <a:xfrm>
            <a:off x="6964918" y="9529242"/>
            <a:ext cx="4271968"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17 </a:t>
            </a:r>
            <a:r>
              <a:rPr lang="en-US" sz="1800" kern="0" spc="18" dirty="0">
                <a:solidFill>
                  <a:srgbClr val="8899BB"/>
                </a:solidFill>
                <a:latin typeface="Barlow" panose="00000500000000000000" pitchFamily="2" charset="0"/>
                <a:ea typeface="Barlow" pitchFamily="34" charset="-122"/>
                <a:cs typeface="Barlow" pitchFamily="34" charset="-120"/>
              </a:rPr>
              <a:t>Magavern EF et al., PLOS Med 2024</a:t>
            </a:r>
            <a:endParaRPr lang="en-US" sz="1800" dirty="0">
              <a:latin typeface="Barlow" panose="00000500000000000000" pitchFamily="2" charset="0"/>
            </a:endParaRPr>
          </a:p>
        </p:txBody>
      </p:sp>
      <p:sp>
        <p:nvSpPr>
          <p:cNvPr id="33" name="Text 31"/>
          <p:cNvSpPr/>
          <p:nvPr/>
        </p:nvSpPr>
        <p:spPr>
          <a:xfrm>
            <a:off x="16581239" y="9624060"/>
            <a:ext cx="735211"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800" dirty="0">
              <a:latin typeface="Barlow" panose="00000500000000000000"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1047750" y="126111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3" name="Text 1"/>
          <p:cNvSpPr/>
          <p:nvPr/>
        </p:nvSpPr>
        <p:spPr>
          <a:xfrm>
            <a:off x="1047750" y="775335"/>
            <a:ext cx="234374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RARE DISEASE</a:t>
            </a:r>
            <a:endParaRPr lang="en-US" sz="1800" dirty="0">
              <a:latin typeface="Barlow" panose="00000500000000000000" pitchFamily="2" charset="0"/>
            </a:endParaRPr>
          </a:p>
        </p:txBody>
      </p:sp>
      <p:sp>
        <p:nvSpPr>
          <p:cNvPr id="4" name="Text 2"/>
          <p:cNvSpPr/>
          <p:nvPr/>
        </p:nvSpPr>
        <p:spPr>
          <a:xfrm>
            <a:off x="16441460" y="762000"/>
            <a:ext cx="874990" cy="3848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468" dirty="0">
                <a:solidFill>
                  <a:srgbClr val="1B2A4A"/>
                </a:solidFill>
                <a:latin typeface="Barlow" panose="00000500000000000000" pitchFamily="2" charset="0"/>
                <a:ea typeface="Barlow" pitchFamily="34" charset="-122"/>
                <a:cs typeface="Barlow" pitchFamily="34" charset="-120"/>
              </a:rPr>
              <a:t>LIET</a:t>
            </a:r>
            <a:endParaRPr lang="en-US" sz="1950" dirty="0">
              <a:latin typeface="Barlow" panose="00000500000000000000" pitchFamily="2" charset="0"/>
            </a:endParaRPr>
          </a:p>
        </p:txBody>
      </p:sp>
      <p:sp>
        <p:nvSpPr>
          <p:cNvPr id="5" name="Text 3"/>
          <p:cNvSpPr/>
          <p:nvPr/>
        </p:nvSpPr>
        <p:spPr>
          <a:xfrm>
            <a:off x="1047750" y="1687830"/>
            <a:ext cx="166782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10 · LUXEMBOURG HAS THE NUMBERS AND THE PLAN</a:t>
            </a:r>
            <a:endParaRPr lang="en-US" sz="1800" dirty="0">
              <a:latin typeface="Barlow" panose="00000500000000000000" pitchFamily="2" charset="0"/>
            </a:endParaRPr>
          </a:p>
        </p:txBody>
      </p:sp>
      <p:sp>
        <p:nvSpPr>
          <p:cNvPr id="6" name="Text 4"/>
          <p:cNvSpPr/>
          <p:nvPr/>
        </p:nvSpPr>
        <p:spPr>
          <a:xfrm>
            <a:off x="1047750" y="2236470"/>
            <a:ext cx="16678275" cy="127254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500" i="1" kern="0" spc="-81" dirty="0">
                <a:solidFill>
                  <a:srgbClr val="B87A4B"/>
                </a:solidFill>
                <a:latin typeface="Barlow" panose="00000500000000000000" pitchFamily="2" charset="0"/>
                <a:ea typeface="Barlow" pitchFamily="34" charset="-122"/>
                <a:cs typeface="Barlow" pitchFamily="34" charset="-120"/>
              </a:rPr>
              <a:t>~30,000 </a:t>
            </a:r>
            <a:r>
              <a:rPr lang="en-US" sz="4500" kern="0" spc="-81" dirty="0">
                <a:solidFill>
                  <a:srgbClr val="1B2A4A"/>
                </a:solidFill>
                <a:latin typeface="Barlow" panose="00000500000000000000" pitchFamily="2" charset="0"/>
                <a:ea typeface="Barlow" pitchFamily="34" charset="-122"/>
                <a:cs typeface="Barlow" pitchFamily="34" charset="-120"/>
              </a:rPr>
              <a:t>Luxembourg residents live with a rare disease. Average time to diagnosis: </a:t>
            </a:r>
            <a:r>
              <a:rPr lang="en-US" sz="4500" i="1" kern="0" spc="-81" dirty="0">
                <a:solidFill>
                  <a:srgbClr val="B87A4B"/>
                </a:solidFill>
                <a:latin typeface="Barlow" panose="00000500000000000000" pitchFamily="2" charset="0"/>
                <a:ea typeface="Barlow" pitchFamily="34" charset="-122"/>
                <a:cs typeface="Barlow" pitchFamily="34" charset="-120"/>
              </a:rPr>
              <a:t>5 years.</a:t>
            </a:r>
            <a:r>
              <a:rPr lang="en-US" sz="1800" b="1" kern="0" spc="-81" baseline="30000" dirty="0">
                <a:solidFill>
                  <a:srgbClr val="B87A4B"/>
                </a:solidFill>
                <a:latin typeface="Barlow" panose="00000500000000000000" pitchFamily="2" charset="0"/>
                <a:ea typeface="Barlow" pitchFamily="34" charset="-122"/>
                <a:cs typeface="Barlow" pitchFamily="34" charset="-120"/>
              </a:rPr>
              <a:t>18</a:t>
            </a:r>
            <a:endParaRPr lang="en-US" sz="4500" dirty="0">
              <a:latin typeface="Barlow" panose="00000500000000000000" pitchFamily="2" charset="0"/>
            </a:endParaRPr>
          </a:p>
        </p:txBody>
      </p:sp>
      <p:sp>
        <p:nvSpPr>
          <p:cNvPr id="7" name="Shape 5"/>
          <p:cNvSpPr/>
          <p:nvPr/>
        </p:nvSpPr>
        <p:spPr>
          <a:xfrm>
            <a:off x="1047750" y="3890010"/>
            <a:ext cx="7753350" cy="4580572"/>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8" name="Text 6"/>
          <p:cNvSpPr/>
          <p:nvPr/>
        </p:nvSpPr>
        <p:spPr>
          <a:xfrm>
            <a:off x="1436370" y="4240530"/>
            <a:ext cx="7185394"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BURDEN — LUXEMBOURG &amp; EUROPE</a:t>
            </a:r>
            <a:endParaRPr lang="en-US" sz="1800" dirty="0">
              <a:latin typeface="Barlow" panose="00000500000000000000" pitchFamily="2" charset="0"/>
            </a:endParaRPr>
          </a:p>
        </p:txBody>
      </p:sp>
      <p:sp>
        <p:nvSpPr>
          <p:cNvPr id="9" name="Text 7"/>
          <p:cNvSpPr/>
          <p:nvPr/>
        </p:nvSpPr>
        <p:spPr>
          <a:xfrm>
            <a:off x="1760220" y="4712970"/>
            <a:ext cx="6861544" cy="7898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kern="0" spc="-11" dirty="0">
                <a:solidFill>
                  <a:srgbClr val="1B2A4A"/>
                </a:solidFill>
                <a:latin typeface="Barlow" panose="00000500000000000000" pitchFamily="2" charset="0"/>
                <a:ea typeface="Barlow" pitchFamily="34" charset="-122"/>
                <a:cs typeface="Barlow" pitchFamily="34" charset="-120"/>
              </a:rPr>
              <a:t>721 new patients · 4,692 consultations </a:t>
            </a:r>
            <a:r>
              <a:rPr lang="en-US" sz="2100" kern="0" spc="-11" dirty="0">
                <a:solidFill>
                  <a:srgbClr val="2E3F5F"/>
                </a:solidFill>
                <a:latin typeface="Barlow" panose="00000500000000000000" pitchFamily="2" charset="0"/>
                <a:ea typeface="Barlow" pitchFamily="34" charset="-122"/>
                <a:cs typeface="Barlow" pitchFamily="34" charset="-120"/>
              </a:rPr>
              <a:t>at CHL National Rare Diseases Hub in 2025. </a:t>
            </a:r>
            <a:r>
              <a:rPr lang="en-US" sz="1800" b="1" kern="0" spc="-11" baseline="30000" dirty="0">
                <a:solidFill>
                  <a:srgbClr val="B87A4B"/>
                </a:solidFill>
                <a:latin typeface="Barlow" panose="00000500000000000000" pitchFamily="2" charset="0"/>
                <a:ea typeface="Barlow" pitchFamily="34" charset="-122"/>
                <a:cs typeface="Barlow" pitchFamily="34" charset="-120"/>
              </a:rPr>
              <a:t>19</a:t>
            </a:r>
            <a:endParaRPr lang="en-US" sz="2100" dirty="0">
              <a:latin typeface="Barlow" panose="00000500000000000000" pitchFamily="2" charset="0"/>
            </a:endParaRPr>
          </a:p>
        </p:txBody>
      </p:sp>
      <p:sp>
        <p:nvSpPr>
          <p:cNvPr id="10" name="Text 8"/>
          <p:cNvSpPr/>
          <p:nvPr/>
        </p:nvSpPr>
        <p:spPr>
          <a:xfrm>
            <a:off x="1760220" y="5598081"/>
            <a:ext cx="6861544" cy="1163241"/>
          </a:xfrm>
          <a:prstGeom prst="rect">
            <a:avLst/>
          </a:prstGeom>
          <a:noFill/>
          <a:ln/>
        </p:spPr>
        <p:txBody>
          <a:bodyPr wrap="square" lIns="25400" tIns="25400" rIns="25400" bIns="25400" rtlCol="0" anchor="t">
            <a:normAutofit/>
          </a:bodyPr>
          <a:lstStyle/>
          <a:p>
            <a:pPr marL="0" indent="0" algn="l">
              <a:lnSpc>
                <a:spcPct val="140000"/>
              </a:lnSpc>
              <a:buNone/>
            </a:pPr>
            <a:r>
              <a:rPr lang="en-US" sz="2100" b="1" kern="0" spc="-11" dirty="0">
                <a:solidFill>
                  <a:srgbClr val="1B2A4A"/>
                </a:solidFill>
                <a:latin typeface="Barlow" panose="00000500000000000000" pitchFamily="2" charset="0"/>
                <a:ea typeface="Barlow" pitchFamily="34" charset="-122"/>
                <a:cs typeface="Barlow" pitchFamily="34" charset="-120"/>
              </a:rPr>
              <a:t>4.7 years </a:t>
            </a:r>
            <a:r>
              <a:rPr lang="en-US" sz="2100" kern="0" spc="-11" dirty="0">
                <a:solidFill>
                  <a:srgbClr val="2E3F5F"/>
                </a:solidFill>
                <a:latin typeface="Barlow" panose="00000500000000000000" pitchFamily="2" charset="0"/>
                <a:ea typeface="Barlow" pitchFamily="34" charset="-122"/>
                <a:cs typeface="Barlow" pitchFamily="34" charset="-120"/>
              </a:rPr>
              <a:t>average diagnostic delay in Europe. 60% misdiagnosed. 25% consult ≥8 healthcare professionals. </a:t>
            </a:r>
            <a:r>
              <a:rPr lang="en-US" sz="1800" b="1" kern="0" spc="-11" baseline="30000" dirty="0">
                <a:solidFill>
                  <a:srgbClr val="B87A4B"/>
                </a:solidFill>
                <a:latin typeface="Barlow" panose="00000500000000000000" pitchFamily="2" charset="0"/>
                <a:ea typeface="Barlow" pitchFamily="34" charset="-122"/>
                <a:cs typeface="Barlow" pitchFamily="34" charset="-120"/>
              </a:rPr>
              <a:t>20</a:t>
            </a:r>
            <a:endParaRPr lang="en-US" sz="2100" dirty="0">
              <a:latin typeface="Barlow" panose="00000500000000000000" pitchFamily="2" charset="0"/>
            </a:endParaRPr>
          </a:p>
        </p:txBody>
      </p:sp>
      <p:sp>
        <p:nvSpPr>
          <p:cNvPr id="11" name="Text 9"/>
          <p:cNvSpPr/>
          <p:nvPr/>
        </p:nvSpPr>
        <p:spPr>
          <a:xfrm>
            <a:off x="1760220" y="6856572"/>
            <a:ext cx="6861544" cy="416481"/>
          </a:xfrm>
          <a:prstGeom prst="rect">
            <a:avLst/>
          </a:prstGeom>
          <a:noFill/>
          <a:ln/>
        </p:spPr>
        <p:txBody>
          <a:bodyPr wrap="square" lIns="25400" tIns="25400" rIns="25400" bIns="25400" rtlCol="0" anchor="t">
            <a:normAutofit lnSpcReduction="10000"/>
          </a:bodyPr>
          <a:lstStyle/>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Women wait </a:t>
            </a:r>
            <a:r>
              <a:rPr lang="en-US" sz="2100" b="1" kern="0" spc="-11" dirty="0">
                <a:solidFill>
                  <a:srgbClr val="1B2A4A"/>
                </a:solidFill>
                <a:latin typeface="Barlow" panose="00000500000000000000" pitchFamily="2" charset="0"/>
                <a:ea typeface="Barlow" pitchFamily="34" charset="-122"/>
                <a:cs typeface="Barlow" pitchFamily="34" charset="-120"/>
              </a:rPr>
              <a:t>5.4 years</a:t>
            </a:r>
            <a:r>
              <a:rPr lang="en-US" sz="2100" kern="0" spc="-11" dirty="0">
                <a:solidFill>
                  <a:srgbClr val="2E3F5F"/>
                </a:solidFill>
                <a:latin typeface="Barlow" panose="00000500000000000000" pitchFamily="2" charset="0"/>
                <a:ea typeface="Barlow" pitchFamily="34" charset="-122"/>
                <a:cs typeface="Barlow" pitchFamily="34" charset="-120"/>
              </a:rPr>
              <a:t>, men 3.7. </a:t>
            </a:r>
            <a:r>
              <a:rPr lang="en-US" sz="1800" b="1" kern="0" spc="-11" baseline="30000" dirty="0">
                <a:solidFill>
                  <a:srgbClr val="B87A4B"/>
                </a:solidFill>
                <a:latin typeface="Barlow" panose="00000500000000000000" pitchFamily="2" charset="0"/>
                <a:ea typeface="Barlow" pitchFamily="34" charset="-122"/>
                <a:cs typeface="Barlow" pitchFamily="34" charset="-120"/>
              </a:rPr>
              <a:t>20</a:t>
            </a:r>
            <a:endParaRPr lang="en-US" sz="2100" dirty="0">
              <a:latin typeface="Barlow" panose="00000500000000000000" pitchFamily="2" charset="0"/>
            </a:endParaRPr>
          </a:p>
        </p:txBody>
      </p:sp>
      <p:sp>
        <p:nvSpPr>
          <p:cNvPr id="12" name="Text 10"/>
          <p:cNvSpPr/>
          <p:nvPr/>
        </p:nvSpPr>
        <p:spPr>
          <a:xfrm>
            <a:off x="1760220" y="7368302"/>
            <a:ext cx="6861544" cy="7898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Fabry ERT alone: </a:t>
            </a:r>
            <a:r>
              <a:rPr lang="en-US" sz="2100" b="1" kern="0" spc="-11" dirty="0">
                <a:solidFill>
                  <a:srgbClr val="1B2A4A"/>
                </a:solidFill>
                <a:latin typeface="Barlow" panose="00000500000000000000" pitchFamily="2" charset="0"/>
                <a:ea typeface="Barlow" pitchFamily="34" charset="-122"/>
                <a:cs typeface="Barlow" pitchFamily="34" charset="-120"/>
              </a:rPr>
              <a:t>€198k–265k / patient / year. </a:t>
            </a:r>
            <a:r>
              <a:rPr lang="en-US" sz="2100" kern="0" spc="-11" dirty="0">
                <a:solidFill>
                  <a:srgbClr val="2E3F5F"/>
                </a:solidFill>
                <a:latin typeface="Barlow" panose="00000500000000000000" pitchFamily="2" charset="0"/>
                <a:ea typeface="Barlow" pitchFamily="34" charset="-122"/>
                <a:cs typeface="Barlow" pitchFamily="34" charset="-120"/>
              </a:rPr>
              <a:t>Lifetime cost when started symptomatically: </a:t>
            </a:r>
            <a:r>
              <a:rPr lang="en-US" sz="2100" b="1" kern="0" spc="-11" dirty="0">
                <a:solidFill>
                  <a:srgbClr val="1B2A4A"/>
                </a:solidFill>
                <a:latin typeface="Barlow" panose="00000500000000000000" pitchFamily="2" charset="0"/>
                <a:ea typeface="Barlow" pitchFamily="34" charset="-122"/>
                <a:cs typeface="Barlow" pitchFamily="34" charset="-120"/>
              </a:rPr>
              <a:t>€9–10M.</a:t>
            </a:r>
            <a:r>
              <a:rPr lang="en-US" sz="1800" b="1" kern="0" spc="-11" baseline="30000" dirty="0">
                <a:solidFill>
                  <a:srgbClr val="B87A4B"/>
                </a:solidFill>
                <a:latin typeface="Barlow" panose="00000500000000000000" pitchFamily="2" charset="0"/>
                <a:ea typeface="Barlow" pitchFamily="34" charset="-122"/>
                <a:cs typeface="Barlow" pitchFamily="34" charset="-120"/>
              </a:rPr>
              <a:t>22</a:t>
            </a:r>
            <a:endParaRPr lang="en-US" sz="2100" dirty="0">
              <a:latin typeface="Barlow" panose="00000500000000000000" pitchFamily="2" charset="0"/>
            </a:endParaRPr>
          </a:p>
        </p:txBody>
      </p:sp>
      <p:sp>
        <p:nvSpPr>
          <p:cNvPr id="13" name="Shape 11"/>
          <p:cNvSpPr/>
          <p:nvPr/>
        </p:nvSpPr>
        <p:spPr>
          <a:xfrm>
            <a:off x="9486900" y="3890010"/>
            <a:ext cx="7753350" cy="4800000"/>
          </a:xfrm>
          <a:prstGeom prst="rect">
            <a:avLst/>
          </a:prstGeom>
          <a:solidFill>
            <a:srgbClr val="B87A4B">
              <a:alpha val="12000"/>
            </a:srgbClr>
          </a:solidFill>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4" name="Shape 12"/>
          <p:cNvSpPr/>
          <p:nvPr/>
        </p:nvSpPr>
        <p:spPr>
          <a:xfrm>
            <a:off x="9486900" y="8682390"/>
            <a:ext cx="7753350" cy="9525"/>
          </a:xfrm>
          <a:prstGeom prst="rect">
            <a:avLst/>
          </a:prstGeom>
          <a:solidFill>
            <a:srgbClr val="B87A4B"/>
          </a:solidFill>
          <a:ln/>
        </p:spPr>
        <p:txBody>
          <a:bodyPr/>
          <a:lstStyle/>
          <a:p>
            <a:endParaRPr lang="en-US">
              <a:latin typeface="Barlow" panose="00000500000000000000" pitchFamily="2" charset="0"/>
            </a:endParaRPr>
          </a:p>
        </p:txBody>
      </p:sp>
      <p:sp>
        <p:nvSpPr>
          <p:cNvPr id="15" name="Shape 13"/>
          <p:cNvSpPr/>
          <p:nvPr/>
        </p:nvSpPr>
        <p:spPr>
          <a:xfrm>
            <a:off x="9486900" y="3890010"/>
            <a:ext cx="7753350" cy="9525"/>
          </a:xfrm>
          <a:prstGeom prst="rect">
            <a:avLst/>
          </a:prstGeom>
          <a:solidFill>
            <a:srgbClr val="B87A4B"/>
          </a:solidFill>
          <a:ln/>
        </p:spPr>
        <p:txBody>
          <a:bodyPr/>
          <a:lstStyle/>
          <a:p>
            <a:endParaRPr lang="en-US">
              <a:latin typeface="Barlow" panose="00000500000000000000" pitchFamily="2" charset="0"/>
            </a:endParaRPr>
          </a:p>
        </p:txBody>
      </p:sp>
      <p:sp>
        <p:nvSpPr>
          <p:cNvPr id="16" name="Shape 14"/>
          <p:cNvSpPr/>
          <p:nvPr/>
        </p:nvSpPr>
        <p:spPr>
          <a:xfrm>
            <a:off x="9486900" y="3890010"/>
            <a:ext cx="22860" cy="4800000"/>
          </a:xfrm>
          <a:prstGeom prst="rect">
            <a:avLst/>
          </a:prstGeom>
          <a:solidFill>
            <a:srgbClr val="B87A4B"/>
          </a:solidFill>
          <a:ln/>
        </p:spPr>
        <p:txBody>
          <a:bodyPr/>
          <a:lstStyle/>
          <a:p>
            <a:endParaRPr lang="en-US">
              <a:latin typeface="Barlow" panose="00000500000000000000" pitchFamily="2" charset="0"/>
            </a:endParaRPr>
          </a:p>
        </p:txBody>
      </p:sp>
      <p:sp>
        <p:nvSpPr>
          <p:cNvPr id="17" name="Shape 15"/>
          <p:cNvSpPr/>
          <p:nvPr/>
        </p:nvSpPr>
        <p:spPr>
          <a:xfrm>
            <a:off x="17232630" y="3890010"/>
            <a:ext cx="9525" cy="4800000"/>
          </a:xfrm>
          <a:prstGeom prst="rect">
            <a:avLst/>
          </a:prstGeom>
          <a:solidFill>
            <a:srgbClr val="B87A4B"/>
          </a:solidFill>
          <a:ln/>
        </p:spPr>
        <p:txBody>
          <a:bodyPr/>
          <a:lstStyle/>
          <a:p>
            <a:endParaRPr lang="en-US">
              <a:latin typeface="Barlow" panose="00000500000000000000" pitchFamily="2" charset="0"/>
            </a:endParaRPr>
          </a:p>
        </p:txBody>
      </p:sp>
      <p:sp>
        <p:nvSpPr>
          <p:cNvPr id="18" name="Text 16"/>
          <p:cNvSpPr/>
          <p:nvPr/>
        </p:nvSpPr>
        <p:spPr>
          <a:xfrm>
            <a:off x="9890760" y="4240530"/>
            <a:ext cx="7169696"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OUR PROOF — FABRY GENERATOR</a:t>
            </a:r>
            <a:endParaRPr lang="en-US" sz="1800" dirty="0">
              <a:latin typeface="Barlow" panose="00000500000000000000" pitchFamily="2" charset="0"/>
            </a:endParaRPr>
          </a:p>
        </p:txBody>
      </p:sp>
      <p:sp>
        <p:nvSpPr>
          <p:cNvPr id="19" name="Text 17"/>
          <p:cNvSpPr/>
          <p:nvPr/>
        </p:nvSpPr>
        <p:spPr>
          <a:xfrm>
            <a:off x="9890760" y="4808220"/>
            <a:ext cx="7169696" cy="1015365"/>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8100" kern="0" spc="-243" dirty="0">
                <a:solidFill>
                  <a:srgbClr val="B87A4B"/>
                </a:solidFill>
                <a:latin typeface="Barlow" panose="00000500000000000000" pitchFamily="2" charset="0"/>
                <a:ea typeface="Barlow" pitchFamily="34" charset="-122"/>
                <a:cs typeface="Barlow" pitchFamily="34" charset="-120"/>
              </a:rPr>
              <a:t>108 / 100%</a:t>
            </a:r>
            <a:endParaRPr lang="en-US" sz="8100" dirty="0">
              <a:latin typeface="Barlow" panose="00000500000000000000" pitchFamily="2" charset="0"/>
            </a:endParaRPr>
          </a:p>
        </p:txBody>
      </p:sp>
      <p:sp>
        <p:nvSpPr>
          <p:cNvPr id="20" name="Text 18"/>
          <p:cNvSpPr/>
          <p:nvPr/>
        </p:nvSpPr>
        <p:spPr>
          <a:xfrm>
            <a:off x="9890760" y="5861685"/>
            <a:ext cx="7169696" cy="678180"/>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80" dirty="0">
                <a:solidFill>
                  <a:srgbClr val="2E3F5F"/>
                </a:solidFill>
                <a:latin typeface="Barlow" panose="00000500000000000000" pitchFamily="2" charset="0"/>
                <a:ea typeface="Barlow" pitchFamily="34" charset="-122"/>
                <a:cs typeface="Barlow" pitchFamily="34" charset="-120"/>
              </a:rPr>
              <a:t>SYNTHETIC PATIENTS · DIAGNOSTIC CORRECTNESS RATE</a:t>
            </a:r>
            <a:endParaRPr lang="en-US" sz="1800" dirty="0">
              <a:latin typeface="Barlow" panose="00000500000000000000" pitchFamily="2" charset="0"/>
            </a:endParaRPr>
          </a:p>
        </p:txBody>
      </p:sp>
      <p:sp>
        <p:nvSpPr>
          <p:cNvPr id="21" name="Text 19"/>
          <p:cNvSpPr/>
          <p:nvPr/>
        </p:nvSpPr>
        <p:spPr>
          <a:xfrm>
            <a:off x="9890760" y="6768465"/>
            <a:ext cx="7169696" cy="369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kern="0" spc="-11" dirty="0">
                <a:solidFill>
                  <a:srgbClr val="556688"/>
                </a:solidFill>
                <a:latin typeface="Barlow" panose="00000500000000000000" pitchFamily="2" charset="0"/>
                <a:ea typeface="Barlow" pitchFamily="34" charset="-122"/>
                <a:cs typeface="Barlow" pitchFamily="34" charset="-120"/>
              </a:rPr>
              <a:t>Validated against 30 confounder diseases. FHIR R4 export.</a:t>
            </a:r>
            <a:endParaRPr lang="en-US" sz="1800" dirty="0">
              <a:latin typeface="Barlow" panose="00000500000000000000" pitchFamily="2" charset="0"/>
            </a:endParaRPr>
          </a:p>
        </p:txBody>
      </p:sp>
      <p:sp>
        <p:nvSpPr>
          <p:cNvPr id="22" name="Shape 20"/>
          <p:cNvSpPr/>
          <p:nvPr/>
        </p:nvSpPr>
        <p:spPr>
          <a:xfrm>
            <a:off x="9890760" y="7442835"/>
            <a:ext cx="571500" cy="19050"/>
          </a:xfrm>
          <a:prstGeom prst="rect">
            <a:avLst/>
          </a:prstGeom>
          <a:solidFill>
            <a:srgbClr val="B87A4B"/>
          </a:solidFill>
          <a:ln/>
        </p:spPr>
        <p:txBody>
          <a:bodyPr/>
          <a:lstStyle/>
          <a:p>
            <a:endParaRPr lang="en-US">
              <a:latin typeface="Barlow" panose="00000500000000000000" pitchFamily="2" charset="0"/>
            </a:endParaRPr>
          </a:p>
        </p:txBody>
      </p:sp>
      <p:sp>
        <p:nvSpPr>
          <p:cNvPr id="23" name="Text 21"/>
          <p:cNvSpPr/>
          <p:nvPr/>
        </p:nvSpPr>
        <p:spPr>
          <a:xfrm>
            <a:off x="9890760" y="7614285"/>
            <a:ext cx="7169696" cy="1032510"/>
          </a:xfrm>
          <a:prstGeom prst="rect">
            <a:avLst/>
          </a:prstGeom>
          <a:noFill/>
          <a:ln/>
        </p:spPr>
        <p:txBody>
          <a:bodyPr wrap="square" lIns="25400" tIns="25400" rIns="25400" bIns="25400" rtlCol="0" anchor="t">
            <a:normAutofit/>
          </a:bodyPr>
          <a:lstStyle/>
          <a:p>
            <a:pPr marL="0" indent="0" algn="l">
              <a:lnSpc>
                <a:spcPct val="145000"/>
              </a:lnSpc>
              <a:buNone/>
            </a:pPr>
            <a:r>
              <a:rPr lang="en-US" sz="1800" i="1" kern="0" spc="-11" dirty="0">
                <a:solidFill>
                  <a:srgbClr val="2E3F5F"/>
                </a:solidFill>
                <a:latin typeface="Barlow" panose="00000500000000000000" pitchFamily="2" charset="0"/>
                <a:ea typeface="Barlow" pitchFamily="34" charset="-122"/>
                <a:cs typeface="Barlow" pitchFamily="34" charset="-120"/>
              </a:rPr>
              <a:t>Proof we can model rare disease in silico. Sanofi / Quinten Health: </a:t>
            </a:r>
            <a:r>
              <a:rPr lang="en-US" sz="1800" i="1" kern="0" spc="-11" dirty="0">
                <a:solidFill>
                  <a:srgbClr val="B87A4B"/>
                </a:solidFill>
                <a:latin typeface="Barlow" panose="00000500000000000000" pitchFamily="2" charset="0"/>
                <a:ea typeface="Barlow" pitchFamily="34" charset="-122"/>
                <a:cs typeface="Barlow" pitchFamily="34" charset="-120"/>
              </a:rPr>
              <a:t>10–20× patient identification efficiency </a:t>
            </a:r>
            <a:r>
              <a:rPr lang="en-US" sz="1800" i="1" kern="0" spc="-11" dirty="0">
                <a:solidFill>
                  <a:srgbClr val="2E3F5F"/>
                </a:solidFill>
                <a:latin typeface="Barlow" panose="00000500000000000000" pitchFamily="2" charset="0"/>
                <a:ea typeface="Barlow" pitchFamily="34" charset="-122"/>
                <a:cs typeface="Barlow" pitchFamily="34" charset="-120"/>
              </a:rPr>
              <a:t>for Gaucher via structured EHR data. Orphanet J Rare Dis, 2023.</a:t>
            </a:r>
            <a:endParaRPr lang="en-US" sz="1800" dirty="0">
              <a:latin typeface="Barlow" panose="00000500000000000000" pitchFamily="2" charset="0"/>
            </a:endParaRPr>
          </a:p>
        </p:txBody>
      </p:sp>
      <p:sp>
        <p:nvSpPr>
          <p:cNvPr id="24" name="Shape 22"/>
          <p:cNvSpPr/>
          <p:nvPr/>
        </p:nvSpPr>
        <p:spPr>
          <a:xfrm>
            <a:off x="1047750" y="8915400"/>
            <a:ext cx="16192500" cy="9525"/>
          </a:xfrm>
          <a:prstGeom prst="rect">
            <a:avLst/>
          </a:prstGeom>
          <a:solidFill>
            <a:srgbClr val="E1DBCB"/>
          </a:solidFill>
          <a:ln/>
        </p:spPr>
        <p:txBody>
          <a:bodyPr/>
          <a:lstStyle/>
          <a:p>
            <a:endParaRPr lang="en-US">
              <a:latin typeface="Barlow" panose="00000500000000000000" pitchFamily="2" charset="0"/>
            </a:endParaRPr>
          </a:p>
        </p:txBody>
      </p:sp>
      <p:sp>
        <p:nvSpPr>
          <p:cNvPr id="25" name="Text 23"/>
          <p:cNvSpPr/>
          <p:nvPr/>
        </p:nvSpPr>
        <p:spPr>
          <a:xfrm>
            <a:off x="1047750" y="9056370"/>
            <a:ext cx="576774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18 </a:t>
            </a:r>
            <a:r>
              <a:rPr lang="en-US" sz="1800" kern="0" spc="18" dirty="0">
                <a:solidFill>
                  <a:srgbClr val="8899BB"/>
                </a:solidFill>
                <a:latin typeface="Barlow" panose="00000500000000000000" pitchFamily="2" charset="0"/>
                <a:ea typeface="Barlow" pitchFamily="34" charset="-122"/>
                <a:cs typeface="Barlow" pitchFamily="34" charset="-120"/>
              </a:rPr>
              <a:t>ALAN Maladies Rares / Ministère de la Santé 2026</a:t>
            </a:r>
            <a:endParaRPr lang="en-US" sz="1800" dirty="0">
              <a:latin typeface="Barlow" panose="00000500000000000000" pitchFamily="2" charset="0"/>
            </a:endParaRPr>
          </a:p>
        </p:txBody>
      </p:sp>
      <p:sp>
        <p:nvSpPr>
          <p:cNvPr id="26" name="Text 24"/>
          <p:cNvSpPr/>
          <p:nvPr/>
        </p:nvSpPr>
        <p:spPr>
          <a:xfrm>
            <a:off x="6914198" y="9056370"/>
            <a:ext cx="4221934"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19 </a:t>
            </a:r>
            <a:r>
              <a:rPr lang="en-US" sz="1800" kern="0" spc="18" dirty="0">
                <a:solidFill>
                  <a:srgbClr val="8899BB"/>
                </a:solidFill>
                <a:latin typeface="Barlow" panose="00000500000000000000" pitchFamily="2" charset="0"/>
                <a:ea typeface="Barlow" pitchFamily="34" charset="-122"/>
                <a:cs typeface="Barlow" pitchFamily="34" charset="-120"/>
              </a:rPr>
              <a:t>Direction de la Santé 2026 · PNMR2</a:t>
            </a:r>
            <a:endParaRPr lang="en-US" sz="1800" dirty="0">
              <a:latin typeface="Barlow" panose="00000500000000000000" pitchFamily="2" charset="0"/>
            </a:endParaRPr>
          </a:p>
        </p:txBody>
      </p:sp>
      <p:sp>
        <p:nvSpPr>
          <p:cNvPr id="27" name="Text 25"/>
          <p:cNvSpPr/>
          <p:nvPr/>
        </p:nvSpPr>
        <p:spPr>
          <a:xfrm>
            <a:off x="11279863" y="9056370"/>
            <a:ext cx="318224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20 </a:t>
            </a:r>
            <a:r>
              <a:rPr lang="en-US" sz="1800" kern="0" spc="18" dirty="0">
                <a:solidFill>
                  <a:srgbClr val="8899BB"/>
                </a:solidFill>
                <a:latin typeface="Barlow" panose="00000500000000000000" pitchFamily="2" charset="0"/>
                <a:ea typeface="Barlow" pitchFamily="34" charset="-122"/>
                <a:cs typeface="Barlow" pitchFamily="34" charset="-120"/>
              </a:rPr>
              <a:t>Dubief J et al., EJHG 2024</a:t>
            </a:r>
            <a:endParaRPr lang="en-US" sz="1800" dirty="0">
              <a:latin typeface="Barlow" panose="00000500000000000000" pitchFamily="2" charset="0"/>
            </a:endParaRPr>
          </a:p>
        </p:txBody>
      </p:sp>
      <p:sp>
        <p:nvSpPr>
          <p:cNvPr id="28" name="Text 26"/>
          <p:cNvSpPr/>
          <p:nvPr/>
        </p:nvSpPr>
        <p:spPr>
          <a:xfrm>
            <a:off x="1047750" y="9643110"/>
            <a:ext cx="4312683"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18" dirty="0">
                <a:solidFill>
                  <a:srgbClr val="B87A4B"/>
                </a:solidFill>
                <a:latin typeface="Barlow" panose="00000500000000000000" pitchFamily="2" charset="0"/>
                <a:ea typeface="Barlow" pitchFamily="34" charset="-122"/>
                <a:cs typeface="Barlow" pitchFamily="34" charset="-120"/>
              </a:rPr>
              <a:t>22 </a:t>
            </a:r>
            <a:r>
              <a:rPr lang="en-US" sz="1800" kern="0" spc="18" dirty="0">
                <a:solidFill>
                  <a:srgbClr val="8899BB"/>
                </a:solidFill>
                <a:latin typeface="Barlow" panose="00000500000000000000" pitchFamily="2" charset="0"/>
                <a:ea typeface="Barlow" pitchFamily="34" charset="-122"/>
                <a:cs typeface="Barlow" pitchFamily="34" charset="-120"/>
              </a:rPr>
              <a:t>Rombach SM et al. · Zöllner YF et al.</a:t>
            </a:r>
            <a:endParaRPr lang="en-US" sz="1800" dirty="0">
              <a:latin typeface="Barlow" panose="00000500000000000000" pitchFamily="2" charset="0"/>
            </a:endParaRPr>
          </a:p>
        </p:txBody>
      </p:sp>
      <p:sp>
        <p:nvSpPr>
          <p:cNvPr id="29" name="Text 27"/>
          <p:cNvSpPr/>
          <p:nvPr/>
        </p:nvSpPr>
        <p:spPr>
          <a:xfrm>
            <a:off x="16551712" y="9624060"/>
            <a:ext cx="764738"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800" dirty="0">
              <a:latin typeface="Barlow" panose="00000500000000000000" pitchFamily="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1047750" y="126111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3" name="Text 1"/>
          <p:cNvSpPr/>
          <p:nvPr/>
        </p:nvSpPr>
        <p:spPr>
          <a:xfrm>
            <a:off x="1047750" y="775335"/>
            <a:ext cx="2117646"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REGULATORY</a:t>
            </a:r>
            <a:endParaRPr lang="en-US" sz="1800" dirty="0">
              <a:latin typeface="Barlow" panose="00000500000000000000" pitchFamily="2" charset="0"/>
            </a:endParaRPr>
          </a:p>
        </p:txBody>
      </p:sp>
      <p:sp>
        <p:nvSpPr>
          <p:cNvPr id="4" name="Text 2"/>
          <p:cNvSpPr/>
          <p:nvPr/>
        </p:nvSpPr>
        <p:spPr>
          <a:xfrm>
            <a:off x="16441460" y="762000"/>
            <a:ext cx="874990" cy="3848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468" dirty="0">
                <a:solidFill>
                  <a:srgbClr val="1B2A4A"/>
                </a:solidFill>
                <a:latin typeface="Barlow" panose="00000500000000000000" pitchFamily="2" charset="0"/>
                <a:ea typeface="Barlow" pitchFamily="34" charset="-122"/>
                <a:cs typeface="Barlow" pitchFamily="34" charset="-120"/>
              </a:rPr>
              <a:t>LIET</a:t>
            </a:r>
            <a:endParaRPr lang="en-US" sz="1950" dirty="0">
              <a:latin typeface="Barlow" panose="00000500000000000000" pitchFamily="2" charset="0"/>
            </a:endParaRPr>
          </a:p>
        </p:txBody>
      </p:sp>
      <p:sp>
        <p:nvSpPr>
          <p:cNvPr id="5" name="Text 3"/>
          <p:cNvSpPr/>
          <p:nvPr/>
        </p:nvSpPr>
        <p:spPr>
          <a:xfrm>
            <a:off x="1047750" y="1687830"/>
            <a:ext cx="166782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11 · DESIGNED IN, NOT BOLTED ON</a:t>
            </a:r>
            <a:endParaRPr lang="en-US" sz="1800" dirty="0">
              <a:latin typeface="Barlow" panose="00000500000000000000" pitchFamily="2" charset="0"/>
            </a:endParaRPr>
          </a:p>
        </p:txBody>
      </p:sp>
      <p:sp>
        <p:nvSpPr>
          <p:cNvPr id="6" name="Text 4"/>
          <p:cNvSpPr/>
          <p:nvPr/>
        </p:nvSpPr>
        <p:spPr>
          <a:xfrm>
            <a:off x="1047750" y="2236470"/>
            <a:ext cx="15697200" cy="593527"/>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050" kern="0" spc="-73" dirty="0">
                <a:solidFill>
                  <a:srgbClr val="1B2A4A"/>
                </a:solidFill>
                <a:latin typeface="Barlow" panose="00000500000000000000" pitchFamily="2" charset="0"/>
                <a:ea typeface="Barlow" pitchFamily="34" charset="-122"/>
                <a:cs typeface="Barlow" pitchFamily="34" charset="-120"/>
              </a:rPr>
              <a:t>Regulatory posture — </a:t>
            </a:r>
            <a:r>
              <a:rPr lang="en-US" sz="4050" i="1" kern="0" spc="-73" dirty="0">
                <a:solidFill>
                  <a:srgbClr val="B87A4B"/>
                </a:solidFill>
                <a:latin typeface="Barlow" panose="00000500000000000000" pitchFamily="2" charset="0"/>
                <a:ea typeface="Barlow" pitchFamily="34" charset="-122"/>
                <a:cs typeface="Barlow" pitchFamily="34" charset="-120"/>
              </a:rPr>
              <a:t>honest about what is built and what is advisory.</a:t>
            </a:r>
            <a:endParaRPr lang="en-US" sz="4050" dirty="0">
              <a:latin typeface="Barlow" panose="00000500000000000000" pitchFamily="2" charset="0"/>
            </a:endParaRPr>
          </a:p>
        </p:txBody>
      </p:sp>
      <p:sp>
        <p:nvSpPr>
          <p:cNvPr id="7" name="Shape 5"/>
          <p:cNvSpPr/>
          <p:nvPr/>
        </p:nvSpPr>
        <p:spPr>
          <a:xfrm>
            <a:off x="1047750" y="3679627"/>
            <a:ext cx="2946202" cy="9525"/>
          </a:xfrm>
          <a:prstGeom prst="rect">
            <a:avLst/>
          </a:prstGeom>
          <a:solidFill>
            <a:srgbClr val="CFC8B8"/>
          </a:solidFill>
          <a:ln/>
        </p:spPr>
        <p:txBody>
          <a:bodyPr/>
          <a:lstStyle/>
          <a:p>
            <a:endParaRPr lang="en-US">
              <a:latin typeface="Barlow" panose="00000500000000000000" pitchFamily="2" charset="0"/>
            </a:endParaRPr>
          </a:p>
        </p:txBody>
      </p:sp>
      <p:sp>
        <p:nvSpPr>
          <p:cNvPr id="8" name="Text 6"/>
          <p:cNvSpPr/>
          <p:nvPr/>
        </p:nvSpPr>
        <p:spPr>
          <a:xfrm>
            <a:off x="1047750" y="3230047"/>
            <a:ext cx="2863138" cy="354330"/>
          </a:xfrm>
          <a:prstGeom prst="rect">
            <a:avLst/>
          </a:prstGeom>
          <a:noFill/>
          <a:ln/>
        </p:spPr>
        <p:txBody>
          <a:bodyPr wrap="square" lIns="25400" tIns="25400" rIns="25400" bIns="25400" rtlCol="0" anchor="b">
            <a:normAutofit fontScale="92500" lnSpcReduction="10000"/>
          </a:bodyPr>
          <a:lstStyle/>
          <a:p>
            <a:pPr marL="0" indent="0" algn="l">
              <a:lnSpc>
                <a:spcPct val="140000"/>
              </a:lnSpc>
              <a:buNone/>
            </a:pPr>
            <a:r>
              <a:rPr lang="en-US" sz="1800" b="1" kern="0" spc="252" dirty="0">
                <a:solidFill>
                  <a:srgbClr val="556688"/>
                </a:solidFill>
                <a:latin typeface="Barlow" panose="00000500000000000000" pitchFamily="2" charset="0"/>
                <a:ea typeface="Barlow" pitchFamily="34" charset="-122"/>
                <a:cs typeface="Barlow" pitchFamily="34" charset="-120"/>
              </a:rPr>
              <a:t>LAYER</a:t>
            </a:r>
            <a:endParaRPr lang="en-US" sz="1800" dirty="0">
              <a:latin typeface="Barlow" panose="00000500000000000000" pitchFamily="2" charset="0"/>
            </a:endParaRPr>
          </a:p>
        </p:txBody>
      </p:sp>
      <p:sp>
        <p:nvSpPr>
          <p:cNvPr id="9" name="Shape 7"/>
          <p:cNvSpPr/>
          <p:nvPr/>
        </p:nvSpPr>
        <p:spPr>
          <a:xfrm>
            <a:off x="3993952" y="3679627"/>
            <a:ext cx="4807148" cy="9525"/>
          </a:xfrm>
          <a:prstGeom prst="rect">
            <a:avLst/>
          </a:prstGeom>
          <a:solidFill>
            <a:srgbClr val="CFC8B8"/>
          </a:solidFill>
          <a:ln/>
        </p:spPr>
        <p:txBody>
          <a:bodyPr/>
          <a:lstStyle/>
          <a:p>
            <a:endParaRPr lang="en-US">
              <a:latin typeface="Barlow" panose="00000500000000000000" pitchFamily="2" charset="0"/>
            </a:endParaRPr>
          </a:p>
        </p:txBody>
      </p:sp>
      <p:sp>
        <p:nvSpPr>
          <p:cNvPr id="10" name="Text 8"/>
          <p:cNvSpPr/>
          <p:nvPr/>
        </p:nvSpPr>
        <p:spPr>
          <a:xfrm>
            <a:off x="3993952" y="3230047"/>
            <a:ext cx="4779913" cy="354330"/>
          </a:xfrm>
          <a:prstGeom prst="rect">
            <a:avLst/>
          </a:prstGeom>
          <a:noFill/>
          <a:ln/>
        </p:spPr>
        <p:txBody>
          <a:bodyPr wrap="square" lIns="25400" tIns="25400" rIns="25400" bIns="25400" rtlCol="0" anchor="b">
            <a:normAutofit fontScale="92500" lnSpcReduction="10000"/>
          </a:bodyPr>
          <a:lstStyle/>
          <a:p>
            <a:pPr marL="0" indent="0" algn="l">
              <a:lnSpc>
                <a:spcPct val="140000"/>
              </a:lnSpc>
              <a:buNone/>
            </a:pPr>
            <a:r>
              <a:rPr lang="en-US" sz="1800" b="1" kern="0" spc="252" dirty="0">
                <a:solidFill>
                  <a:srgbClr val="556688"/>
                </a:solidFill>
                <a:latin typeface="Barlow" panose="00000500000000000000" pitchFamily="2" charset="0"/>
                <a:ea typeface="Barlow" pitchFamily="34" charset="-122"/>
                <a:cs typeface="Barlow" pitchFamily="34" charset="-120"/>
              </a:rPr>
              <a:t>STATUS</a:t>
            </a:r>
            <a:endParaRPr lang="en-US" sz="1800" dirty="0">
              <a:latin typeface="Barlow" panose="00000500000000000000" pitchFamily="2" charset="0"/>
            </a:endParaRPr>
          </a:p>
        </p:txBody>
      </p:sp>
      <p:sp>
        <p:nvSpPr>
          <p:cNvPr id="11" name="Shape 9"/>
          <p:cNvSpPr/>
          <p:nvPr/>
        </p:nvSpPr>
        <p:spPr>
          <a:xfrm>
            <a:off x="1047750" y="4572834"/>
            <a:ext cx="2946202" cy="9525"/>
          </a:xfrm>
          <a:prstGeom prst="rect">
            <a:avLst/>
          </a:prstGeom>
          <a:solidFill>
            <a:srgbClr val="E1DBCB"/>
          </a:solidFill>
          <a:ln/>
        </p:spPr>
        <p:txBody>
          <a:bodyPr/>
          <a:lstStyle/>
          <a:p>
            <a:endParaRPr lang="en-US">
              <a:latin typeface="Barlow" panose="00000500000000000000" pitchFamily="2" charset="0"/>
            </a:endParaRPr>
          </a:p>
        </p:txBody>
      </p:sp>
      <p:sp>
        <p:nvSpPr>
          <p:cNvPr id="12" name="Text 10"/>
          <p:cNvSpPr/>
          <p:nvPr/>
        </p:nvSpPr>
        <p:spPr>
          <a:xfrm>
            <a:off x="1047750" y="3782497"/>
            <a:ext cx="2863138" cy="733187"/>
          </a:xfrm>
          <a:prstGeom prst="rect">
            <a:avLst/>
          </a:prstGeom>
          <a:noFill/>
          <a:ln/>
        </p:spPr>
        <p:txBody>
          <a:bodyPr wrap="square" lIns="25400" tIns="25400" rIns="25400" bIns="25400" rtlCol="0" anchor="t">
            <a:normAutofit/>
          </a:bodyPr>
          <a:lstStyle/>
          <a:p>
            <a:pPr marL="0" indent="0" algn="l">
              <a:lnSpc>
                <a:spcPct val="130000"/>
              </a:lnSpc>
              <a:buNone/>
            </a:pPr>
            <a:r>
              <a:rPr lang="en-US" sz="1800" i="1" kern="0" spc="-11" dirty="0">
                <a:solidFill>
                  <a:srgbClr val="1B2A4A"/>
                </a:solidFill>
                <a:latin typeface="Barlow" panose="00000500000000000000" pitchFamily="2" charset="0"/>
                <a:ea typeface="Barlow" pitchFamily="34" charset="-122"/>
                <a:cs typeface="Barlow" pitchFamily="34" charset="-120"/>
              </a:rPr>
              <a:t>GDPR · Luxembourg DPA</a:t>
            </a:r>
            <a:endParaRPr lang="en-US" sz="1800" dirty="0">
              <a:latin typeface="Barlow" panose="00000500000000000000" pitchFamily="2" charset="0"/>
            </a:endParaRPr>
          </a:p>
        </p:txBody>
      </p:sp>
      <p:sp>
        <p:nvSpPr>
          <p:cNvPr id="13" name="Shape 11"/>
          <p:cNvSpPr/>
          <p:nvPr/>
        </p:nvSpPr>
        <p:spPr>
          <a:xfrm>
            <a:off x="3993952" y="4572834"/>
            <a:ext cx="4807148" cy="9525"/>
          </a:xfrm>
          <a:prstGeom prst="rect">
            <a:avLst/>
          </a:prstGeom>
          <a:solidFill>
            <a:srgbClr val="E1DBCB"/>
          </a:solidFill>
          <a:ln/>
        </p:spPr>
        <p:txBody>
          <a:bodyPr/>
          <a:lstStyle/>
          <a:p>
            <a:endParaRPr lang="en-US">
              <a:latin typeface="Barlow" panose="00000500000000000000" pitchFamily="2" charset="0"/>
            </a:endParaRPr>
          </a:p>
        </p:txBody>
      </p:sp>
      <p:sp>
        <p:nvSpPr>
          <p:cNvPr id="14" name="Text 12"/>
          <p:cNvSpPr/>
          <p:nvPr/>
        </p:nvSpPr>
        <p:spPr>
          <a:xfrm>
            <a:off x="3993952" y="3782497"/>
            <a:ext cx="4779913" cy="733187"/>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1" dirty="0">
                <a:solidFill>
                  <a:srgbClr val="2E3F5F"/>
                </a:solidFill>
                <a:latin typeface="Barlow" panose="00000500000000000000" pitchFamily="2" charset="0"/>
                <a:ea typeface="Barlow" pitchFamily="34" charset="-122"/>
                <a:cs typeface="Barlow" pitchFamily="34" charset="-120"/>
              </a:rPr>
              <a:t>Aligned by design · consent per encounter · CNPD notification </a:t>
            </a:r>
            <a:r>
              <a:rPr lang="en-US" sz="1800" i="1" kern="0" spc="-11" dirty="0">
                <a:solidFill>
                  <a:srgbClr val="B87A4B"/>
                </a:solidFill>
                <a:latin typeface="Barlow" panose="00000500000000000000" pitchFamily="2" charset="0"/>
                <a:ea typeface="Barlow" pitchFamily="34" charset="-122"/>
                <a:cs typeface="Barlow" pitchFamily="34" charset="-120"/>
              </a:rPr>
              <a:t>planned for pilot launch</a:t>
            </a:r>
            <a:endParaRPr lang="en-US" sz="1800" dirty="0">
              <a:latin typeface="Barlow" panose="00000500000000000000" pitchFamily="2" charset="0"/>
            </a:endParaRPr>
          </a:p>
        </p:txBody>
      </p:sp>
      <p:sp>
        <p:nvSpPr>
          <p:cNvPr id="15" name="Shape 13"/>
          <p:cNvSpPr/>
          <p:nvPr/>
        </p:nvSpPr>
        <p:spPr>
          <a:xfrm>
            <a:off x="1047750" y="5466040"/>
            <a:ext cx="2946202" cy="9525"/>
          </a:xfrm>
          <a:prstGeom prst="rect">
            <a:avLst/>
          </a:prstGeom>
          <a:solidFill>
            <a:srgbClr val="E1DBCB"/>
          </a:solidFill>
          <a:ln/>
        </p:spPr>
        <p:txBody>
          <a:bodyPr/>
          <a:lstStyle/>
          <a:p>
            <a:endParaRPr lang="en-US">
              <a:latin typeface="Barlow" panose="00000500000000000000" pitchFamily="2" charset="0"/>
            </a:endParaRPr>
          </a:p>
        </p:txBody>
      </p:sp>
      <p:sp>
        <p:nvSpPr>
          <p:cNvPr id="16" name="Text 14"/>
          <p:cNvSpPr/>
          <p:nvPr/>
        </p:nvSpPr>
        <p:spPr>
          <a:xfrm>
            <a:off x="1047750" y="4675704"/>
            <a:ext cx="2863138" cy="733187"/>
          </a:xfrm>
          <a:prstGeom prst="rect">
            <a:avLst/>
          </a:prstGeom>
          <a:noFill/>
          <a:ln/>
        </p:spPr>
        <p:txBody>
          <a:bodyPr wrap="square" lIns="25400" tIns="25400" rIns="25400" bIns="25400" rtlCol="0" anchor="t">
            <a:normAutofit/>
          </a:bodyPr>
          <a:lstStyle/>
          <a:p>
            <a:pPr marL="0" indent="0" algn="l">
              <a:lnSpc>
                <a:spcPct val="130000"/>
              </a:lnSpc>
              <a:buNone/>
            </a:pPr>
            <a:r>
              <a:rPr lang="en-US" sz="1800" i="1" kern="0" spc="-11" dirty="0">
                <a:solidFill>
                  <a:srgbClr val="1B2A4A"/>
                </a:solidFill>
                <a:latin typeface="Barlow" panose="00000500000000000000" pitchFamily="2" charset="0"/>
                <a:ea typeface="Barlow" pitchFamily="34" charset="-122"/>
                <a:cs typeface="Barlow" pitchFamily="34" charset="-120"/>
              </a:rPr>
              <a:t>Data residency</a:t>
            </a:r>
            <a:endParaRPr lang="en-US" sz="1800" dirty="0">
              <a:latin typeface="Barlow" panose="00000500000000000000" pitchFamily="2" charset="0"/>
            </a:endParaRPr>
          </a:p>
        </p:txBody>
      </p:sp>
      <p:sp>
        <p:nvSpPr>
          <p:cNvPr id="17" name="Shape 15"/>
          <p:cNvSpPr/>
          <p:nvPr/>
        </p:nvSpPr>
        <p:spPr>
          <a:xfrm>
            <a:off x="3993952" y="5466040"/>
            <a:ext cx="4807148" cy="9525"/>
          </a:xfrm>
          <a:prstGeom prst="rect">
            <a:avLst/>
          </a:prstGeom>
          <a:solidFill>
            <a:srgbClr val="E1DBCB"/>
          </a:solidFill>
          <a:ln/>
        </p:spPr>
        <p:txBody>
          <a:bodyPr/>
          <a:lstStyle/>
          <a:p>
            <a:endParaRPr lang="en-US">
              <a:latin typeface="Barlow" panose="00000500000000000000" pitchFamily="2" charset="0"/>
            </a:endParaRPr>
          </a:p>
        </p:txBody>
      </p:sp>
      <p:sp>
        <p:nvSpPr>
          <p:cNvPr id="18" name="Text 16"/>
          <p:cNvSpPr/>
          <p:nvPr/>
        </p:nvSpPr>
        <p:spPr>
          <a:xfrm>
            <a:off x="3993952" y="4675704"/>
            <a:ext cx="4779913" cy="733187"/>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1" dirty="0">
                <a:solidFill>
                  <a:srgbClr val="2E3F5F"/>
                </a:solidFill>
                <a:latin typeface="Barlow" panose="00000500000000000000" pitchFamily="2" charset="0"/>
                <a:ea typeface="Barlow" pitchFamily="34" charset="-122"/>
                <a:cs typeface="Barlow" pitchFamily="34" charset="-120"/>
              </a:rPr>
              <a:t>EU-only processing possible · zero third-country transfer</a:t>
            </a:r>
            <a:endParaRPr lang="en-US" sz="1800" dirty="0">
              <a:latin typeface="Barlow" panose="00000500000000000000" pitchFamily="2" charset="0"/>
            </a:endParaRPr>
          </a:p>
        </p:txBody>
      </p:sp>
      <p:sp>
        <p:nvSpPr>
          <p:cNvPr id="19" name="Shape 17"/>
          <p:cNvSpPr/>
          <p:nvPr/>
        </p:nvSpPr>
        <p:spPr>
          <a:xfrm>
            <a:off x="1047750" y="6024325"/>
            <a:ext cx="2946202" cy="9525"/>
          </a:xfrm>
          <a:prstGeom prst="rect">
            <a:avLst/>
          </a:prstGeom>
          <a:solidFill>
            <a:srgbClr val="E1DBCB"/>
          </a:solidFill>
          <a:ln/>
        </p:spPr>
        <p:txBody>
          <a:bodyPr/>
          <a:lstStyle/>
          <a:p>
            <a:endParaRPr lang="en-US">
              <a:latin typeface="Barlow" panose="00000500000000000000" pitchFamily="2" charset="0"/>
            </a:endParaRPr>
          </a:p>
        </p:txBody>
      </p:sp>
      <p:sp>
        <p:nvSpPr>
          <p:cNvPr id="20" name="Text 18"/>
          <p:cNvSpPr/>
          <p:nvPr/>
        </p:nvSpPr>
        <p:spPr>
          <a:xfrm>
            <a:off x="1047750" y="5568911"/>
            <a:ext cx="2863138" cy="398264"/>
          </a:xfrm>
          <a:prstGeom prst="rect">
            <a:avLst/>
          </a:prstGeom>
          <a:noFill/>
          <a:ln/>
        </p:spPr>
        <p:txBody>
          <a:bodyPr wrap="square" lIns="25400" tIns="25400" rIns="25400" bIns="25400" rtlCol="0" anchor="t">
            <a:normAutofit/>
          </a:bodyPr>
          <a:lstStyle/>
          <a:p>
            <a:pPr marL="0" indent="0" algn="l">
              <a:lnSpc>
                <a:spcPct val="130000"/>
              </a:lnSpc>
              <a:buNone/>
            </a:pPr>
            <a:r>
              <a:rPr lang="en-US" sz="1800" i="1" kern="0" spc="-11" dirty="0">
                <a:solidFill>
                  <a:srgbClr val="1B2A4A"/>
                </a:solidFill>
                <a:latin typeface="Barlow" panose="00000500000000000000" pitchFamily="2" charset="0"/>
                <a:ea typeface="Barlow" pitchFamily="34" charset="-122"/>
                <a:cs typeface="Barlow" pitchFamily="34" charset="-120"/>
              </a:rPr>
              <a:t>FHIR R4 export</a:t>
            </a:r>
            <a:endParaRPr lang="en-US" sz="1800" dirty="0">
              <a:latin typeface="Barlow" panose="00000500000000000000" pitchFamily="2" charset="0"/>
            </a:endParaRPr>
          </a:p>
        </p:txBody>
      </p:sp>
      <p:sp>
        <p:nvSpPr>
          <p:cNvPr id="21" name="Shape 19"/>
          <p:cNvSpPr/>
          <p:nvPr/>
        </p:nvSpPr>
        <p:spPr>
          <a:xfrm>
            <a:off x="3993952" y="6024325"/>
            <a:ext cx="4807148" cy="9525"/>
          </a:xfrm>
          <a:prstGeom prst="rect">
            <a:avLst/>
          </a:prstGeom>
          <a:solidFill>
            <a:srgbClr val="E1DBCB"/>
          </a:solidFill>
          <a:ln/>
        </p:spPr>
        <p:txBody>
          <a:bodyPr/>
          <a:lstStyle/>
          <a:p>
            <a:endParaRPr lang="en-US">
              <a:latin typeface="Barlow" panose="00000500000000000000" pitchFamily="2" charset="0"/>
            </a:endParaRPr>
          </a:p>
        </p:txBody>
      </p:sp>
      <p:sp>
        <p:nvSpPr>
          <p:cNvPr id="22" name="Text 20"/>
          <p:cNvSpPr/>
          <p:nvPr/>
        </p:nvSpPr>
        <p:spPr>
          <a:xfrm>
            <a:off x="3993952" y="5568911"/>
            <a:ext cx="4779913" cy="398264"/>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1" dirty="0">
                <a:solidFill>
                  <a:srgbClr val="2E3F5F"/>
                </a:solidFill>
                <a:latin typeface="Barlow" panose="00000500000000000000" pitchFamily="2" charset="0"/>
                <a:ea typeface="Barlow" pitchFamily="34" charset="-122"/>
                <a:cs typeface="Barlow" pitchFamily="34" charset="-120"/>
              </a:rPr>
              <a:t>LOINC · SNOMED CT · RxNorm · ORPHA</a:t>
            </a:r>
            <a:endParaRPr lang="en-US" sz="1800" dirty="0">
              <a:latin typeface="Barlow" panose="00000500000000000000" pitchFamily="2" charset="0"/>
            </a:endParaRPr>
          </a:p>
        </p:txBody>
      </p:sp>
      <p:sp>
        <p:nvSpPr>
          <p:cNvPr id="23" name="Shape 21"/>
          <p:cNvSpPr/>
          <p:nvPr/>
        </p:nvSpPr>
        <p:spPr>
          <a:xfrm>
            <a:off x="1047750" y="6917531"/>
            <a:ext cx="2946202" cy="9525"/>
          </a:xfrm>
          <a:prstGeom prst="rect">
            <a:avLst/>
          </a:prstGeom>
          <a:solidFill>
            <a:srgbClr val="E1DBCB"/>
          </a:solidFill>
          <a:ln/>
        </p:spPr>
        <p:txBody>
          <a:bodyPr/>
          <a:lstStyle/>
          <a:p>
            <a:endParaRPr lang="en-US">
              <a:latin typeface="Barlow" panose="00000500000000000000" pitchFamily="2" charset="0"/>
            </a:endParaRPr>
          </a:p>
        </p:txBody>
      </p:sp>
      <p:sp>
        <p:nvSpPr>
          <p:cNvPr id="24" name="Text 22"/>
          <p:cNvSpPr/>
          <p:nvPr/>
        </p:nvSpPr>
        <p:spPr>
          <a:xfrm>
            <a:off x="1047750" y="6127195"/>
            <a:ext cx="2863138" cy="733187"/>
          </a:xfrm>
          <a:prstGeom prst="rect">
            <a:avLst/>
          </a:prstGeom>
          <a:noFill/>
          <a:ln/>
        </p:spPr>
        <p:txBody>
          <a:bodyPr wrap="square" lIns="25400" tIns="25400" rIns="25400" bIns="25400" rtlCol="0" anchor="t">
            <a:normAutofit/>
          </a:bodyPr>
          <a:lstStyle/>
          <a:p>
            <a:pPr marL="0" indent="0" algn="l">
              <a:lnSpc>
                <a:spcPct val="130000"/>
              </a:lnSpc>
              <a:buNone/>
            </a:pPr>
            <a:r>
              <a:rPr lang="en-US" sz="1800" i="1" kern="0" spc="-11" dirty="0">
                <a:solidFill>
                  <a:srgbClr val="1B2A4A"/>
                </a:solidFill>
                <a:latin typeface="Barlow" panose="00000500000000000000" pitchFamily="2" charset="0"/>
                <a:ea typeface="Barlow" pitchFamily="34" charset="-122"/>
                <a:cs typeface="Barlow" pitchFamily="34" charset="-120"/>
              </a:rPr>
              <a:t>Audit chain</a:t>
            </a:r>
            <a:endParaRPr lang="en-US" sz="1800" dirty="0">
              <a:latin typeface="Barlow" panose="00000500000000000000" pitchFamily="2" charset="0"/>
            </a:endParaRPr>
          </a:p>
        </p:txBody>
      </p:sp>
      <p:sp>
        <p:nvSpPr>
          <p:cNvPr id="25" name="Shape 23"/>
          <p:cNvSpPr/>
          <p:nvPr/>
        </p:nvSpPr>
        <p:spPr>
          <a:xfrm>
            <a:off x="3993952" y="6917531"/>
            <a:ext cx="4807148" cy="9525"/>
          </a:xfrm>
          <a:prstGeom prst="rect">
            <a:avLst/>
          </a:prstGeom>
          <a:solidFill>
            <a:srgbClr val="E1DBCB"/>
          </a:solidFill>
          <a:ln/>
        </p:spPr>
        <p:txBody>
          <a:bodyPr/>
          <a:lstStyle/>
          <a:p>
            <a:endParaRPr lang="en-US">
              <a:latin typeface="Barlow" panose="00000500000000000000" pitchFamily="2" charset="0"/>
            </a:endParaRPr>
          </a:p>
        </p:txBody>
      </p:sp>
      <p:sp>
        <p:nvSpPr>
          <p:cNvPr id="26" name="Text 24"/>
          <p:cNvSpPr/>
          <p:nvPr/>
        </p:nvSpPr>
        <p:spPr>
          <a:xfrm>
            <a:off x="3993952" y="6127195"/>
            <a:ext cx="4779913" cy="733187"/>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1" dirty="0">
                <a:solidFill>
                  <a:srgbClr val="2E3F5F"/>
                </a:solidFill>
                <a:latin typeface="Barlow" panose="00000500000000000000" pitchFamily="2" charset="0"/>
                <a:ea typeface="Barlow" pitchFamily="34" charset="-122"/>
                <a:cs typeface="Barlow" pitchFamily="34" charset="-120"/>
              </a:rPr>
              <a:t>SHA-256 hash chain · tamper-detectable · 6-year retention</a:t>
            </a:r>
            <a:endParaRPr lang="en-US" sz="1800" dirty="0">
              <a:latin typeface="Barlow" panose="00000500000000000000" pitchFamily="2" charset="0"/>
            </a:endParaRPr>
          </a:p>
        </p:txBody>
      </p:sp>
      <p:sp>
        <p:nvSpPr>
          <p:cNvPr id="27" name="Shape 25"/>
          <p:cNvSpPr/>
          <p:nvPr/>
        </p:nvSpPr>
        <p:spPr>
          <a:xfrm>
            <a:off x="1047750" y="7810738"/>
            <a:ext cx="2946202" cy="9525"/>
          </a:xfrm>
          <a:prstGeom prst="rect">
            <a:avLst/>
          </a:prstGeom>
          <a:solidFill>
            <a:srgbClr val="E1DBCB"/>
          </a:solidFill>
          <a:ln/>
        </p:spPr>
        <p:txBody>
          <a:bodyPr/>
          <a:lstStyle/>
          <a:p>
            <a:endParaRPr lang="en-US">
              <a:latin typeface="Barlow" panose="00000500000000000000" pitchFamily="2" charset="0"/>
            </a:endParaRPr>
          </a:p>
        </p:txBody>
      </p:sp>
      <p:sp>
        <p:nvSpPr>
          <p:cNvPr id="28" name="Text 26"/>
          <p:cNvSpPr/>
          <p:nvPr/>
        </p:nvSpPr>
        <p:spPr>
          <a:xfrm>
            <a:off x="1047750" y="7020401"/>
            <a:ext cx="2863138" cy="733187"/>
          </a:xfrm>
          <a:prstGeom prst="rect">
            <a:avLst/>
          </a:prstGeom>
          <a:noFill/>
          <a:ln/>
        </p:spPr>
        <p:txBody>
          <a:bodyPr wrap="square" lIns="25400" tIns="25400" rIns="25400" bIns="25400" rtlCol="0" anchor="t">
            <a:normAutofit/>
          </a:bodyPr>
          <a:lstStyle/>
          <a:p>
            <a:pPr marL="0" indent="0" algn="l">
              <a:lnSpc>
                <a:spcPct val="130000"/>
              </a:lnSpc>
              <a:buNone/>
            </a:pPr>
            <a:r>
              <a:rPr lang="en-US" sz="1800" i="1" kern="0" spc="-11" dirty="0">
                <a:solidFill>
                  <a:srgbClr val="1B2A4A"/>
                </a:solidFill>
                <a:latin typeface="Barlow" panose="00000500000000000000" pitchFamily="2" charset="0"/>
                <a:ea typeface="Barlow" pitchFamily="34" charset="-122"/>
                <a:cs typeface="Barlow" pitchFamily="34" charset="-120"/>
              </a:rPr>
              <a:t>Clinical register</a:t>
            </a:r>
            <a:endParaRPr lang="en-US" sz="1800" dirty="0">
              <a:latin typeface="Barlow" panose="00000500000000000000" pitchFamily="2" charset="0"/>
            </a:endParaRPr>
          </a:p>
        </p:txBody>
      </p:sp>
      <p:sp>
        <p:nvSpPr>
          <p:cNvPr id="29" name="Shape 27"/>
          <p:cNvSpPr/>
          <p:nvPr/>
        </p:nvSpPr>
        <p:spPr>
          <a:xfrm>
            <a:off x="3993952" y="7810738"/>
            <a:ext cx="4807148" cy="9525"/>
          </a:xfrm>
          <a:prstGeom prst="rect">
            <a:avLst/>
          </a:prstGeom>
          <a:solidFill>
            <a:srgbClr val="E1DBCB"/>
          </a:solidFill>
          <a:ln/>
        </p:spPr>
        <p:txBody>
          <a:bodyPr/>
          <a:lstStyle/>
          <a:p>
            <a:endParaRPr lang="en-US">
              <a:latin typeface="Barlow" panose="00000500000000000000" pitchFamily="2" charset="0"/>
            </a:endParaRPr>
          </a:p>
        </p:txBody>
      </p:sp>
      <p:sp>
        <p:nvSpPr>
          <p:cNvPr id="30" name="Text 28"/>
          <p:cNvSpPr/>
          <p:nvPr/>
        </p:nvSpPr>
        <p:spPr>
          <a:xfrm>
            <a:off x="3993952" y="7020401"/>
            <a:ext cx="4779913" cy="733187"/>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1" dirty="0">
                <a:solidFill>
                  <a:srgbClr val="2E3F5F"/>
                </a:solidFill>
                <a:latin typeface="Barlow" panose="00000500000000000000" pitchFamily="2" charset="0"/>
                <a:ea typeface="Barlow" pitchFamily="34" charset="-122"/>
                <a:cs typeface="Barlow" pitchFamily="34" charset="-120"/>
              </a:rPr>
              <a:t>"Suggests," "consider" — never definitive diagnosis</a:t>
            </a:r>
            <a:endParaRPr lang="en-US" sz="1800" dirty="0">
              <a:latin typeface="Barlow" panose="00000500000000000000" pitchFamily="2" charset="0"/>
            </a:endParaRPr>
          </a:p>
        </p:txBody>
      </p:sp>
      <p:sp>
        <p:nvSpPr>
          <p:cNvPr id="31" name="Shape 29"/>
          <p:cNvSpPr/>
          <p:nvPr/>
        </p:nvSpPr>
        <p:spPr>
          <a:xfrm>
            <a:off x="1047750" y="8703945"/>
            <a:ext cx="2946202" cy="9525"/>
          </a:xfrm>
          <a:prstGeom prst="rect">
            <a:avLst/>
          </a:prstGeom>
          <a:solidFill>
            <a:srgbClr val="E1DBCB"/>
          </a:solidFill>
          <a:ln/>
        </p:spPr>
        <p:txBody>
          <a:bodyPr/>
          <a:lstStyle/>
          <a:p>
            <a:endParaRPr lang="en-US">
              <a:latin typeface="Barlow" panose="00000500000000000000" pitchFamily="2" charset="0"/>
            </a:endParaRPr>
          </a:p>
        </p:txBody>
      </p:sp>
      <p:sp>
        <p:nvSpPr>
          <p:cNvPr id="32" name="Text 30"/>
          <p:cNvSpPr/>
          <p:nvPr/>
        </p:nvSpPr>
        <p:spPr>
          <a:xfrm>
            <a:off x="1047750" y="7913608"/>
            <a:ext cx="2863138" cy="733187"/>
          </a:xfrm>
          <a:prstGeom prst="rect">
            <a:avLst/>
          </a:prstGeom>
          <a:noFill/>
          <a:ln/>
        </p:spPr>
        <p:txBody>
          <a:bodyPr wrap="square" lIns="25400" tIns="25400" rIns="25400" bIns="25400" rtlCol="0" anchor="t">
            <a:normAutofit/>
          </a:bodyPr>
          <a:lstStyle/>
          <a:p>
            <a:pPr marL="0" indent="0" algn="l">
              <a:lnSpc>
                <a:spcPct val="130000"/>
              </a:lnSpc>
              <a:buNone/>
            </a:pPr>
            <a:r>
              <a:rPr lang="en-US" sz="1800" i="1" kern="0" spc="-11" dirty="0">
                <a:solidFill>
                  <a:srgbClr val="1B2A4A"/>
                </a:solidFill>
                <a:latin typeface="Barlow" panose="00000500000000000000" pitchFamily="2" charset="0"/>
                <a:ea typeface="Barlow" pitchFamily="34" charset="-122"/>
                <a:cs typeface="Barlow" pitchFamily="34" charset="-120"/>
              </a:rPr>
              <a:t>CE marking</a:t>
            </a:r>
            <a:endParaRPr lang="en-US" sz="1800" dirty="0">
              <a:latin typeface="Barlow" panose="00000500000000000000" pitchFamily="2" charset="0"/>
            </a:endParaRPr>
          </a:p>
        </p:txBody>
      </p:sp>
      <p:sp>
        <p:nvSpPr>
          <p:cNvPr id="33" name="Shape 31"/>
          <p:cNvSpPr/>
          <p:nvPr/>
        </p:nvSpPr>
        <p:spPr>
          <a:xfrm>
            <a:off x="3993952" y="8703945"/>
            <a:ext cx="4807148" cy="9525"/>
          </a:xfrm>
          <a:prstGeom prst="rect">
            <a:avLst/>
          </a:prstGeom>
          <a:solidFill>
            <a:srgbClr val="E1DBCB"/>
          </a:solidFill>
          <a:ln/>
        </p:spPr>
        <p:txBody>
          <a:bodyPr/>
          <a:lstStyle/>
          <a:p>
            <a:endParaRPr lang="en-US">
              <a:latin typeface="Barlow" panose="00000500000000000000" pitchFamily="2" charset="0"/>
            </a:endParaRPr>
          </a:p>
        </p:txBody>
      </p:sp>
      <p:sp>
        <p:nvSpPr>
          <p:cNvPr id="34" name="Text 32"/>
          <p:cNvSpPr/>
          <p:nvPr/>
        </p:nvSpPr>
        <p:spPr>
          <a:xfrm>
            <a:off x="3993952" y="7913608"/>
            <a:ext cx="4779913" cy="733187"/>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1" dirty="0">
                <a:solidFill>
                  <a:srgbClr val="2E3F5F"/>
                </a:solidFill>
                <a:latin typeface="Barlow" panose="00000500000000000000" pitchFamily="2" charset="0"/>
                <a:ea typeface="Barlow" pitchFamily="34" charset="-122"/>
                <a:cs typeface="Barlow" pitchFamily="34" charset="-120"/>
              </a:rPr>
              <a:t>MDR Class I SaMD · pathway </a:t>
            </a:r>
            <a:r>
              <a:rPr lang="en-US" sz="1800" i="1" kern="0" spc="-11" dirty="0">
                <a:solidFill>
                  <a:srgbClr val="B87A4B"/>
                </a:solidFill>
                <a:latin typeface="Barlow" panose="00000500000000000000" pitchFamily="2" charset="0"/>
                <a:ea typeface="Barlow" pitchFamily="34" charset="-122"/>
                <a:cs typeface="Barlow" pitchFamily="34" charset="-120"/>
              </a:rPr>
              <a:t>TBD with your input</a:t>
            </a:r>
            <a:endParaRPr lang="en-US" sz="1800" dirty="0">
              <a:latin typeface="Barlow" panose="00000500000000000000" pitchFamily="2" charset="0"/>
            </a:endParaRPr>
          </a:p>
        </p:txBody>
      </p:sp>
      <p:sp>
        <p:nvSpPr>
          <p:cNvPr id="35" name="Text 33"/>
          <p:cNvSpPr/>
          <p:nvPr/>
        </p:nvSpPr>
        <p:spPr>
          <a:xfrm>
            <a:off x="1047750" y="8806815"/>
            <a:ext cx="2863138" cy="737235"/>
          </a:xfrm>
          <a:prstGeom prst="rect">
            <a:avLst/>
          </a:prstGeom>
          <a:noFill/>
          <a:ln/>
        </p:spPr>
        <p:txBody>
          <a:bodyPr wrap="square" lIns="25400" tIns="25400" rIns="25400" bIns="25400" rtlCol="0" anchor="t">
            <a:normAutofit/>
          </a:bodyPr>
          <a:lstStyle/>
          <a:p>
            <a:pPr marL="0" indent="0" algn="l">
              <a:lnSpc>
                <a:spcPct val="130000"/>
              </a:lnSpc>
              <a:buNone/>
            </a:pPr>
            <a:r>
              <a:rPr lang="en-US" sz="1800" i="1" kern="0" spc="-11" dirty="0">
                <a:solidFill>
                  <a:srgbClr val="1B2A4A"/>
                </a:solidFill>
                <a:latin typeface="Barlow" panose="00000500000000000000" pitchFamily="2" charset="0"/>
                <a:ea typeface="Barlow" pitchFamily="34" charset="-122"/>
                <a:cs typeface="Barlow" pitchFamily="34" charset="-120"/>
              </a:rPr>
              <a:t>EU AI Act</a:t>
            </a:r>
            <a:endParaRPr lang="en-US" sz="1800" dirty="0">
              <a:latin typeface="Barlow" panose="00000500000000000000" pitchFamily="2" charset="0"/>
            </a:endParaRPr>
          </a:p>
        </p:txBody>
      </p:sp>
      <p:sp>
        <p:nvSpPr>
          <p:cNvPr id="36" name="Text 34"/>
          <p:cNvSpPr/>
          <p:nvPr/>
        </p:nvSpPr>
        <p:spPr>
          <a:xfrm>
            <a:off x="3993952" y="8806815"/>
            <a:ext cx="4779913" cy="737235"/>
          </a:xfrm>
          <a:prstGeom prst="rect">
            <a:avLst/>
          </a:prstGeom>
          <a:noFill/>
          <a:ln/>
        </p:spPr>
        <p:txBody>
          <a:bodyPr wrap="square" lIns="25400" tIns="25400" rIns="25400" bIns="25400" rtlCol="0" anchor="t">
            <a:normAutofit/>
          </a:bodyPr>
          <a:lstStyle/>
          <a:p>
            <a:pPr marL="0" indent="0" algn="l">
              <a:lnSpc>
                <a:spcPct val="130000"/>
              </a:lnSpc>
              <a:buNone/>
            </a:pPr>
            <a:r>
              <a:rPr lang="en-US" sz="1800" kern="0" spc="-11" dirty="0">
                <a:solidFill>
                  <a:srgbClr val="2E3F5F"/>
                </a:solidFill>
                <a:latin typeface="Barlow" panose="00000500000000000000" pitchFamily="2" charset="0"/>
                <a:ea typeface="Barlow" pitchFamily="34" charset="-122"/>
                <a:cs typeface="Barlow" pitchFamily="34" charset="-120"/>
              </a:rPr>
              <a:t>Reading: </a:t>
            </a:r>
            <a:r>
              <a:rPr lang="en-US" sz="1800" i="1" kern="0" spc="-11" dirty="0">
                <a:solidFill>
                  <a:srgbClr val="B87A4B"/>
                </a:solidFill>
                <a:latin typeface="Barlow" panose="00000500000000000000" pitchFamily="2" charset="0"/>
                <a:ea typeface="Barlow" pitchFamily="34" charset="-122"/>
                <a:cs typeface="Barlow" pitchFamily="34" charset="-120"/>
              </a:rPr>
              <a:t>outside high-risk </a:t>
            </a:r>
            <a:r>
              <a:rPr lang="en-US" sz="1800" kern="0" spc="-11" dirty="0">
                <a:solidFill>
                  <a:srgbClr val="2E3F5F"/>
                </a:solidFill>
                <a:latin typeface="Barlow" panose="00000500000000000000" pitchFamily="2" charset="0"/>
                <a:ea typeface="Barlow" pitchFamily="34" charset="-122"/>
                <a:cs typeface="Barlow" pitchFamily="34" charset="-120"/>
              </a:rPr>
              <a:t>per Article 6 / Annex III</a:t>
            </a:r>
            <a:endParaRPr lang="en-US" sz="1800" dirty="0">
              <a:latin typeface="Barlow" panose="00000500000000000000" pitchFamily="2" charset="0"/>
            </a:endParaRPr>
          </a:p>
        </p:txBody>
      </p:sp>
      <p:sp>
        <p:nvSpPr>
          <p:cNvPr id="37" name="Shape 35"/>
          <p:cNvSpPr/>
          <p:nvPr/>
        </p:nvSpPr>
        <p:spPr>
          <a:xfrm>
            <a:off x="9486900" y="3096697"/>
            <a:ext cx="7753350" cy="2407920"/>
          </a:xfrm>
          <a:prstGeom prst="rect">
            <a:avLst/>
          </a:prstGeom>
          <a:solidFill>
            <a:srgbClr val="B87A4B">
              <a:alpha val="12000"/>
            </a:srgbClr>
          </a:solidFill>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38" name="Shape 36"/>
          <p:cNvSpPr/>
          <p:nvPr/>
        </p:nvSpPr>
        <p:spPr>
          <a:xfrm>
            <a:off x="9486900" y="5496997"/>
            <a:ext cx="7753350" cy="9525"/>
          </a:xfrm>
          <a:prstGeom prst="rect">
            <a:avLst/>
          </a:prstGeom>
          <a:solidFill>
            <a:srgbClr val="B87A4B"/>
          </a:solidFill>
          <a:ln/>
        </p:spPr>
        <p:txBody>
          <a:bodyPr/>
          <a:lstStyle/>
          <a:p>
            <a:endParaRPr lang="en-US">
              <a:latin typeface="Barlow" panose="00000500000000000000" pitchFamily="2" charset="0"/>
            </a:endParaRPr>
          </a:p>
        </p:txBody>
      </p:sp>
      <p:sp>
        <p:nvSpPr>
          <p:cNvPr id="39" name="Shape 37"/>
          <p:cNvSpPr/>
          <p:nvPr/>
        </p:nvSpPr>
        <p:spPr>
          <a:xfrm>
            <a:off x="9486900" y="3096697"/>
            <a:ext cx="7753350" cy="9525"/>
          </a:xfrm>
          <a:prstGeom prst="rect">
            <a:avLst/>
          </a:prstGeom>
          <a:solidFill>
            <a:srgbClr val="B87A4B"/>
          </a:solidFill>
          <a:ln/>
        </p:spPr>
        <p:txBody>
          <a:bodyPr/>
          <a:lstStyle/>
          <a:p>
            <a:endParaRPr lang="en-US">
              <a:latin typeface="Barlow" panose="00000500000000000000" pitchFamily="2" charset="0"/>
            </a:endParaRPr>
          </a:p>
        </p:txBody>
      </p:sp>
      <p:sp>
        <p:nvSpPr>
          <p:cNvPr id="40" name="Shape 38"/>
          <p:cNvSpPr/>
          <p:nvPr/>
        </p:nvSpPr>
        <p:spPr>
          <a:xfrm>
            <a:off x="9486900" y="3096697"/>
            <a:ext cx="22860" cy="2407920"/>
          </a:xfrm>
          <a:prstGeom prst="rect">
            <a:avLst/>
          </a:prstGeom>
          <a:solidFill>
            <a:srgbClr val="B87A4B"/>
          </a:solidFill>
          <a:ln/>
        </p:spPr>
        <p:txBody>
          <a:bodyPr/>
          <a:lstStyle/>
          <a:p>
            <a:endParaRPr lang="en-US">
              <a:latin typeface="Barlow" panose="00000500000000000000" pitchFamily="2" charset="0"/>
            </a:endParaRPr>
          </a:p>
        </p:txBody>
      </p:sp>
      <p:sp>
        <p:nvSpPr>
          <p:cNvPr id="41" name="Shape 39"/>
          <p:cNvSpPr/>
          <p:nvPr/>
        </p:nvSpPr>
        <p:spPr>
          <a:xfrm>
            <a:off x="17232630" y="3096697"/>
            <a:ext cx="9525" cy="2407920"/>
          </a:xfrm>
          <a:prstGeom prst="rect">
            <a:avLst/>
          </a:prstGeom>
          <a:solidFill>
            <a:srgbClr val="B87A4B"/>
          </a:solidFill>
          <a:ln/>
        </p:spPr>
        <p:txBody>
          <a:bodyPr/>
          <a:lstStyle/>
          <a:p>
            <a:endParaRPr lang="en-US">
              <a:latin typeface="Barlow" panose="00000500000000000000" pitchFamily="2" charset="0"/>
            </a:endParaRPr>
          </a:p>
        </p:txBody>
      </p:sp>
      <p:sp>
        <p:nvSpPr>
          <p:cNvPr id="42" name="Text 40"/>
          <p:cNvSpPr/>
          <p:nvPr/>
        </p:nvSpPr>
        <p:spPr>
          <a:xfrm>
            <a:off x="9890760" y="3447217"/>
            <a:ext cx="7169696"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CLASSIFICATION THESIS</a:t>
            </a:r>
            <a:endParaRPr lang="en-US" sz="1800" dirty="0">
              <a:latin typeface="Barlow" panose="00000500000000000000" pitchFamily="2" charset="0"/>
            </a:endParaRPr>
          </a:p>
        </p:txBody>
      </p:sp>
      <p:sp>
        <p:nvSpPr>
          <p:cNvPr id="43" name="Text 41"/>
          <p:cNvSpPr/>
          <p:nvPr/>
        </p:nvSpPr>
        <p:spPr>
          <a:xfrm>
            <a:off x="9890760" y="3919657"/>
            <a:ext cx="7169696" cy="1272540"/>
          </a:xfrm>
          <a:prstGeom prst="rect">
            <a:avLst/>
          </a:prstGeom>
          <a:noFill/>
          <a:ln/>
        </p:spPr>
        <p:txBody>
          <a:bodyPr wrap="square" lIns="25400" tIns="25400" rIns="25400" bIns="25400" rtlCol="0" anchor="t">
            <a:normAutofit/>
          </a:bodyPr>
          <a:lstStyle/>
          <a:p>
            <a:pPr marL="0" indent="0" algn="l">
              <a:lnSpc>
                <a:spcPct val="120000"/>
              </a:lnSpc>
              <a:buNone/>
            </a:pPr>
            <a:r>
              <a:rPr lang="en-US" sz="2700" kern="0" spc="-32" dirty="0">
                <a:solidFill>
                  <a:srgbClr val="1B2A4A"/>
                </a:solidFill>
                <a:latin typeface="Barlow" panose="00000500000000000000" pitchFamily="2" charset="0"/>
                <a:ea typeface="Barlow" pitchFamily="34" charset="-122"/>
                <a:cs typeface="Barlow" pitchFamily="34" charset="-120"/>
              </a:rPr>
              <a:t>Clinical documentation assistant — </a:t>
            </a:r>
            <a:r>
              <a:rPr lang="en-US" sz="2700" i="1" kern="0" spc="-32" dirty="0">
                <a:solidFill>
                  <a:srgbClr val="B87A4B"/>
                </a:solidFill>
                <a:latin typeface="Barlow" panose="00000500000000000000" pitchFamily="2" charset="0"/>
                <a:ea typeface="Barlow" pitchFamily="34" charset="-122"/>
                <a:cs typeface="Barlow" pitchFamily="34" charset="-120"/>
              </a:rPr>
              <a:t>non-diagnostic. </a:t>
            </a:r>
            <a:r>
              <a:rPr lang="en-US" sz="2700" kern="0" spc="-32" dirty="0">
                <a:solidFill>
                  <a:srgbClr val="1B2A4A"/>
                </a:solidFill>
                <a:latin typeface="Barlow" panose="00000500000000000000" pitchFamily="2" charset="0"/>
                <a:ea typeface="Barlow" pitchFamily="34" charset="-122"/>
                <a:cs typeface="Barlow" pitchFamily="34" charset="-120"/>
              </a:rPr>
              <a:t>The physician decides.</a:t>
            </a:r>
            <a:endParaRPr lang="en-US" sz="2700" dirty="0">
              <a:latin typeface="Barlow" panose="00000500000000000000" pitchFamily="2" charset="0"/>
            </a:endParaRPr>
          </a:p>
        </p:txBody>
      </p:sp>
      <p:sp>
        <p:nvSpPr>
          <p:cNvPr id="44" name="Shape 42"/>
          <p:cNvSpPr/>
          <p:nvPr/>
        </p:nvSpPr>
        <p:spPr>
          <a:xfrm>
            <a:off x="9486900" y="5733217"/>
            <a:ext cx="7753350" cy="3297555"/>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45" name="Text 43"/>
          <p:cNvSpPr/>
          <p:nvPr/>
        </p:nvSpPr>
        <p:spPr>
          <a:xfrm>
            <a:off x="9875520" y="6083737"/>
            <a:ext cx="7185394"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TWO OPEN QUESTIONS FOR FIT4INNOVATION</a:t>
            </a:r>
            <a:endParaRPr lang="en-US" sz="1800" dirty="0">
              <a:latin typeface="Barlow" panose="00000500000000000000" pitchFamily="2" charset="0"/>
            </a:endParaRPr>
          </a:p>
        </p:txBody>
      </p:sp>
      <p:sp>
        <p:nvSpPr>
          <p:cNvPr id="46" name="Text 44"/>
          <p:cNvSpPr/>
          <p:nvPr/>
        </p:nvSpPr>
        <p:spPr>
          <a:xfrm>
            <a:off x="9688830" y="6556177"/>
            <a:ext cx="7239000" cy="2162175"/>
          </a:xfrm>
          <a:prstGeom prst="rect">
            <a:avLst/>
          </a:prstGeom>
          <a:noFill/>
          <a:ln/>
        </p:spPr>
        <p:txBody>
          <a:bodyPr wrap="square" lIns="25400" tIns="25400" rIns="25400" bIns="25400" rtlCol="0" anchor="t">
            <a:normAutofit/>
          </a:bodyPr>
          <a:lstStyle/>
          <a:p>
            <a:pPr marL="0" indent="0" algn="l">
              <a:lnSpc>
                <a:spcPct val="145000"/>
              </a:lnSpc>
              <a:buNone/>
            </a:pPr>
            <a:r>
              <a:rPr lang="en-US" sz="2100" kern="0" spc="-11" dirty="0">
                <a:solidFill>
                  <a:srgbClr val="1B2A4A"/>
                </a:solidFill>
                <a:latin typeface="Barlow" panose="00000500000000000000" pitchFamily="2" charset="0"/>
                <a:ea typeface="Barlow" pitchFamily="34" charset="-122"/>
                <a:cs typeface="Barlow" pitchFamily="34" charset="-120"/>
              </a:rPr>
              <a:t>Is Class I defensible for a tool that surfaces longitudinal observations — or do we plan for Class IIa from the start?</a:t>
            </a:r>
            <a:endParaRPr lang="en-US" sz="2100" dirty="0">
              <a:latin typeface="Barlow" panose="00000500000000000000" pitchFamily="2" charset="0"/>
            </a:endParaRPr>
          </a:p>
          <a:p>
            <a:pPr marL="0" indent="0" algn="l">
              <a:lnSpc>
                <a:spcPct val="145000"/>
              </a:lnSpc>
              <a:buNone/>
            </a:pPr>
            <a:r>
              <a:rPr lang="en-US" sz="2100" kern="0" spc="-11" dirty="0">
                <a:solidFill>
                  <a:srgbClr val="1B2A4A"/>
                </a:solidFill>
                <a:latin typeface="Barlow" panose="00000500000000000000" pitchFamily="2" charset="0"/>
                <a:ea typeface="Barlow" pitchFamily="34" charset="-122"/>
                <a:cs typeface="Barlow" pitchFamily="34" charset="-120"/>
              </a:rPr>
              <a:t>EU AI Act × MDR interaction: does our Article 6 reading hold?</a:t>
            </a:r>
            <a:endParaRPr lang="en-US" sz="2100" dirty="0">
              <a:latin typeface="Barlow" panose="00000500000000000000" pitchFamily="2" charset="0"/>
            </a:endParaRPr>
          </a:p>
        </p:txBody>
      </p:sp>
      <p:sp>
        <p:nvSpPr>
          <p:cNvPr id="47" name="Text 45"/>
          <p:cNvSpPr/>
          <p:nvPr/>
        </p:nvSpPr>
        <p:spPr>
          <a:xfrm>
            <a:off x="16553259" y="9624060"/>
            <a:ext cx="763191"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800" dirty="0">
              <a:latin typeface="Barlow" panose="00000500000000000000" pitchFamily="2"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EDE9E1"/>
        </a:solidFill>
        <a:effectLst/>
      </p:bgPr>
    </p:bg>
    <p:spTree>
      <p:nvGrpSpPr>
        <p:cNvPr id="1" name=""/>
        <p:cNvGrpSpPr/>
        <p:nvPr/>
      </p:nvGrpSpPr>
      <p:grpSpPr>
        <a:xfrm>
          <a:off x="0" y="0"/>
          <a:ext cx="0" cy="0"/>
          <a:chOff x="0" y="0"/>
          <a:chExt cx="0" cy="0"/>
        </a:xfrm>
      </p:grpSpPr>
      <p:sp>
        <p:nvSpPr>
          <p:cNvPr id="2" name="Shape 0"/>
          <p:cNvSpPr/>
          <p:nvPr/>
        </p:nvSpPr>
        <p:spPr>
          <a:xfrm>
            <a:off x="1047750" y="126111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3" name="Text 1"/>
          <p:cNvSpPr/>
          <p:nvPr/>
        </p:nvSpPr>
        <p:spPr>
          <a:xfrm>
            <a:off x="1047750" y="775335"/>
            <a:ext cx="1831062"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THE OFFER</a:t>
            </a:r>
            <a:endParaRPr lang="en-US" sz="1800" dirty="0">
              <a:latin typeface="Barlow" panose="00000500000000000000" pitchFamily="2" charset="0"/>
            </a:endParaRPr>
          </a:p>
        </p:txBody>
      </p:sp>
      <p:sp>
        <p:nvSpPr>
          <p:cNvPr id="4" name="Text 2"/>
          <p:cNvSpPr/>
          <p:nvPr/>
        </p:nvSpPr>
        <p:spPr>
          <a:xfrm>
            <a:off x="16441460" y="762000"/>
            <a:ext cx="874990" cy="3848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468" dirty="0">
                <a:solidFill>
                  <a:srgbClr val="1B2A4A"/>
                </a:solidFill>
                <a:latin typeface="Barlow" panose="00000500000000000000" pitchFamily="2" charset="0"/>
                <a:ea typeface="Barlow" pitchFamily="34" charset="-122"/>
                <a:cs typeface="Barlow" pitchFamily="34" charset="-120"/>
              </a:rPr>
              <a:t>LIET</a:t>
            </a:r>
            <a:endParaRPr lang="en-US" sz="1950" dirty="0">
              <a:latin typeface="Barlow" panose="00000500000000000000" pitchFamily="2" charset="0"/>
            </a:endParaRPr>
          </a:p>
        </p:txBody>
      </p:sp>
      <p:sp>
        <p:nvSpPr>
          <p:cNvPr id="5" name="Text 3"/>
          <p:cNvSpPr/>
          <p:nvPr/>
        </p:nvSpPr>
        <p:spPr>
          <a:xfrm>
            <a:off x="1047750" y="1687830"/>
            <a:ext cx="166782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12 · HOW WE'D RUN A LUXEMBOURG PILOT</a:t>
            </a:r>
            <a:endParaRPr lang="en-US" sz="1800" dirty="0">
              <a:latin typeface="Barlow" panose="00000500000000000000" pitchFamily="2" charset="0"/>
            </a:endParaRPr>
          </a:p>
        </p:txBody>
      </p:sp>
      <p:sp>
        <p:nvSpPr>
          <p:cNvPr id="6" name="Text 4"/>
          <p:cNvSpPr/>
          <p:nvPr/>
        </p:nvSpPr>
        <p:spPr>
          <a:xfrm>
            <a:off x="1047750" y="2236470"/>
            <a:ext cx="15697200" cy="65532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500" kern="0" spc="-81" dirty="0">
                <a:solidFill>
                  <a:srgbClr val="1B2A4A"/>
                </a:solidFill>
                <a:latin typeface="Barlow" panose="00000500000000000000" pitchFamily="2" charset="0"/>
                <a:ea typeface="Barlow" pitchFamily="34" charset="-122"/>
                <a:cs typeface="Barlow" pitchFamily="34" charset="-120"/>
              </a:rPr>
              <a:t>A 90-day research collaboration — </a:t>
            </a:r>
            <a:r>
              <a:rPr lang="en-US" sz="4500" i="1" kern="0" spc="-81" dirty="0">
                <a:solidFill>
                  <a:srgbClr val="B87A4B"/>
                </a:solidFill>
                <a:latin typeface="Barlow" panose="00000500000000000000" pitchFamily="2" charset="0"/>
                <a:ea typeface="Barlow" pitchFamily="34" charset="-122"/>
                <a:cs typeface="Barlow" pitchFamily="34" charset="-120"/>
              </a:rPr>
              <a:t>zero cost to the hospital.</a:t>
            </a:r>
            <a:endParaRPr lang="en-US" sz="4500" dirty="0">
              <a:latin typeface="Barlow" panose="00000500000000000000" pitchFamily="2" charset="0"/>
            </a:endParaRPr>
          </a:p>
        </p:txBody>
      </p:sp>
      <p:sp>
        <p:nvSpPr>
          <p:cNvPr id="7" name="Text 5"/>
          <p:cNvSpPr/>
          <p:nvPr/>
        </p:nvSpPr>
        <p:spPr>
          <a:xfrm>
            <a:off x="1047750" y="2967990"/>
            <a:ext cx="14716125" cy="397193"/>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950" i="1" kern="0" spc="-11" dirty="0">
                <a:solidFill>
                  <a:srgbClr val="556688"/>
                </a:solidFill>
                <a:latin typeface="Barlow" panose="00000500000000000000" pitchFamily="2" charset="0"/>
                <a:ea typeface="Barlow" pitchFamily="34" charset="-122"/>
                <a:cs typeface="Barlow" pitchFamily="34" charset="-120"/>
              </a:rPr>
              <a:t>Framed as a clinical research partnership, not a product trial. Data residency in Luxembourg. Outputs are scientific and shareable.</a:t>
            </a:r>
            <a:endParaRPr lang="en-US" sz="1950" dirty="0">
              <a:latin typeface="Barlow" panose="00000500000000000000" pitchFamily="2" charset="0"/>
            </a:endParaRPr>
          </a:p>
        </p:txBody>
      </p:sp>
      <p:sp>
        <p:nvSpPr>
          <p:cNvPr id="8" name="Shape 6"/>
          <p:cNvSpPr/>
          <p:nvPr/>
        </p:nvSpPr>
        <p:spPr>
          <a:xfrm>
            <a:off x="1047750" y="3669983"/>
            <a:ext cx="5194221" cy="3851910"/>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9" name="Text 7"/>
          <p:cNvSpPr/>
          <p:nvPr/>
        </p:nvSpPr>
        <p:spPr>
          <a:xfrm>
            <a:off x="1436370" y="4020503"/>
            <a:ext cx="454949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WE PROVIDE</a:t>
            </a:r>
            <a:endParaRPr lang="en-US" sz="1800" dirty="0">
              <a:latin typeface="Barlow" panose="00000500000000000000" pitchFamily="2" charset="0"/>
            </a:endParaRPr>
          </a:p>
        </p:txBody>
      </p:sp>
      <p:sp>
        <p:nvSpPr>
          <p:cNvPr id="10" name="Text 8"/>
          <p:cNvSpPr/>
          <p:nvPr/>
        </p:nvSpPr>
        <p:spPr>
          <a:xfrm>
            <a:off x="1249680" y="4531043"/>
            <a:ext cx="4679871" cy="2305050"/>
          </a:xfrm>
          <a:prstGeom prst="rect">
            <a:avLst/>
          </a:prstGeom>
          <a:noFill/>
          <a:ln/>
        </p:spPr>
        <p:txBody>
          <a:bodyPr wrap="square" lIns="25400" tIns="25400" rIns="25400" bIns="25400" rtlCol="0" anchor="t">
            <a:normAutofit/>
          </a:bodyPr>
          <a:lstStyle/>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Software + all infrastructure costs</a:t>
            </a:r>
            <a:endParaRPr lang="en-US" sz="2100" dirty="0">
              <a:latin typeface="Barlow" panose="00000500000000000000" pitchFamily="2" charset="0"/>
            </a:endParaRPr>
          </a:p>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EU data residency</a:t>
            </a:r>
            <a:endParaRPr lang="en-US" sz="2100" dirty="0">
              <a:latin typeface="Barlow" panose="00000500000000000000" pitchFamily="2" charset="0"/>
            </a:endParaRPr>
          </a:p>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Training, clinical support, outcome dashboards</a:t>
            </a:r>
            <a:endParaRPr lang="en-US" sz="2100" dirty="0">
              <a:latin typeface="Barlow" panose="00000500000000000000" pitchFamily="2" charset="0"/>
            </a:endParaRPr>
          </a:p>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IRB protocol support</a:t>
            </a:r>
            <a:endParaRPr lang="en-US" sz="2100" dirty="0">
              <a:latin typeface="Barlow" panose="00000500000000000000" pitchFamily="2" charset="0"/>
            </a:endParaRPr>
          </a:p>
        </p:txBody>
      </p:sp>
      <p:sp>
        <p:nvSpPr>
          <p:cNvPr id="11" name="Shape 9"/>
          <p:cNvSpPr/>
          <p:nvPr/>
        </p:nvSpPr>
        <p:spPr>
          <a:xfrm>
            <a:off x="6546771" y="3669983"/>
            <a:ext cx="5194340" cy="3851910"/>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2" name="Text 10"/>
          <p:cNvSpPr/>
          <p:nvPr/>
        </p:nvSpPr>
        <p:spPr>
          <a:xfrm>
            <a:off x="6935391" y="4020503"/>
            <a:ext cx="4549613"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HOSPITAL PROVIDES</a:t>
            </a:r>
            <a:endParaRPr lang="en-US" sz="1800" dirty="0">
              <a:latin typeface="Barlow" panose="00000500000000000000" pitchFamily="2" charset="0"/>
            </a:endParaRPr>
          </a:p>
        </p:txBody>
      </p:sp>
      <p:sp>
        <p:nvSpPr>
          <p:cNvPr id="13" name="Text 11"/>
          <p:cNvSpPr/>
          <p:nvPr/>
        </p:nvSpPr>
        <p:spPr>
          <a:xfrm>
            <a:off x="6748701" y="4531043"/>
            <a:ext cx="4679990" cy="2305050"/>
          </a:xfrm>
          <a:prstGeom prst="rect">
            <a:avLst/>
          </a:prstGeom>
          <a:noFill/>
          <a:ln/>
        </p:spPr>
        <p:txBody>
          <a:bodyPr wrap="square" lIns="25400" tIns="25400" rIns="25400" bIns="25400" rtlCol="0" anchor="t">
            <a:normAutofit/>
          </a:bodyPr>
          <a:lstStyle/>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1 OPD clinician using LIET in practice</a:t>
            </a:r>
            <a:endParaRPr lang="en-US" sz="2100" dirty="0">
              <a:latin typeface="Barlow" panose="00000500000000000000" pitchFamily="2" charset="0"/>
            </a:endParaRPr>
          </a:p>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1 medical intern as co-investigator</a:t>
            </a:r>
            <a:endParaRPr lang="en-US" sz="2100" dirty="0">
              <a:latin typeface="Barlow" panose="00000500000000000000" pitchFamily="2" charset="0"/>
            </a:endParaRPr>
          </a:p>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IRB approval sponsorship</a:t>
            </a:r>
            <a:endParaRPr lang="en-US" sz="2100" dirty="0">
              <a:latin typeface="Barlow" panose="00000500000000000000" pitchFamily="2" charset="0"/>
            </a:endParaRPr>
          </a:p>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90-day evaluation window</a:t>
            </a:r>
            <a:endParaRPr lang="en-US" sz="2100" dirty="0">
              <a:latin typeface="Barlow" panose="00000500000000000000" pitchFamily="2" charset="0"/>
            </a:endParaRPr>
          </a:p>
        </p:txBody>
      </p:sp>
      <p:sp>
        <p:nvSpPr>
          <p:cNvPr id="14" name="Shape 12"/>
          <p:cNvSpPr/>
          <p:nvPr/>
        </p:nvSpPr>
        <p:spPr>
          <a:xfrm>
            <a:off x="12045910" y="3669983"/>
            <a:ext cx="5194340" cy="3851910"/>
          </a:xfrm>
          <a:prstGeom prst="rect">
            <a:avLst/>
          </a:prstGeom>
          <a:solidFill>
            <a:srgbClr val="B87A4B">
              <a:alpha val="12000"/>
            </a:srgbClr>
          </a:solidFill>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5" name="Shape 13"/>
          <p:cNvSpPr/>
          <p:nvPr/>
        </p:nvSpPr>
        <p:spPr>
          <a:xfrm>
            <a:off x="12045910" y="7514273"/>
            <a:ext cx="5194340" cy="9525"/>
          </a:xfrm>
          <a:prstGeom prst="rect">
            <a:avLst/>
          </a:prstGeom>
          <a:solidFill>
            <a:srgbClr val="B87A4B"/>
          </a:solidFill>
          <a:ln/>
        </p:spPr>
        <p:txBody>
          <a:bodyPr/>
          <a:lstStyle/>
          <a:p>
            <a:endParaRPr lang="en-US">
              <a:latin typeface="Barlow" panose="00000500000000000000" pitchFamily="2" charset="0"/>
            </a:endParaRPr>
          </a:p>
        </p:txBody>
      </p:sp>
      <p:sp>
        <p:nvSpPr>
          <p:cNvPr id="16" name="Shape 14"/>
          <p:cNvSpPr/>
          <p:nvPr/>
        </p:nvSpPr>
        <p:spPr>
          <a:xfrm>
            <a:off x="12045910" y="3669983"/>
            <a:ext cx="5194340" cy="9525"/>
          </a:xfrm>
          <a:prstGeom prst="rect">
            <a:avLst/>
          </a:prstGeom>
          <a:solidFill>
            <a:srgbClr val="B87A4B"/>
          </a:solidFill>
          <a:ln/>
        </p:spPr>
        <p:txBody>
          <a:bodyPr/>
          <a:lstStyle/>
          <a:p>
            <a:endParaRPr lang="en-US">
              <a:latin typeface="Barlow" panose="00000500000000000000" pitchFamily="2" charset="0"/>
            </a:endParaRPr>
          </a:p>
        </p:txBody>
      </p:sp>
      <p:sp>
        <p:nvSpPr>
          <p:cNvPr id="17" name="Shape 15"/>
          <p:cNvSpPr/>
          <p:nvPr/>
        </p:nvSpPr>
        <p:spPr>
          <a:xfrm>
            <a:off x="12045910" y="3669983"/>
            <a:ext cx="22860" cy="3851910"/>
          </a:xfrm>
          <a:prstGeom prst="rect">
            <a:avLst/>
          </a:prstGeom>
          <a:solidFill>
            <a:srgbClr val="B87A4B"/>
          </a:solidFill>
          <a:ln/>
        </p:spPr>
        <p:txBody>
          <a:bodyPr/>
          <a:lstStyle/>
          <a:p>
            <a:endParaRPr lang="en-US">
              <a:latin typeface="Barlow" panose="00000500000000000000" pitchFamily="2" charset="0"/>
            </a:endParaRPr>
          </a:p>
        </p:txBody>
      </p:sp>
      <p:sp>
        <p:nvSpPr>
          <p:cNvPr id="18" name="Shape 16"/>
          <p:cNvSpPr/>
          <p:nvPr/>
        </p:nvSpPr>
        <p:spPr>
          <a:xfrm>
            <a:off x="17232630" y="3669983"/>
            <a:ext cx="9525" cy="3851910"/>
          </a:xfrm>
          <a:prstGeom prst="rect">
            <a:avLst/>
          </a:prstGeom>
          <a:solidFill>
            <a:srgbClr val="B87A4B"/>
          </a:solidFill>
          <a:ln/>
        </p:spPr>
        <p:txBody>
          <a:bodyPr/>
          <a:lstStyle/>
          <a:p>
            <a:endParaRPr lang="en-US">
              <a:latin typeface="Barlow" panose="00000500000000000000" pitchFamily="2" charset="0"/>
            </a:endParaRPr>
          </a:p>
        </p:txBody>
      </p:sp>
      <p:sp>
        <p:nvSpPr>
          <p:cNvPr id="19" name="Text 17"/>
          <p:cNvSpPr/>
          <p:nvPr/>
        </p:nvSpPr>
        <p:spPr>
          <a:xfrm>
            <a:off x="12449770" y="4020503"/>
            <a:ext cx="4533916"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BOTH GET</a:t>
            </a:r>
            <a:endParaRPr lang="en-US" sz="1800" dirty="0">
              <a:latin typeface="Barlow" panose="00000500000000000000" pitchFamily="2" charset="0"/>
            </a:endParaRPr>
          </a:p>
        </p:txBody>
      </p:sp>
      <p:sp>
        <p:nvSpPr>
          <p:cNvPr id="20" name="Text 18"/>
          <p:cNvSpPr/>
          <p:nvPr/>
        </p:nvSpPr>
        <p:spPr>
          <a:xfrm>
            <a:off x="12263080" y="4531043"/>
            <a:ext cx="4664750" cy="2678430"/>
          </a:xfrm>
          <a:prstGeom prst="rect">
            <a:avLst/>
          </a:prstGeom>
          <a:noFill/>
          <a:ln/>
        </p:spPr>
        <p:txBody>
          <a:bodyPr wrap="square" lIns="25400" tIns="25400" rIns="25400" bIns="25400" rtlCol="0" anchor="t">
            <a:normAutofit lnSpcReduction="10000"/>
          </a:bodyPr>
          <a:lstStyle/>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Co-authored peer-reviewed paper</a:t>
            </a:r>
            <a:endParaRPr lang="en-US" sz="2100" dirty="0">
              <a:latin typeface="Barlow" panose="00000500000000000000" pitchFamily="2" charset="0"/>
            </a:endParaRPr>
          </a:p>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Public case study on AI-assisted documentation</a:t>
            </a:r>
            <a:endParaRPr lang="en-US" sz="2100" dirty="0">
              <a:latin typeface="Barlow" panose="00000500000000000000" pitchFamily="2" charset="0"/>
            </a:endParaRPr>
          </a:p>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First EU reference site for LIET</a:t>
            </a:r>
            <a:endParaRPr lang="en-US" sz="2100" dirty="0">
              <a:latin typeface="Barlow" panose="00000500000000000000" pitchFamily="2" charset="0"/>
            </a:endParaRPr>
          </a:p>
          <a:p>
            <a:pPr marL="0" indent="0" algn="l">
              <a:lnSpc>
                <a:spcPct val="140000"/>
              </a:lnSpc>
              <a:buNone/>
            </a:pPr>
            <a:r>
              <a:rPr lang="en-US" sz="2100" kern="0" spc="-11" dirty="0">
                <a:solidFill>
                  <a:srgbClr val="2E3F5F"/>
                </a:solidFill>
                <a:latin typeface="Barlow" panose="00000500000000000000" pitchFamily="2" charset="0"/>
                <a:ea typeface="Barlow" pitchFamily="34" charset="-122"/>
                <a:cs typeface="Barlow" pitchFamily="34" charset="-120"/>
              </a:rPr>
              <a:t>CE-marking evidence from a live EU setting</a:t>
            </a:r>
            <a:endParaRPr lang="en-US" sz="2100" dirty="0">
              <a:latin typeface="Barlow" panose="00000500000000000000" pitchFamily="2" charset="0"/>
            </a:endParaRPr>
          </a:p>
        </p:txBody>
      </p:sp>
      <p:sp>
        <p:nvSpPr>
          <p:cNvPr id="21" name="Shape 19"/>
          <p:cNvSpPr/>
          <p:nvPr/>
        </p:nvSpPr>
        <p:spPr>
          <a:xfrm>
            <a:off x="1047750" y="7788593"/>
            <a:ext cx="16192500" cy="1493520"/>
          </a:xfrm>
          <a:prstGeom prst="rect">
            <a:avLst/>
          </a:prstGeom>
          <a:solidFill>
            <a:srgbClr val="EDE9E1"/>
          </a:solidFill>
          <a:ln w="7620">
            <a:solidFill>
              <a:srgbClr val="E1DBCB"/>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22" name="Text 20"/>
          <p:cNvSpPr/>
          <p:nvPr/>
        </p:nvSpPr>
        <p:spPr>
          <a:xfrm>
            <a:off x="1360170" y="8024812"/>
            <a:ext cx="5030952"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MONTHS 0–3</a:t>
            </a:r>
            <a:endParaRPr lang="en-US" sz="1800" dirty="0">
              <a:latin typeface="Barlow" panose="00000500000000000000" pitchFamily="2" charset="0"/>
            </a:endParaRPr>
          </a:p>
        </p:txBody>
      </p:sp>
      <p:sp>
        <p:nvSpPr>
          <p:cNvPr id="23" name="Text 21"/>
          <p:cNvSpPr/>
          <p:nvPr/>
        </p:nvSpPr>
        <p:spPr>
          <a:xfrm>
            <a:off x="1360170" y="8382953"/>
            <a:ext cx="5030952" cy="140000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b="1" kern="0" spc="-11" dirty="0">
                <a:solidFill>
                  <a:srgbClr val="1B2A4A"/>
                </a:solidFill>
                <a:latin typeface="Barlow" panose="00000500000000000000" pitchFamily="2" charset="0"/>
                <a:ea typeface="Barlow" pitchFamily="34" charset="-122"/>
                <a:cs typeface="Barlow" pitchFamily="34" charset="-120"/>
              </a:rPr>
              <a:t>Pilot delivery. </a:t>
            </a:r>
            <a:r>
              <a:rPr lang="en-US" sz="1800" kern="0" spc="-11" dirty="0">
                <a:solidFill>
                  <a:srgbClr val="556688"/>
                </a:solidFill>
                <a:latin typeface="Barlow" panose="00000500000000000000" pitchFamily="2" charset="0"/>
                <a:ea typeface="Barlow" pitchFamily="34" charset="-122"/>
                <a:cs typeface="Barlow" pitchFamily="34" charset="-120"/>
              </a:rPr>
              <a:t>Structured FHIR output on every consultation. Outcome metrics follow Sanofi-Quinten published methodology: patient identification efficiency, time-to-pattern-alert, specialist concordance.</a:t>
            </a:r>
            <a:endParaRPr lang="en-US" sz="1800" dirty="0">
              <a:latin typeface="Barlow" panose="00000500000000000000" pitchFamily="2" charset="0"/>
            </a:endParaRPr>
          </a:p>
        </p:txBody>
      </p:sp>
      <p:sp>
        <p:nvSpPr>
          <p:cNvPr id="24" name="Text 22"/>
          <p:cNvSpPr/>
          <p:nvPr/>
        </p:nvSpPr>
        <p:spPr>
          <a:xfrm>
            <a:off x="6701790" y="8024812"/>
            <a:ext cx="5030952"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MONTHS 6–12</a:t>
            </a:r>
            <a:endParaRPr lang="en-US" sz="1800" dirty="0">
              <a:latin typeface="Barlow" panose="00000500000000000000" pitchFamily="2" charset="0"/>
            </a:endParaRPr>
          </a:p>
        </p:txBody>
      </p:sp>
      <p:sp>
        <p:nvSpPr>
          <p:cNvPr id="25" name="Text 23"/>
          <p:cNvSpPr/>
          <p:nvPr/>
        </p:nvSpPr>
        <p:spPr>
          <a:xfrm>
            <a:off x="6701790" y="8382953"/>
            <a:ext cx="5030952"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b="1" kern="0" spc="-11" dirty="0">
                <a:solidFill>
                  <a:srgbClr val="1B2A4A"/>
                </a:solidFill>
                <a:latin typeface="Barlow" panose="00000500000000000000" pitchFamily="2" charset="0"/>
                <a:ea typeface="Barlow" pitchFamily="34" charset="-122"/>
                <a:cs typeface="Barlow" pitchFamily="34" charset="-120"/>
              </a:rPr>
              <a:t>Certified DSP push. </a:t>
            </a:r>
            <a:r>
              <a:rPr lang="en-US" sz="1800" kern="0" spc="-11" dirty="0">
                <a:solidFill>
                  <a:srgbClr val="556688"/>
                </a:solidFill>
                <a:latin typeface="Barlow" panose="00000500000000000000" pitchFamily="2" charset="0"/>
                <a:ea typeface="Barlow" pitchFamily="34" charset="-122"/>
                <a:cs typeface="Barlow" pitchFamily="34" charset="-120"/>
              </a:rPr>
              <a:t>Follows Agence eSanté's standard process.</a:t>
            </a:r>
            <a:endParaRPr lang="en-US" sz="1800" dirty="0">
              <a:latin typeface="Barlow" panose="00000500000000000000" pitchFamily="2" charset="0"/>
            </a:endParaRPr>
          </a:p>
        </p:txBody>
      </p:sp>
      <p:sp>
        <p:nvSpPr>
          <p:cNvPr id="26" name="Text 24"/>
          <p:cNvSpPr/>
          <p:nvPr/>
        </p:nvSpPr>
        <p:spPr>
          <a:xfrm>
            <a:off x="12043410" y="8024812"/>
            <a:ext cx="5030952"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MONTHS 12–18</a:t>
            </a:r>
            <a:endParaRPr lang="en-US" sz="1800" dirty="0">
              <a:latin typeface="Barlow" panose="00000500000000000000" pitchFamily="2" charset="0"/>
            </a:endParaRPr>
          </a:p>
        </p:txBody>
      </p:sp>
      <p:sp>
        <p:nvSpPr>
          <p:cNvPr id="27" name="Text 25"/>
          <p:cNvSpPr/>
          <p:nvPr/>
        </p:nvSpPr>
        <p:spPr>
          <a:xfrm>
            <a:off x="12043410" y="8382953"/>
            <a:ext cx="5030952"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b="1" kern="0" spc="-11" dirty="0">
                <a:solidFill>
                  <a:srgbClr val="1B2A4A"/>
                </a:solidFill>
                <a:latin typeface="Barlow" panose="00000500000000000000" pitchFamily="2" charset="0"/>
                <a:ea typeface="Barlow" pitchFamily="34" charset="-122"/>
                <a:cs typeface="Barlow" pitchFamily="34" charset="-120"/>
              </a:rPr>
              <a:t>Full workflow automation. </a:t>
            </a:r>
            <a:r>
              <a:rPr lang="en-US" sz="1800" kern="0" spc="-11" dirty="0">
                <a:solidFill>
                  <a:srgbClr val="556688"/>
                </a:solidFill>
                <a:latin typeface="Barlow" panose="00000500000000000000" pitchFamily="2" charset="0"/>
                <a:ea typeface="Barlow" pitchFamily="34" charset="-122"/>
                <a:cs typeface="Barlow" pitchFamily="34" charset="-120"/>
              </a:rPr>
              <a:t>Prescription routing, referrals, DSP round-trip.</a:t>
            </a:r>
            <a:endParaRPr lang="en-US" sz="1800" dirty="0">
              <a:latin typeface="Barlow" panose="00000500000000000000" pitchFamily="2" charset="0"/>
            </a:endParaRPr>
          </a:p>
        </p:txBody>
      </p:sp>
      <p:sp>
        <p:nvSpPr>
          <p:cNvPr id="28" name="Text 26"/>
          <p:cNvSpPr/>
          <p:nvPr/>
        </p:nvSpPr>
        <p:spPr>
          <a:xfrm>
            <a:off x="1047750" y="9860000"/>
            <a:ext cx="16678275" cy="369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i="1" kern="0" spc="-11" dirty="0">
                <a:solidFill>
                  <a:srgbClr val="556688"/>
                </a:solidFill>
                <a:latin typeface="Barlow" panose="00000500000000000000" pitchFamily="2" charset="0"/>
                <a:ea typeface="Barlow" pitchFamily="34" charset="-122"/>
                <a:cs typeface="Barlow" pitchFamily="34" charset="-120"/>
              </a:rPr>
              <a:t>Best fits: general medicine, clinical informatics, or a research-oriented OPD — CHL, Hopitaux Robert Schuman, LIH.</a:t>
            </a:r>
            <a:endParaRPr lang="en-US" sz="1800" dirty="0">
              <a:latin typeface="Barlow" panose="00000500000000000000" pitchFamily="2" charset="0"/>
            </a:endParaRPr>
          </a:p>
        </p:txBody>
      </p:sp>
      <p:sp>
        <p:nvSpPr>
          <p:cNvPr id="29" name="Text 27"/>
          <p:cNvSpPr/>
          <p:nvPr/>
        </p:nvSpPr>
        <p:spPr>
          <a:xfrm>
            <a:off x="16550283" y="9624060"/>
            <a:ext cx="766167"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800" dirty="0">
              <a:latin typeface="Barlow" panose="00000500000000000000"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1047750" y="126111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3" name="Text 1"/>
          <p:cNvSpPr/>
          <p:nvPr/>
        </p:nvSpPr>
        <p:spPr>
          <a:xfrm>
            <a:off x="1047750" y="775335"/>
            <a:ext cx="2753142"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TEAM &amp; COMPANY</a:t>
            </a:r>
            <a:endParaRPr lang="en-US" sz="1800" dirty="0">
              <a:latin typeface="Barlow" panose="00000500000000000000" pitchFamily="2" charset="0"/>
            </a:endParaRPr>
          </a:p>
        </p:txBody>
      </p:sp>
      <p:sp>
        <p:nvSpPr>
          <p:cNvPr id="4" name="Text 2"/>
          <p:cNvSpPr/>
          <p:nvPr/>
        </p:nvSpPr>
        <p:spPr>
          <a:xfrm>
            <a:off x="16441460" y="762000"/>
            <a:ext cx="874990" cy="3848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468" dirty="0">
                <a:solidFill>
                  <a:srgbClr val="1B2A4A"/>
                </a:solidFill>
                <a:latin typeface="Barlow" panose="00000500000000000000" pitchFamily="2" charset="0"/>
                <a:ea typeface="Barlow" pitchFamily="34" charset="-122"/>
                <a:cs typeface="Barlow" pitchFamily="34" charset="-120"/>
              </a:rPr>
              <a:t>LIET</a:t>
            </a:r>
            <a:endParaRPr lang="en-US" sz="1950" dirty="0">
              <a:latin typeface="Barlow" panose="00000500000000000000" pitchFamily="2" charset="0"/>
            </a:endParaRPr>
          </a:p>
        </p:txBody>
      </p:sp>
      <p:sp>
        <p:nvSpPr>
          <p:cNvPr id="5" name="Text 3"/>
          <p:cNvSpPr/>
          <p:nvPr/>
        </p:nvSpPr>
        <p:spPr>
          <a:xfrm>
            <a:off x="1047750" y="1687830"/>
            <a:ext cx="166782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13 · STRUCTURE</a:t>
            </a:r>
            <a:endParaRPr lang="en-US" sz="1800" dirty="0">
              <a:latin typeface="Barlow" panose="00000500000000000000" pitchFamily="2" charset="0"/>
            </a:endParaRPr>
          </a:p>
        </p:txBody>
      </p:sp>
      <p:sp>
        <p:nvSpPr>
          <p:cNvPr id="6" name="Text 4"/>
          <p:cNvSpPr/>
          <p:nvPr/>
        </p:nvSpPr>
        <p:spPr>
          <a:xfrm>
            <a:off x="1047750" y="2236470"/>
            <a:ext cx="15697200" cy="1272540"/>
          </a:xfrm>
          <a:prstGeom prst="rect">
            <a:avLst/>
          </a:prstGeom>
          <a:noFill/>
          <a:ln/>
        </p:spPr>
        <p:txBody>
          <a:bodyPr wrap="square" lIns="25400" tIns="25400" rIns="25400" bIns="25400" rtlCol="0" anchor="t">
            <a:normAutofit fontScale="92500"/>
          </a:bodyPr>
          <a:lstStyle/>
          <a:p>
            <a:pPr marL="0" indent="0" algn="l">
              <a:lnSpc>
                <a:spcPct val="108000"/>
              </a:lnSpc>
              <a:buNone/>
            </a:pPr>
            <a:r>
              <a:rPr lang="en-US" sz="4500" kern="0" spc="-81" dirty="0">
                <a:solidFill>
                  <a:srgbClr val="1B2A4A"/>
                </a:solidFill>
                <a:latin typeface="Barlow" panose="00000500000000000000" pitchFamily="2" charset="0"/>
                <a:ea typeface="Barlow" pitchFamily="34" charset="-122"/>
                <a:cs typeface="Barlow" pitchFamily="34" charset="-120"/>
              </a:rPr>
              <a:t>Luxembourg commercial home. </a:t>
            </a:r>
            <a:r>
              <a:rPr lang="en-US" sz="4500" i="1" kern="0" spc="-81" dirty="0">
                <a:solidFill>
                  <a:srgbClr val="B87A4B"/>
                </a:solidFill>
                <a:latin typeface="Barlow" panose="00000500000000000000" pitchFamily="2" charset="0"/>
                <a:ea typeface="Barlow" pitchFamily="34" charset="-122"/>
                <a:cs typeface="Barlow" pitchFamily="34" charset="-120"/>
              </a:rPr>
              <a:t>Global clinical &amp; engineering depth.</a:t>
            </a:r>
            <a:endParaRPr lang="en-US" sz="4500" dirty="0">
              <a:latin typeface="Barlow" panose="00000500000000000000" pitchFamily="2" charset="0"/>
            </a:endParaRPr>
          </a:p>
        </p:txBody>
      </p:sp>
      <p:sp>
        <p:nvSpPr>
          <p:cNvPr id="7" name="Shape 5"/>
          <p:cNvSpPr/>
          <p:nvPr/>
        </p:nvSpPr>
        <p:spPr>
          <a:xfrm>
            <a:off x="1047750" y="3928110"/>
            <a:ext cx="5194221" cy="3756660"/>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8" name="Text 6"/>
          <p:cNvSpPr/>
          <p:nvPr/>
        </p:nvSpPr>
        <p:spPr>
          <a:xfrm>
            <a:off x="1436370" y="4278630"/>
            <a:ext cx="454949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FOUNDER &amp; CEO · LUXEMBOURG</a:t>
            </a:r>
            <a:endParaRPr lang="en-US" sz="1800" dirty="0">
              <a:latin typeface="Barlow" panose="00000500000000000000" pitchFamily="2" charset="0"/>
            </a:endParaRPr>
          </a:p>
        </p:txBody>
      </p:sp>
      <p:sp>
        <p:nvSpPr>
          <p:cNvPr id="9" name="Text 7"/>
          <p:cNvSpPr/>
          <p:nvPr/>
        </p:nvSpPr>
        <p:spPr>
          <a:xfrm>
            <a:off x="1436370" y="4751070"/>
            <a:ext cx="4549490" cy="40386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400" kern="0" spc="-24" dirty="0">
                <a:solidFill>
                  <a:srgbClr val="1B2A4A"/>
                </a:solidFill>
                <a:latin typeface="Barlow" panose="00000500000000000000" pitchFamily="2" charset="0"/>
                <a:ea typeface="Barlow" pitchFamily="34" charset="-122"/>
                <a:cs typeface="Barlow" pitchFamily="34" charset="-120"/>
              </a:rPr>
              <a:t>Siva Subbiah</a:t>
            </a:r>
            <a:endParaRPr lang="en-US" sz="2400" dirty="0">
              <a:latin typeface="Barlow" panose="00000500000000000000" pitchFamily="2" charset="0"/>
            </a:endParaRPr>
          </a:p>
        </p:txBody>
      </p:sp>
      <p:sp>
        <p:nvSpPr>
          <p:cNvPr id="10" name="Text 8"/>
          <p:cNvSpPr/>
          <p:nvPr/>
        </p:nvSpPr>
        <p:spPr>
          <a:xfrm>
            <a:off x="1436370" y="5345430"/>
            <a:ext cx="4549490" cy="2026920"/>
          </a:xfrm>
          <a:prstGeom prst="rect">
            <a:avLst/>
          </a:prstGeom>
          <a:noFill/>
          <a:ln/>
        </p:spPr>
        <p:txBody>
          <a:bodyPr wrap="square" lIns="25400" tIns="25400" rIns="25400" bIns="25400" rtlCol="0" anchor="t">
            <a:normAutofit/>
          </a:bodyPr>
          <a:lstStyle/>
          <a:p>
            <a:pPr marL="0" indent="0" algn="l">
              <a:lnSpc>
                <a:spcPct val="145000"/>
              </a:lnSpc>
              <a:buNone/>
            </a:pPr>
            <a:r>
              <a:rPr lang="en-US" sz="1800" b="1" kern="0" spc="-11" dirty="0">
                <a:solidFill>
                  <a:srgbClr val="1B2A4A"/>
                </a:solidFill>
                <a:latin typeface="Barlow" panose="00000500000000000000" pitchFamily="2" charset="0"/>
                <a:ea typeface="Barlow" pitchFamily="34" charset="-122"/>
                <a:cs typeface="Barlow" pitchFamily="34" charset="-120"/>
              </a:rPr>
              <a:t>Vehicle dynamics engineer. </a:t>
            </a:r>
            <a:r>
              <a:rPr lang="en-US" sz="1800" kern="0" spc="-11" dirty="0">
                <a:solidFill>
                  <a:srgbClr val="556688"/>
                </a:solidFill>
                <a:latin typeface="Barlow" panose="00000500000000000000" pitchFamily="2" charset="0"/>
                <a:ea typeface="Barlow" pitchFamily="34" charset="-122"/>
                <a:cs typeface="Barlow" pitchFamily="34" charset="-120"/>
              </a:rPr>
              <a:t>Background in complex systems modeling applied to healthcare. Leads product strategy, regulatory affairs.</a:t>
            </a:r>
            <a:endParaRPr lang="en-US" sz="1800" dirty="0">
              <a:latin typeface="Barlow" panose="00000500000000000000" pitchFamily="2" charset="0"/>
            </a:endParaRPr>
          </a:p>
        </p:txBody>
      </p:sp>
      <p:sp>
        <p:nvSpPr>
          <p:cNvPr id="11" name="Shape 9"/>
          <p:cNvSpPr/>
          <p:nvPr/>
        </p:nvSpPr>
        <p:spPr>
          <a:xfrm>
            <a:off x="6546771" y="3928110"/>
            <a:ext cx="5194340" cy="3756660"/>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2" name="Text 10"/>
          <p:cNvSpPr/>
          <p:nvPr/>
        </p:nvSpPr>
        <p:spPr>
          <a:xfrm>
            <a:off x="6935391" y="4278630"/>
            <a:ext cx="4549613" cy="6781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CO-FOUNDER &amp; CMO · MYSORE, INDIA</a:t>
            </a:r>
            <a:endParaRPr lang="en-US" sz="1800" dirty="0">
              <a:latin typeface="Barlow" panose="00000500000000000000" pitchFamily="2" charset="0"/>
            </a:endParaRPr>
          </a:p>
        </p:txBody>
      </p:sp>
      <p:sp>
        <p:nvSpPr>
          <p:cNvPr id="13" name="Text 11"/>
          <p:cNvSpPr/>
          <p:nvPr/>
        </p:nvSpPr>
        <p:spPr>
          <a:xfrm>
            <a:off x="6935391" y="5071110"/>
            <a:ext cx="4549613" cy="40386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400" kern="0" spc="-24" dirty="0">
                <a:solidFill>
                  <a:srgbClr val="1B2A4A"/>
                </a:solidFill>
                <a:latin typeface="Barlow" panose="00000500000000000000" pitchFamily="2" charset="0"/>
                <a:ea typeface="Barlow" pitchFamily="34" charset="-122"/>
                <a:cs typeface="Barlow" pitchFamily="34" charset="-120"/>
              </a:rPr>
              <a:t>Dr. Karthik</a:t>
            </a:r>
            <a:endParaRPr lang="en-US" sz="2400" dirty="0">
              <a:latin typeface="Barlow" panose="00000500000000000000" pitchFamily="2" charset="0"/>
            </a:endParaRPr>
          </a:p>
        </p:txBody>
      </p:sp>
      <p:sp>
        <p:nvSpPr>
          <p:cNvPr id="14" name="Text 12"/>
          <p:cNvSpPr/>
          <p:nvPr/>
        </p:nvSpPr>
        <p:spPr>
          <a:xfrm>
            <a:off x="6935391" y="5665470"/>
            <a:ext cx="4549613" cy="1695450"/>
          </a:xfrm>
          <a:prstGeom prst="rect">
            <a:avLst/>
          </a:prstGeom>
          <a:noFill/>
          <a:ln/>
        </p:spPr>
        <p:txBody>
          <a:bodyPr wrap="square" lIns="25400" tIns="25400" rIns="25400" bIns="25400" rtlCol="0" anchor="t">
            <a:normAutofit/>
          </a:bodyPr>
          <a:lstStyle/>
          <a:p>
            <a:pPr marL="0" indent="0" algn="l">
              <a:lnSpc>
                <a:spcPct val="145000"/>
              </a:lnSpc>
              <a:buNone/>
            </a:pPr>
            <a:r>
              <a:rPr lang="en-US" sz="1800" b="1" kern="0" spc="-11" dirty="0">
                <a:solidFill>
                  <a:srgbClr val="1B2A4A"/>
                </a:solidFill>
                <a:latin typeface="Barlow" panose="00000500000000000000" pitchFamily="2" charset="0"/>
                <a:ea typeface="Barlow" pitchFamily="34" charset="-122"/>
                <a:cs typeface="Barlow" pitchFamily="34" charset="-120"/>
              </a:rPr>
              <a:t>Trained internal medicine physician. </a:t>
            </a:r>
            <a:r>
              <a:rPr lang="en-US" sz="1800" kern="0" spc="-11" dirty="0">
                <a:solidFill>
                  <a:srgbClr val="556688"/>
                </a:solidFill>
                <a:latin typeface="Barlow" panose="00000500000000000000" pitchFamily="2" charset="0"/>
                <a:ea typeface="Barlow" pitchFamily="34" charset="-122"/>
                <a:cs typeface="Barlow" pitchFamily="34" charset="-120"/>
              </a:rPr>
              <a:t>Leads clinical validations, product accuracy, and hospital partnerships.</a:t>
            </a:r>
            <a:endParaRPr lang="en-US" sz="1800" dirty="0">
              <a:latin typeface="Barlow" panose="00000500000000000000" pitchFamily="2" charset="0"/>
            </a:endParaRPr>
          </a:p>
        </p:txBody>
      </p:sp>
      <p:sp>
        <p:nvSpPr>
          <p:cNvPr id="15" name="Shape 13"/>
          <p:cNvSpPr/>
          <p:nvPr/>
        </p:nvSpPr>
        <p:spPr>
          <a:xfrm>
            <a:off x="12045910" y="3928110"/>
            <a:ext cx="5194340" cy="3756660"/>
          </a:xfrm>
          <a:prstGeom prst="rect">
            <a:avLst/>
          </a:prstGeom>
          <a:solidFill>
            <a:srgbClr val="FBFAF6"/>
          </a:solidFill>
          <a:ln w="7620">
            <a:solidFill>
              <a:srgbClr val="CFC8B8"/>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16" name="Text 14"/>
          <p:cNvSpPr/>
          <p:nvPr/>
        </p:nvSpPr>
        <p:spPr>
          <a:xfrm>
            <a:off x="12434531" y="4278630"/>
            <a:ext cx="4549613" cy="67818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TECHNICAL LEAD · CHENNAI, INDIA</a:t>
            </a:r>
            <a:endParaRPr lang="en-US" sz="1800" dirty="0">
              <a:latin typeface="Barlow" panose="00000500000000000000" pitchFamily="2" charset="0"/>
            </a:endParaRPr>
          </a:p>
        </p:txBody>
      </p:sp>
      <p:sp>
        <p:nvSpPr>
          <p:cNvPr id="17" name="Text 15"/>
          <p:cNvSpPr/>
          <p:nvPr/>
        </p:nvSpPr>
        <p:spPr>
          <a:xfrm>
            <a:off x="12434531" y="5071110"/>
            <a:ext cx="4549613" cy="40386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400" kern="0" spc="-24" dirty="0">
                <a:solidFill>
                  <a:srgbClr val="1B2A4A"/>
                </a:solidFill>
                <a:latin typeface="Barlow" panose="00000500000000000000" pitchFamily="2" charset="0"/>
                <a:ea typeface="Barlow" pitchFamily="34" charset="-122"/>
                <a:cs typeface="Barlow" pitchFamily="34" charset="-120"/>
              </a:rPr>
              <a:t>Venkatesh</a:t>
            </a:r>
            <a:endParaRPr lang="en-US" sz="2400" dirty="0">
              <a:latin typeface="Barlow" panose="00000500000000000000" pitchFamily="2" charset="0"/>
            </a:endParaRPr>
          </a:p>
        </p:txBody>
      </p:sp>
      <p:sp>
        <p:nvSpPr>
          <p:cNvPr id="18" name="Text 16"/>
          <p:cNvSpPr/>
          <p:nvPr/>
        </p:nvSpPr>
        <p:spPr>
          <a:xfrm>
            <a:off x="12434531" y="5665470"/>
            <a:ext cx="4549613" cy="2026920"/>
          </a:xfrm>
          <a:prstGeom prst="rect">
            <a:avLst/>
          </a:prstGeom>
          <a:noFill/>
          <a:ln/>
        </p:spPr>
        <p:txBody>
          <a:bodyPr wrap="square" lIns="25400" tIns="25400" rIns="25400" bIns="25400" rtlCol="0" anchor="t">
            <a:noAutofit/>
          </a:bodyPr>
          <a:lstStyle/>
          <a:p>
            <a:pPr marL="0" indent="0" algn="l">
              <a:lnSpc>
                <a:spcPct val="145000"/>
              </a:lnSpc>
              <a:buNone/>
            </a:pPr>
            <a:r>
              <a:rPr lang="en-US" b="1" kern="0" spc="-11" dirty="0">
                <a:solidFill>
                  <a:srgbClr val="1B2A4A"/>
                </a:solidFill>
                <a:latin typeface="Barlow" panose="00000500000000000000" pitchFamily="2" charset="0"/>
                <a:ea typeface="Barlow" pitchFamily="34" charset="-122"/>
                <a:cs typeface="Barlow" pitchFamily="34" charset="-120"/>
              </a:rPr>
              <a:t>Full-stack engineer. </a:t>
            </a:r>
            <a:r>
              <a:rPr lang="en-US" kern="0" spc="-11" dirty="0">
                <a:solidFill>
                  <a:srgbClr val="556688"/>
                </a:solidFill>
                <a:latin typeface="Barlow" panose="00000500000000000000" pitchFamily="2" charset="0"/>
                <a:ea typeface="Barlow" pitchFamily="34" charset="-122"/>
                <a:cs typeface="Barlow" pitchFamily="34" charset="-120"/>
              </a:rPr>
              <a:t>Leads the clinical platform build — hospital-grade architecture, encounter flow, and infrastructure reliability.</a:t>
            </a:r>
            <a:endParaRPr lang="en-US" dirty="0">
              <a:latin typeface="Barlow" panose="00000500000000000000" pitchFamily="2" charset="0"/>
            </a:endParaRPr>
          </a:p>
        </p:txBody>
      </p:sp>
      <p:sp>
        <p:nvSpPr>
          <p:cNvPr id="19" name="Shape 17"/>
          <p:cNvSpPr/>
          <p:nvPr/>
        </p:nvSpPr>
        <p:spPr>
          <a:xfrm>
            <a:off x="1047750" y="7989570"/>
            <a:ext cx="16192500" cy="2042160"/>
          </a:xfrm>
          <a:prstGeom prst="rect">
            <a:avLst/>
          </a:prstGeom>
          <a:solidFill>
            <a:srgbClr val="1B2A4A"/>
          </a:solidFill>
          <a:ln w="7620">
            <a:solidFill>
              <a:srgbClr val="2E3F5F"/>
            </a:solidFill>
            <a:prstDash val="solid"/>
          </a:ln>
          <a:effectLst>
            <a:outerShdw blurRad="101600" dist="50800" dir="16200000" algn="bl" rotWithShape="0">
              <a:srgbClr val="1B2A4A">
                <a:alpha val="2000"/>
              </a:srgbClr>
            </a:outerShdw>
          </a:effectLst>
        </p:spPr>
        <p:txBody>
          <a:bodyPr/>
          <a:lstStyle/>
          <a:p>
            <a:endParaRPr lang="en-US">
              <a:latin typeface="Barlow" panose="00000500000000000000" pitchFamily="2" charset="0"/>
            </a:endParaRPr>
          </a:p>
        </p:txBody>
      </p:sp>
      <p:sp>
        <p:nvSpPr>
          <p:cNvPr id="20" name="Text 18"/>
          <p:cNvSpPr/>
          <p:nvPr/>
        </p:nvSpPr>
        <p:spPr>
          <a:xfrm>
            <a:off x="1436370" y="8340090"/>
            <a:ext cx="15877718"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b="1" kern="0" spc="288" dirty="0">
                <a:solidFill>
                  <a:srgbClr val="B87A4B"/>
                </a:solidFill>
                <a:latin typeface="Barlow" panose="00000500000000000000" pitchFamily="2" charset="0"/>
                <a:ea typeface="Barlow" pitchFamily="34" charset="-122"/>
                <a:cs typeface="Barlow" pitchFamily="34" charset="-120"/>
              </a:rPr>
              <a:t>PLANNED LUXEMBOURG HIRES · POST FIT4START</a:t>
            </a:r>
            <a:endParaRPr lang="en-US" sz="1800" dirty="0">
              <a:latin typeface="Barlow" panose="00000500000000000000" pitchFamily="2" charset="0"/>
            </a:endParaRPr>
          </a:p>
        </p:txBody>
      </p:sp>
      <p:sp>
        <p:nvSpPr>
          <p:cNvPr id="21" name="Text 19"/>
          <p:cNvSpPr/>
          <p:nvPr/>
        </p:nvSpPr>
        <p:spPr>
          <a:xfrm>
            <a:off x="1436370" y="8907780"/>
            <a:ext cx="4978588" cy="811530"/>
          </a:xfrm>
          <a:prstGeom prst="rect">
            <a:avLst/>
          </a:prstGeom>
          <a:noFill/>
          <a:ln/>
        </p:spPr>
        <p:txBody>
          <a:bodyPr wrap="square" lIns="25400" tIns="25400" rIns="25400" bIns="25400" rtlCol="0" anchor="t">
            <a:normAutofit lnSpcReduction="10000"/>
          </a:bodyPr>
          <a:lstStyle/>
          <a:p>
            <a:pPr marL="0" indent="0" algn="l">
              <a:lnSpc>
                <a:spcPct val="145000"/>
              </a:lnSpc>
              <a:buNone/>
            </a:pPr>
            <a:r>
              <a:rPr lang="en-US" sz="2100" b="1" kern="0" spc="-11" dirty="0">
                <a:solidFill>
                  <a:srgbClr val="F5F2E8"/>
                </a:solidFill>
                <a:latin typeface="Barlow" panose="00000500000000000000" pitchFamily="2" charset="0"/>
                <a:ea typeface="Barlow" pitchFamily="34" charset="-122"/>
                <a:cs typeface="Barlow" pitchFamily="34" charset="-120"/>
              </a:rPr>
              <a:t>Luxembourg clinical lead </a:t>
            </a:r>
            <a:r>
              <a:rPr lang="en-US" sz="1800" kern="0" spc="-11" dirty="0">
                <a:solidFill>
                  <a:srgbClr val="F5F2E8">
                    <a:alpha val="70000"/>
                  </a:srgbClr>
                </a:solidFill>
                <a:latin typeface="Barlow" panose="00000500000000000000" pitchFamily="2" charset="0"/>
                <a:ea typeface="Barlow" pitchFamily="34" charset="-122"/>
                <a:cs typeface="Barlow" pitchFamily="34" charset="-120"/>
              </a:rPr>
              <a:t>General medicine · bilingual FR/DE</a:t>
            </a:r>
            <a:endParaRPr lang="en-US" sz="2100" dirty="0">
              <a:latin typeface="Barlow" panose="00000500000000000000" pitchFamily="2" charset="0"/>
            </a:endParaRPr>
          </a:p>
        </p:txBody>
      </p:sp>
      <p:sp>
        <p:nvSpPr>
          <p:cNvPr id="22" name="Text 20"/>
          <p:cNvSpPr/>
          <p:nvPr/>
        </p:nvSpPr>
        <p:spPr>
          <a:xfrm>
            <a:off x="6727150" y="8907780"/>
            <a:ext cx="4978710" cy="811530"/>
          </a:xfrm>
          <a:prstGeom prst="rect">
            <a:avLst/>
          </a:prstGeom>
          <a:noFill/>
          <a:ln/>
        </p:spPr>
        <p:txBody>
          <a:bodyPr wrap="square" lIns="25400" tIns="25400" rIns="25400" bIns="25400" rtlCol="0" anchor="t">
            <a:normAutofit lnSpcReduction="10000"/>
          </a:bodyPr>
          <a:lstStyle/>
          <a:p>
            <a:pPr marL="0" indent="0" algn="l">
              <a:lnSpc>
                <a:spcPct val="145000"/>
              </a:lnSpc>
              <a:buNone/>
            </a:pPr>
            <a:r>
              <a:rPr lang="en-US" sz="2100" b="1" kern="0" spc="-11" dirty="0">
                <a:solidFill>
                  <a:srgbClr val="F5F2E8"/>
                </a:solidFill>
                <a:latin typeface="Barlow" panose="00000500000000000000" pitchFamily="2" charset="0"/>
                <a:ea typeface="Barlow" pitchFamily="34" charset="-122"/>
                <a:cs typeface="Barlow" pitchFamily="34" charset="-120"/>
              </a:rPr>
              <a:t>Regulatory &amp; QMS lead </a:t>
            </a:r>
            <a:r>
              <a:rPr lang="en-US" sz="1800" kern="0" spc="-11" dirty="0">
                <a:solidFill>
                  <a:srgbClr val="F5F2E8">
                    <a:alpha val="70000"/>
                  </a:srgbClr>
                </a:solidFill>
                <a:latin typeface="Barlow" panose="00000500000000000000" pitchFamily="2" charset="0"/>
                <a:ea typeface="Barlow" pitchFamily="34" charset="-122"/>
                <a:cs typeface="Barlow" pitchFamily="34" charset="-120"/>
              </a:rPr>
              <a:t>CE Class I SaMD experience</a:t>
            </a:r>
            <a:endParaRPr lang="en-US" sz="2100" dirty="0">
              <a:latin typeface="Barlow" panose="00000500000000000000" pitchFamily="2" charset="0"/>
            </a:endParaRPr>
          </a:p>
        </p:txBody>
      </p:sp>
      <p:sp>
        <p:nvSpPr>
          <p:cNvPr id="23" name="Text 21"/>
          <p:cNvSpPr/>
          <p:nvPr/>
        </p:nvSpPr>
        <p:spPr>
          <a:xfrm>
            <a:off x="12018050" y="8907780"/>
            <a:ext cx="4978588" cy="811530"/>
          </a:xfrm>
          <a:prstGeom prst="rect">
            <a:avLst/>
          </a:prstGeom>
          <a:noFill/>
          <a:ln/>
        </p:spPr>
        <p:txBody>
          <a:bodyPr wrap="square" lIns="25400" tIns="25400" rIns="25400" bIns="25400" rtlCol="0" anchor="t">
            <a:normAutofit/>
          </a:bodyPr>
          <a:lstStyle/>
          <a:p>
            <a:pPr marL="0" indent="0" algn="l">
              <a:lnSpc>
                <a:spcPct val="145000"/>
              </a:lnSpc>
              <a:buNone/>
            </a:pPr>
            <a:r>
              <a:rPr lang="en-US" sz="2100" b="1" kern="0" spc="-11" dirty="0">
                <a:solidFill>
                  <a:srgbClr val="F5F2E8"/>
                </a:solidFill>
                <a:latin typeface="Barlow" panose="00000500000000000000" pitchFamily="2" charset="0"/>
                <a:ea typeface="Barlow" pitchFamily="34" charset="-122"/>
                <a:cs typeface="Barlow" pitchFamily="34" charset="-120"/>
              </a:rPr>
              <a:t>Local GP advisor </a:t>
            </a:r>
            <a:r>
              <a:rPr lang="en-US" sz="1800" kern="0" spc="-11" dirty="0">
                <a:solidFill>
                  <a:srgbClr val="F5F2E8">
                    <a:alpha val="70000"/>
                  </a:srgbClr>
                </a:solidFill>
                <a:latin typeface="Barlow" panose="00000500000000000000" pitchFamily="2" charset="0"/>
                <a:ea typeface="Barlow" pitchFamily="34" charset="-122"/>
                <a:cs typeface="Barlow" pitchFamily="34" charset="-120"/>
              </a:rPr>
              <a:t>Part-time, paid</a:t>
            </a:r>
            <a:endParaRPr lang="en-US" sz="2100" dirty="0">
              <a:latin typeface="Barlow" panose="00000500000000000000" pitchFamily="2" charset="0"/>
            </a:endParaRPr>
          </a:p>
        </p:txBody>
      </p:sp>
      <p:sp>
        <p:nvSpPr>
          <p:cNvPr id="24" name="Text 22"/>
          <p:cNvSpPr/>
          <p:nvPr/>
        </p:nvSpPr>
        <p:spPr>
          <a:xfrm>
            <a:off x="16558617" y="9624060"/>
            <a:ext cx="757833"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800" dirty="0">
              <a:latin typeface="Barlow" panose="00000500000000000000" pitchFamily="2"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E4DFD3"/>
        </a:solidFill>
        <a:effectLst/>
      </p:bgPr>
    </p:bg>
    <p:spTree>
      <p:nvGrpSpPr>
        <p:cNvPr id="1" name=""/>
        <p:cNvGrpSpPr/>
        <p:nvPr/>
      </p:nvGrpSpPr>
      <p:grpSpPr>
        <a:xfrm>
          <a:off x="0" y="0"/>
          <a:ext cx="0" cy="0"/>
          <a:chOff x="0" y="0"/>
          <a:chExt cx="0" cy="0"/>
        </a:xfrm>
      </p:grpSpPr>
      <p:sp>
        <p:nvSpPr>
          <p:cNvPr id="2" name="Shape 0"/>
          <p:cNvSpPr/>
          <p:nvPr/>
        </p:nvSpPr>
        <p:spPr>
          <a:xfrm>
            <a:off x="1047750" y="126111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3" name="Text 1"/>
          <p:cNvSpPr/>
          <p:nvPr/>
        </p:nvSpPr>
        <p:spPr>
          <a:xfrm>
            <a:off x="1047750" y="775335"/>
            <a:ext cx="3388020"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WHAT WE ARE ASKING</a:t>
            </a:r>
            <a:endParaRPr lang="en-US" sz="1800" dirty="0">
              <a:latin typeface="Barlow" panose="00000500000000000000" pitchFamily="2" charset="0"/>
            </a:endParaRPr>
          </a:p>
        </p:txBody>
      </p:sp>
      <p:sp>
        <p:nvSpPr>
          <p:cNvPr id="4" name="Text 2"/>
          <p:cNvSpPr/>
          <p:nvPr/>
        </p:nvSpPr>
        <p:spPr>
          <a:xfrm>
            <a:off x="16441460" y="762000"/>
            <a:ext cx="874990" cy="3848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468" dirty="0">
                <a:solidFill>
                  <a:srgbClr val="1B2A4A"/>
                </a:solidFill>
                <a:latin typeface="Barlow" panose="00000500000000000000" pitchFamily="2" charset="0"/>
                <a:ea typeface="Barlow" pitchFamily="34" charset="-122"/>
                <a:cs typeface="Barlow" pitchFamily="34" charset="-120"/>
              </a:rPr>
              <a:t>LIET</a:t>
            </a:r>
            <a:endParaRPr lang="en-US" sz="1950" dirty="0">
              <a:latin typeface="Barlow" panose="00000500000000000000" pitchFamily="2" charset="0"/>
            </a:endParaRPr>
          </a:p>
        </p:txBody>
      </p:sp>
      <p:sp>
        <p:nvSpPr>
          <p:cNvPr id="5" name="Text 3"/>
          <p:cNvSpPr/>
          <p:nvPr/>
        </p:nvSpPr>
        <p:spPr>
          <a:xfrm>
            <a:off x="1047750" y="1687830"/>
            <a:ext cx="166782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14 · FROM LUXINNOVATION</a:t>
            </a:r>
            <a:endParaRPr lang="en-US" sz="1800" dirty="0">
              <a:latin typeface="Barlow" panose="00000500000000000000" pitchFamily="2" charset="0"/>
            </a:endParaRPr>
          </a:p>
        </p:txBody>
      </p:sp>
      <p:sp>
        <p:nvSpPr>
          <p:cNvPr id="6" name="Text 4"/>
          <p:cNvSpPr/>
          <p:nvPr/>
        </p:nvSpPr>
        <p:spPr>
          <a:xfrm>
            <a:off x="1047750" y="2236470"/>
            <a:ext cx="15697200" cy="655320"/>
          </a:xfrm>
          <a:prstGeom prst="rect">
            <a:avLst/>
          </a:prstGeom>
          <a:noFill/>
          <a:ln/>
        </p:spPr>
        <p:txBody>
          <a:bodyPr wrap="square" lIns="25400" tIns="25400" rIns="25400" bIns="25400" rtlCol="0" anchor="t">
            <a:normAutofit fontScale="92500" lnSpcReduction="20000"/>
          </a:bodyPr>
          <a:lstStyle/>
          <a:p>
            <a:pPr marL="0" indent="0" algn="l">
              <a:lnSpc>
                <a:spcPct val="108000"/>
              </a:lnSpc>
              <a:buNone/>
            </a:pPr>
            <a:r>
              <a:rPr lang="en-US" sz="4500" kern="0" spc="-81" dirty="0">
                <a:solidFill>
                  <a:srgbClr val="1B2A4A"/>
                </a:solidFill>
                <a:latin typeface="Barlow" panose="00000500000000000000" pitchFamily="2" charset="0"/>
                <a:ea typeface="Barlow" pitchFamily="34" charset="-122"/>
                <a:cs typeface="Barlow" pitchFamily="34" charset="-120"/>
              </a:rPr>
              <a:t>Three specific things.</a:t>
            </a:r>
            <a:endParaRPr lang="en-US" sz="4500" dirty="0">
              <a:latin typeface="Barlow" panose="00000500000000000000" pitchFamily="2" charset="0"/>
            </a:endParaRPr>
          </a:p>
        </p:txBody>
      </p:sp>
      <p:sp>
        <p:nvSpPr>
          <p:cNvPr id="7" name="Shape 5"/>
          <p:cNvSpPr/>
          <p:nvPr/>
        </p:nvSpPr>
        <p:spPr>
          <a:xfrm>
            <a:off x="1047750" y="3686175"/>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8" name="Text 6"/>
          <p:cNvSpPr/>
          <p:nvPr/>
        </p:nvSpPr>
        <p:spPr>
          <a:xfrm>
            <a:off x="1047750" y="3998595"/>
            <a:ext cx="1314450" cy="79248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6600" kern="0" spc="-132" dirty="0">
                <a:solidFill>
                  <a:srgbClr val="B87A4B"/>
                </a:solidFill>
                <a:latin typeface="Barlow" panose="00000500000000000000" pitchFamily="2" charset="0"/>
                <a:ea typeface="Barlow" pitchFamily="34" charset="-122"/>
                <a:cs typeface="Barlow" pitchFamily="34" charset="-120"/>
              </a:rPr>
              <a:t>01</a:t>
            </a:r>
            <a:endParaRPr lang="en-US" sz="6600" dirty="0">
              <a:latin typeface="Barlow" panose="00000500000000000000" pitchFamily="2" charset="0"/>
            </a:endParaRPr>
          </a:p>
        </p:txBody>
      </p:sp>
      <p:sp>
        <p:nvSpPr>
          <p:cNvPr id="9" name="Text 7"/>
          <p:cNvSpPr/>
          <p:nvPr/>
        </p:nvSpPr>
        <p:spPr>
          <a:xfrm>
            <a:off x="2667000" y="3998595"/>
            <a:ext cx="15010447" cy="4495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700" kern="0" spc="-27" dirty="0">
                <a:solidFill>
                  <a:srgbClr val="1B2A4A"/>
                </a:solidFill>
                <a:latin typeface="Barlow" panose="00000500000000000000" pitchFamily="2" charset="0"/>
                <a:ea typeface="Barlow" pitchFamily="34" charset="-122"/>
                <a:cs typeface="Barlow" pitchFamily="34" charset="-120"/>
              </a:rPr>
              <a:t>Recommend LIET for the next Fit4Start HealthTech cohort.</a:t>
            </a:r>
            <a:endParaRPr lang="en-US" sz="2700" dirty="0">
              <a:latin typeface="Barlow" panose="00000500000000000000" pitchFamily="2" charset="0"/>
            </a:endParaRPr>
          </a:p>
        </p:txBody>
      </p:sp>
      <p:sp>
        <p:nvSpPr>
          <p:cNvPr id="10" name="Text 8"/>
          <p:cNvSpPr/>
          <p:nvPr/>
        </p:nvSpPr>
        <p:spPr>
          <a:xfrm>
            <a:off x="2667000" y="4524375"/>
            <a:ext cx="11772900"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kern="0" spc="-11" dirty="0">
                <a:solidFill>
                  <a:srgbClr val="2E3F5F"/>
                </a:solidFill>
                <a:latin typeface="Barlow" panose="00000500000000000000" pitchFamily="2" charset="0"/>
                <a:ea typeface="Barlow" pitchFamily="34" charset="-122"/>
                <a:cs typeface="Barlow" pitchFamily="34" charset="-120"/>
              </a:rPr>
              <a:t>The structured Luxembourg pathway — network, regulatory, clinical — is the single most valuable accelerator we can enter this year. Your recommendation shortens the distance between submitted and shortlisted.</a:t>
            </a:r>
            <a:endParaRPr lang="en-US" sz="1800" dirty="0">
              <a:latin typeface="Barlow" panose="00000500000000000000" pitchFamily="2" charset="0"/>
            </a:endParaRPr>
          </a:p>
        </p:txBody>
      </p:sp>
      <p:sp>
        <p:nvSpPr>
          <p:cNvPr id="11" name="Shape 9"/>
          <p:cNvSpPr/>
          <p:nvPr/>
        </p:nvSpPr>
        <p:spPr>
          <a:xfrm>
            <a:off x="1047750" y="5492115"/>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12" name="Text 10"/>
          <p:cNvSpPr/>
          <p:nvPr/>
        </p:nvSpPr>
        <p:spPr>
          <a:xfrm>
            <a:off x="1047750" y="5804535"/>
            <a:ext cx="1314450" cy="79248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6600" kern="0" spc="-132" dirty="0">
                <a:solidFill>
                  <a:srgbClr val="B87A4B"/>
                </a:solidFill>
                <a:latin typeface="Barlow" panose="00000500000000000000" pitchFamily="2" charset="0"/>
                <a:ea typeface="Barlow" pitchFamily="34" charset="-122"/>
                <a:cs typeface="Barlow" pitchFamily="34" charset="-120"/>
              </a:rPr>
              <a:t>02</a:t>
            </a:r>
            <a:endParaRPr lang="en-US" sz="6600" dirty="0">
              <a:latin typeface="Barlow" panose="00000500000000000000" pitchFamily="2" charset="0"/>
            </a:endParaRPr>
          </a:p>
        </p:txBody>
      </p:sp>
      <p:sp>
        <p:nvSpPr>
          <p:cNvPr id="13" name="Text 11"/>
          <p:cNvSpPr/>
          <p:nvPr/>
        </p:nvSpPr>
        <p:spPr>
          <a:xfrm>
            <a:off x="2667000" y="5804535"/>
            <a:ext cx="15010447" cy="4495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700" kern="0" spc="-27" dirty="0">
                <a:solidFill>
                  <a:srgbClr val="1B2A4A"/>
                </a:solidFill>
                <a:latin typeface="Barlow" panose="00000500000000000000" pitchFamily="2" charset="0"/>
                <a:ea typeface="Barlow" pitchFamily="34" charset="-122"/>
                <a:cs typeface="Barlow" pitchFamily="34" charset="-120"/>
              </a:rPr>
              <a:t>Introduce us to one or two Luxembourg hospitals.</a:t>
            </a:r>
            <a:endParaRPr lang="en-US" sz="2700" dirty="0">
              <a:latin typeface="Barlow" panose="00000500000000000000" pitchFamily="2" charset="0"/>
            </a:endParaRPr>
          </a:p>
        </p:txBody>
      </p:sp>
      <p:sp>
        <p:nvSpPr>
          <p:cNvPr id="14" name="Text 12"/>
          <p:cNvSpPr/>
          <p:nvPr/>
        </p:nvSpPr>
        <p:spPr>
          <a:xfrm>
            <a:off x="2667000" y="6330315"/>
            <a:ext cx="11772900"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kern="0" spc="-11" dirty="0">
                <a:solidFill>
                  <a:srgbClr val="2E3F5F"/>
                </a:solidFill>
                <a:latin typeface="Barlow" panose="00000500000000000000" pitchFamily="2" charset="0"/>
                <a:ea typeface="Barlow" pitchFamily="34" charset="-122"/>
                <a:cs typeface="Barlow" pitchFamily="34" charset="-120"/>
              </a:rPr>
              <a:t>A single conversation with a head of general medicine or clinical informatics is decisive. We bring the 90-day pilot offer. The hospital brings a clinician and IRB. Scientific output shared.</a:t>
            </a:r>
            <a:endParaRPr lang="en-US" sz="1800" dirty="0">
              <a:latin typeface="Barlow" panose="00000500000000000000" pitchFamily="2" charset="0"/>
            </a:endParaRPr>
          </a:p>
        </p:txBody>
      </p:sp>
      <p:sp>
        <p:nvSpPr>
          <p:cNvPr id="15" name="Shape 13"/>
          <p:cNvSpPr/>
          <p:nvPr/>
        </p:nvSpPr>
        <p:spPr>
          <a:xfrm>
            <a:off x="1047750" y="9103995"/>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16" name="Shape 14"/>
          <p:cNvSpPr/>
          <p:nvPr/>
        </p:nvSpPr>
        <p:spPr>
          <a:xfrm>
            <a:off x="1047750" y="7298055"/>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17" name="Text 15"/>
          <p:cNvSpPr/>
          <p:nvPr/>
        </p:nvSpPr>
        <p:spPr>
          <a:xfrm>
            <a:off x="1047750" y="7610475"/>
            <a:ext cx="1314450" cy="79248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6600" kern="0" spc="-132" dirty="0">
                <a:solidFill>
                  <a:srgbClr val="B87A4B"/>
                </a:solidFill>
                <a:latin typeface="Barlow" panose="00000500000000000000" pitchFamily="2" charset="0"/>
                <a:ea typeface="Barlow" pitchFamily="34" charset="-122"/>
                <a:cs typeface="Barlow" pitchFamily="34" charset="-120"/>
              </a:rPr>
              <a:t>03</a:t>
            </a:r>
            <a:endParaRPr lang="en-US" sz="6600" dirty="0">
              <a:latin typeface="Barlow" panose="00000500000000000000" pitchFamily="2" charset="0"/>
            </a:endParaRPr>
          </a:p>
        </p:txBody>
      </p:sp>
      <p:sp>
        <p:nvSpPr>
          <p:cNvPr id="18" name="Text 16"/>
          <p:cNvSpPr/>
          <p:nvPr/>
        </p:nvSpPr>
        <p:spPr>
          <a:xfrm>
            <a:off x="2667000" y="7610475"/>
            <a:ext cx="15010447" cy="4495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700" kern="0" spc="-27" dirty="0">
                <a:solidFill>
                  <a:srgbClr val="1B2A4A"/>
                </a:solidFill>
                <a:latin typeface="Barlow" panose="00000500000000000000" pitchFamily="2" charset="0"/>
                <a:ea typeface="Barlow" pitchFamily="34" charset="-122"/>
                <a:cs typeface="Barlow" pitchFamily="34" charset="-120"/>
              </a:rPr>
              <a:t>Advise on the CE marking pathway via Fit4Innovation HealthTech Market.</a:t>
            </a:r>
            <a:endParaRPr lang="en-US" sz="2700" dirty="0">
              <a:latin typeface="Barlow" panose="00000500000000000000" pitchFamily="2" charset="0"/>
            </a:endParaRPr>
          </a:p>
        </p:txBody>
      </p:sp>
      <p:sp>
        <p:nvSpPr>
          <p:cNvPr id="19" name="Text 17"/>
          <p:cNvSpPr/>
          <p:nvPr/>
        </p:nvSpPr>
        <p:spPr>
          <a:xfrm>
            <a:off x="2667000" y="8136255"/>
            <a:ext cx="11772900"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kern="0" spc="-11" dirty="0">
                <a:solidFill>
                  <a:srgbClr val="2E3F5F"/>
                </a:solidFill>
                <a:latin typeface="Barlow" panose="00000500000000000000" pitchFamily="2" charset="0"/>
                <a:ea typeface="Barlow" pitchFamily="34" charset="-122"/>
                <a:cs typeface="Barlow" pitchFamily="34" charset="-120"/>
              </a:rPr>
              <a:t>Class I SaMD vs. Class IIa, and the EU AI Act × MDR interaction, are the defining regulatory questions of the next six months. Fit4Innovation HealthTech Market is purpose-built for this.</a:t>
            </a:r>
            <a:endParaRPr lang="en-US" sz="1800" dirty="0">
              <a:latin typeface="Barlow" panose="00000500000000000000" pitchFamily="2" charset="0"/>
            </a:endParaRPr>
          </a:p>
        </p:txBody>
      </p:sp>
      <p:sp>
        <p:nvSpPr>
          <p:cNvPr id="20" name="Text 18"/>
          <p:cNvSpPr/>
          <p:nvPr/>
        </p:nvSpPr>
        <p:spPr>
          <a:xfrm>
            <a:off x="16550044" y="9624060"/>
            <a:ext cx="766405"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endParaRPr lang="en-US" sz="1800" dirty="0">
              <a:latin typeface="Barlow" panose="00000500000000000000" pitchFamily="2"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0E1628"/>
        </a:solidFill>
        <a:effectLst/>
      </p:bgPr>
    </p:bg>
    <p:spTree>
      <p:nvGrpSpPr>
        <p:cNvPr id="1" name=""/>
        <p:cNvGrpSpPr/>
        <p:nvPr/>
      </p:nvGrpSpPr>
      <p:grpSpPr>
        <a:xfrm>
          <a:off x="0" y="0"/>
          <a:ext cx="0" cy="0"/>
          <a:chOff x="0" y="0"/>
          <a:chExt cx="0" cy="0"/>
        </a:xfrm>
      </p:grpSpPr>
      <p:sp>
        <p:nvSpPr>
          <p:cNvPr id="2" name="Shape 0"/>
          <p:cNvSpPr/>
          <p:nvPr/>
        </p:nvSpPr>
        <p:spPr>
          <a:xfrm>
            <a:off x="1047750" y="1261110"/>
            <a:ext cx="16192500" cy="9525"/>
          </a:xfrm>
          <a:prstGeom prst="rect">
            <a:avLst/>
          </a:prstGeom>
          <a:solidFill>
            <a:srgbClr val="CFC8B8"/>
          </a:solidFill>
          <a:ln/>
        </p:spPr>
        <p:txBody>
          <a:bodyPr/>
          <a:lstStyle/>
          <a:p>
            <a:endParaRPr lang="en-US">
              <a:latin typeface="Barlow" panose="00000500000000000000" pitchFamily="2" charset="0"/>
            </a:endParaRPr>
          </a:p>
        </p:txBody>
      </p:sp>
      <p:sp>
        <p:nvSpPr>
          <p:cNvPr id="3" name="Text 1"/>
          <p:cNvSpPr/>
          <p:nvPr/>
        </p:nvSpPr>
        <p:spPr>
          <a:xfrm>
            <a:off x="1047750" y="775335"/>
            <a:ext cx="1865233"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252" dirty="0">
                <a:solidFill>
                  <a:srgbClr val="556688"/>
                </a:solidFill>
                <a:latin typeface="Barlow" panose="00000500000000000000" pitchFamily="2" charset="0"/>
                <a:ea typeface="Barlow" pitchFamily="34" charset="-122"/>
                <a:cs typeface="Barlow" pitchFamily="34" charset="-120"/>
              </a:rPr>
              <a:t>THANK YOU</a:t>
            </a:r>
            <a:endParaRPr lang="en-US" sz="1800" dirty="0">
              <a:latin typeface="Barlow" panose="00000500000000000000" pitchFamily="2" charset="0"/>
            </a:endParaRPr>
          </a:p>
        </p:txBody>
      </p:sp>
      <p:sp>
        <p:nvSpPr>
          <p:cNvPr id="4" name="Text 2"/>
          <p:cNvSpPr/>
          <p:nvPr/>
        </p:nvSpPr>
        <p:spPr>
          <a:xfrm>
            <a:off x="16441460" y="762000"/>
            <a:ext cx="874990" cy="3848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950" kern="0" spc="468" dirty="0">
                <a:solidFill>
                  <a:srgbClr val="F5F2E8"/>
                </a:solidFill>
                <a:latin typeface="Barlow" panose="00000500000000000000" pitchFamily="2" charset="0"/>
                <a:ea typeface="Barlow" pitchFamily="34" charset="-122"/>
                <a:cs typeface="Barlow" pitchFamily="34" charset="-120"/>
              </a:rPr>
              <a:t>LIET</a:t>
            </a:r>
            <a:endParaRPr lang="en-US" sz="1950" dirty="0">
              <a:latin typeface="Barlow" panose="00000500000000000000" pitchFamily="2" charset="0"/>
            </a:endParaRPr>
          </a:p>
        </p:txBody>
      </p:sp>
      <p:sp>
        <p:nvSpPr>
          <p:cNvPr id="5" name="Text 3"/>
          <p:cNvSpPr/>
          <p:nvPr/>
        </p:nvSpPr>
        <p:spPr>
          <a:xfrm>
            <a:off x="1047750" y="3234690"/>
            <a:ext cx="16678275" cy="358140"/>
          </a:xfrm>
          <a:prstGeom prst="rect">
            <a:avLst/>
          </a:prstGeom>
          <a:noFill/>
          <a:ln/>
        </p:spPr>
        <p:txBody>
          <a:bodyPr wrap="square" lIns="25400" tIns="25400" rIns="25400" bIns="25400" rtlCol="0" anchor="ctr">
            <a:normAutofit fontScale="92500" lnSpcReduction="10000"/>
          </a:bodyPr>
          <a:lstStyle/>
          <a:p>
            <a:pPr marL="0" indent="0" algn="l">
              <a:lnSpc>
                <a:spcPct val="140000"/>
              </a:lnSpc>
              <a:buNone/>
            </a:pPr>
            <a:r>
              <a:rPr lang="en-US" sz="1800" kern="0" spc="396" dirty="0">
                <a:solidFill>
                  <a:srgbClr val="B87A4B"/>
                </a:solidFill>
                <a:latin typeface="Barlow" panose="00000500000000000000" pitchFamily="2" charset="0"/>
                <a:ea typeface="Barlow" pitchFamily="34" charset="-122"/>
                <a:cs typeface="Barlow" pitchFamily="34" charset="-120"/>
              </a:rPr>
              <a:t>ONE THING TO REMEMBER</a:t>
            </a:r>
            <a:endParaRPr lang="en-US" sz="1800" dirty="0">
              <a:latin typeface="Barlow" panose="00000500000000000000" pitchFamily="2" charset="0"/>
            </a:endParaRPr>
          </a:p>
        </p:txBody>
      </p:sp>
      <p:sp>
        <p:nvSpPr>
          <p:cNvPr id="6" name="Text 4"/>
          <p:cNvSpPr/>
          <p:nvPr/>
        </p:nvSpPr>
        <p:spPr>
          <a:xfrm>
            <a:off x="1047749" y="3821430"/>
            <a:ext cx="16810759" cy="3474720"/>
          </a:xfrm>
          <a:prstGeom prst="rect">
            <a:avLst/>
          </a:prstGeom>
          <a:noFill/>
          <a:ln/>
        </p:spPr>
        <p:txBody>
          <a:bodyPr wrap="square" lIns="25400" tIns="25400" rIns="25400" bIns="25400" rtlCol="0" anchor="t">
            <a:normAutofit/>
          </a:bodyPr>
          <a:lstStyle/>
          <a:p>
            <a:pPr marL="0" indent="0" algn="l">
              <a:lnSpc>
                <a:spcPct val="110000"/>
              </a:lnSpc>
              <a:buNone/>
            </a:pPr>
            <a:r>
              <a:rPr lang="en-US" sz="6150" kern="0" spc="-123" dirty="0">
                <a:solidFill>
                  <a:srgbClr val="F5F2E8"/>
                </a:solidFill>
                <a:latin typeface="Barlow" panose="00000500000000000000" pitchFamily="2" charset="0"/>
                <a:ea typeface="Barlow" pitchFamily="34" charset="-122"/>
                <a:cs typeface="Barlow" pitchFamily="34" charset="-120"/>
              </a:rPr>
              <a:t>LIET captures </a:t>
            </a:r>
            <a:r>
              <a:rPr lang="en-US" sz="6150" i="1" kern="0" spc="-123" dirty="0">
                <a:solidFill>
                  <a:srgbClr val="B87A4B"/>
                </a:solidFill>
                <a:latin typeface="Barlow" panose="00000500000000000000" pitchFamily="2" charset="0"/>
                <a:ea typeface="Barlow" pitchFamily="34" charset="-122"/>
                <a:cs typeface="Barlow" pitchFamily="34" charset="-120"/>
              </a:rPr>
              <a:t>what consultations contain </a:t>
            </a:r>
            <a:r>
              <a:rPr lang="en-US" sz="6150" kern="0" spc="-123" dirty="0">
                <a:solidFill>
                  <a:srgbClr val="F5F2E8"/>
                </a:solidFill>
                <a:latin typeface="Barlow" panose="00000500000000000000" pitchFamily="2" charset="0"/>
                <a:ea typeface="Barlow" pitchFamily="34" charset="-122"/>
                <a:cs typeface="Barlow" pitchFamily="34" charset="-120"/>
              </a:rPr>
              <a:t>— </a:t>
            </a:r>
            <a:br>
              <a:rPr lang="en-US" sz="6150" kern="0" spc="-123" dirty="0">
                <a:solidFill>
                  <a:srgbClr val="F5F2E8"/>
                </a:solidFill>
                <a:latin typeface="Barlow" panose="00000500000000000000" pitchFamily="2" charset="0"/>
                <a:ea typeface="Barlow" pitchFamily="34" charset="-122"/>
                <a:cs typeface="Barlow" pitchFamily="34" charset="-120"/>
              </a:rPr>
            </a:br>
            <a:r>
              <a:rPr lang="en-US" sz="6150" kern="0" spc="-123" dirty="0">
                <a:solidFill>
                  <a:srgbClr val="F5F2E8"/>
                </a:solidFill>
                <a:latin typeface="Barlow" panose="00000500000000000000" pitchFamily="2" charset="0"/>
                <a:ea typeface="Barlow" pitchFamily="34" charset="-122"/>
                <a:cs typeface="Barlow" pitchFamily="34" charset="-120"/>
              </a:rPr>
              <a:t>and turns it into the longitudinal dataset </a:t>
            </a:r>
            <a:r>
              <a:rPr lang="en-US" sz="6150" i="1" kern="0" spc="-123" dirty="0">
                <a:solidFill>
                  <a:srgbClr val="B87A4B"/>
                </a:solidFill>
                <a:latin typeface="Barlow" panose="00000500000000000000" pitchFamily="2" charset="0"/>
                <a:ea typeface="Barlow" pitchFamily="34" charset="-122"/>
                <a:cs typeface="Barlow" pitchFamily="34" charset="-120"/>
              </a:rPr>
              <a:t>Luxembourg’s infrastructure is built to receive.</a:t>
            </a:r>
            <a:endParaRPr lang="en-US" sz="6150" dirty="0">
              <a:latin typeface="Barlow" panose="00000500000000000000" pitchFamily="2" charset="0"/>
            </a:endParaRPr>
          </a:p>
        </p:txBody>
      </p:sp>
      <p:sp>
        <p:nvSpPr>
          <p:cNvPr id="7" name="Shape 5"/>
          <p:cNvSpPr/>
          <p:nvPr/>
        </p:nvSpPr>
        <p:spPr>
          <a:xfrm>
            <a:off x="1047750" y="8042910"/>
            <a:ext cx="16192500" cy="9525"/>
          </a:xfrm>
          <a:prstGeom prst="rect">
            <a:avLst/>
          </a:prstGeom>
          <a:solidFill>
            <a:srgbClr val="FFFFFF">
              <a:alpha val="16000"/>
            </a:srgbClr>
          </a:solidFill>
          <a:ln/>
        </p:spPr>
        <p:txBody>
          <a:bodyPr/>
          <a:lstStyle/>
          <a:p>
            <a:endParaRPr lang="en-US">
              <a:latin typeface="Barlow" panose="00000500000000000000" pitchFamily="2" charset="0"/>
            </a:endParaRPr>
          </a:p>
        </p:txBody>
      </p:sp>
      <p:sp>
        <p:nvSpPr>
          <p:cNvPr id="9" name="Text 7"/>
          <p:cNvSpPr/>
          <p:nvPr/>
        </p:nvSpPr>
        <p:spPr>
          <a:xfrm>
            <a:off x="1047750" y="8827769"/>
            <a:ext cx="5245440" cy="1092085"/>
          </a:xfrm>
          <a:prstGeom prst="rect">
            <a:avLst/>
          </a:prstGeom>
          <a:noFill/>
          <a:ln/>
        </p:spPr>
        <p:txBody>
          <a:bodyPr wrap="square" lIns="25400" tIns="25400" rIns="25400" bIns="25400" rtlCol="0" anchor="t">
            <a:normAutofit/>
          </a:bodyPr>
          <a:lstStyle/>
          <a:p>
            <a:pPr marL="0" indent="0" algn="l">
              <a:lnSpc>
                <a:spcPct val="145000"/>
              </a:lnSpc>
              <a:buNone/>
            </a:pPr>
            <a:endParaRPr lang="en-US" sz="2100" dirty="0">
              <a:latin typeface="Barlow" panose="00000500000000000000" pitchFamily="2" charset="0"/>
            </a:endParaRPr>
          </a:p>
        </p:txBody>
      </p:sp>
      <p:sp>
        <p:nvSpPr>
          <p:cNvPr id="10" name="Text 8"/>
          <p:cNvSpPr/>
          <p:nvPr/>
        </p:nvSpPr>
        <p:spPr>
          <a:xfrm>
            <a:off x="1047750" y="8390486"/>
            <a:ext cx="524544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360" dirty="0">
                <a:solidFill>
                  <a:srgbClr val="B87A4B"/>
                </a:solidFill>
                <a:latin typeface="Barlow" panose="00000500000000000000" pitchFamily="2" charset="0"/>
                <a:ea typeface="Barlow" pitchFamily="34" charset="-122"/>
                <a:cs typeface="Barlow" pitchFamily="34" charset="-120"/>
              </a:rPr>
              <a:t>CONTACT</a:t>
            </a:r>
            <a:endParaRPr lang="en-US" sz="1800" dirty="0">
              <a:latin typeface="Barlow" panose="00000500000000000000" pitchFamily="2" charset="0"/>
            </a:endParaRPr>
          </a:p>
        </p:txBody>
      </p:sp>
      <p:sp>
        <p:nvSpPr>
          <p:cNvPr id="11" name="Text 9"/>
          <p:cNvSpPr/>
          <p:nvPr/>
        </p:nvSpPr>
        <p:spPr>
          <a:xfrm>
            <a:off x="1047750" y="8786726"/>
            <a:ext cx="5245440" cy="369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kern="0" spc="-11" dirty="0">
                <a:solidFill>
                  <a:srgbClr val="F5F2E8"/>
                </a:solidFill>
                <a:latin typeface="Barlow" panose="00000500000000000000" pitchFamily="2" charset="0"/>
                <a:ea typeface="Barlow" pitchFamily="34" charset="-122"/>
              </a:rPr>
              <a:t>info@liet-research.eu</a:t>
            </a:r>
            <a:endParaRPr lang="en-US" sz="1800" dirty="0">
              <a:latin typeface="Barlow" panose="00000500000000000000" pitchFamily="2" charset="0"/>
            </a:endParaRPr>
          </a:p>
        </p:txBody>
      </p:sp>
      <p:sp>
        <p:nvSpPr>
          <p:cNvPr id="12" name="Text 10"/>
          <p:cNvSpPr/>
          <p:nvPr/>
        </p:nvSpPr>
        <p:spPr>
          <a:xfrm>
            <a:off x="1047750" y="9194396"/>
            <a:ext cx="5245440" cy="36957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800" kern="0" spc="-11" dirty="0">
                <a:solidFill>
                  <a:srgbClr val="F5F2E8">
                    <a:alpha val="70000"/>
                  </a:srgbClr>
                </a:solidFill>
                <a:latin typeface="Barlow" panose="00000500000000000000" pitchFamily="2" charset="0"/>
                <a:ea typeface="Barlow" pitchFamily="34" charset="-122"/>
                <a:cs typeface="Barlow" pitchFamily="34" charset="-120"/>
                <a:hlinkClick r:id="rId3"/>
              </a:rPr>
              <a:t>azhagusivas@gmail.com</a:t>
            </a:r>
            <a:r>
              <a:rPr lang="en-US" sz="1800" kern="0" spc="-11" dirty="0">
                <a:solidFill>
                  <a:srgbClr val="F5F2E8">
                    <a:alpha val="70000"/>
                  </a:srgbClr>
                </a:solidFill>
                <a:latin typeface="Barlow" panose="00000500000000000000" pitchFamily="2" charset="0"/>
                <a:ea typeface="Barlow" pitchFamily="34" charset="-122"/>
                <a:cs typeface="Barlow" pitchFamily="34" charset="-120"/>
              </a:rPr>
              <a:t>     +352-691377452</a:t>
            </a:r>
            <a:endParaRPr lang="en-US" sz="1800" dirty="0">
              <a:latin typeface="Barlow" panose="00000500000000000000" pitchFamily="2" charset="0"/>
            </a:endParaRPr>
          </a:p>
        </p:txBody>
      </p:sp>
      <p:sp>
        <p:nvSpPr>
          <p:cNvPr id="13" name="Text 11"/>
          <p:cNvSpPr/>
          <p:nvPr/>
        </p:nvSpPr>
        <p:spPr>
          <a:xfrm>
            <a:off x="6597610" y="8390486"/>
            <a:ext cx="5245440" cy="3581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800" kern="0" spc="360" dirty="0">
                <a:solidFill>
                  <a:srgbClr val="B87A4B"/>
                </a:solidFill>
                <a:latin typeface="Barlow" panose="00000500000000000000" pitchFamily="2" charset="0"/>
                <a:ea typeface="Barlow" pitchFamily="34" charset="-122"/>
                <a:cs typeface="Barlow" pitchFamily="34" charset="-120"/>
              </a:rPr>
              <a:t>DECK &amp; APPENDIX</a:t>
            </a:r>
            <a:endParaRPr lang="en-US" sz="1800" dirty="0">
              <a:latin typeface="Barlow" panose="00000500000000000000" pitchFamily="2" charset="0"/>
            </a:endParaRPr>
          </a:p>
        </p:txBody>
      </p:sp>
      <p:sp>
        <p:nvSpPr>
          <p:cNvPr id="14" name="Text 12"/>
          <p:cNvSpPr/>
          <p:nvPr/>
        </p:nvSpPr>
        <p:spPr>
          <a:xfrm>
            <a:off x="6597610" y="8786726"/>
            <a:ext cx="5245440" cy="7010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i="1" kern="0" spc="-11" dirty="0">
                <a:solidFill>
                  <a:srgbClr val="F5F2E8">
                    <a:alpha val="70000"/>
                  </a:srgbClr>
                </a:solidFill>
                <a:latin typeface="Barlow" panose="00000500000000000000" pitchFamily="2" charset="0"/>
                <a:ea typeface="Barlow" pitchFamily="34" charset="-122"/>
                <a:cs typeface="Barlow" pitchFamily="34" charset="-120"/>
              </a:rPr>
              <a:t>Sourced appendix with every numerical claim — available on request.</a:t>
            </a:r>
            <a:endParaRPr lang="en-US" sz="1800" dirty="0">
              <a:latin typeface="Barlow" panose="00000500000000000000" pitchFamily="2"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Barlow"/>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Barlow"/>
        <a:font script="Hebr" typeface="Barlow"/>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Barlow"/>
        <a:font script="Uigh" typeface="Microsoft Uighur"/>
        <a:font script="Geor" typeface="Sylfaen"/>
        <a:font script="Armn" typeface="Barlow"/>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3635</Words>
  <Application>Microsoft Office PowerPoint</Application>
  <PresentationFormat>Custom</PresentationFormat>
  <Paragraphs>302</Paragraphs>
  <Slides>15</Slides>
  <Notes>15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Barlow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Siva Subbiah</cp:lastModifiedBy>
  <cp:revision>13</cp:revision>
  <dcterms:created xsi:type="dcterms:W3CDTF">2026-04-19T16:57:07Z</dcterms:created>
  <dcterms:modified xsi:type="dcterms:W3CDTF">2026-04-21T08:05:03Z</dcterms:modified>
</cp:coreProperties>
</file>